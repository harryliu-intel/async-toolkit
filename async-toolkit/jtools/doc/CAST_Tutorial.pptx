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73" r:id="rId4"/>
    <p:sldMasterId id="2147483702" r:id="rId5"/>
  </p:sldMasterIdLst>
  <p:notesMasterIdLst>
    <p:notesMasterId r:id="rId56"/>
  </p:notesMasterIdLst>
  <p:handoutMasterIdLst>
    <p:handoutMasterId r:id="rId57"/>
  </p:handoutMasterIdLst>
  <p:sldIdLst>
    <p:sldId id="461" r:id="rId6"/>
    <p:sldId id="606" r:id="rId7"/>
    <p:sldId id="607" r:id="rId8"/>
    <p:sldId id="608" r:id="rId9"/>
    <p:sldId id="652" r:id="rId10"/>
    <p:sldId id="611" r:id="rId11"/>
    <p:sldId id="612" r:id="rId12"/>
    <p:sldId id="665" r:id="rId13"/>
    <p:sldId id="613" r:id="rId14"/>
    <p:sldId id="661" r:id="rId15"/>
    <p:sldId id="663" r:id="rId16"/>
    <p:sldId id="616" r:id="rId17"/>
    <p:sldId id="619" r:id="rId18"/>
    <p:sldId id="620" r:id="rId19"/>
    <p:sldId id="610" r:id="rId20"/>
    <p:sldId id="664" r:id="rId21"/>
    <p:sldId id="621" r:id="rId22"/>
    <p:sldId id="622" r:id="rId23"/>
    <p:sldId id="623" r:id="rId24"/>
    <p:sldId id="624" r:id="rId25"/>
    <p:sldId id="625" r:id="rId26"/>
    <p:sldId id="626" r:id="rId27"/>
    <p:sldId id="653" r:id="rId28"/>
    <p:sldId id="628" r:id="rId29"/>
    <p:sldId id="629" r:id="rId30"/>
    <p:sldId id="630" r:id="rId31"/>
    <p:sldId id="631" r:id="rId32"/>
    <p:sldId id="632" r:id="rId33"/>
    <p:sldId id="654" r:id="rId34"/>
    <p:sldId id="634" r:id="rId35"/>
    <p:sldId id="658" r:id="rId36"/>
    <p:sldId id="659" r:id="rId37"/>
    <p:sldId id="635" r:id="rId38"/>
    <p:sldId id="655" r:id="rId39"/>
    <p:sldId id="636" r:id="rId40"/>
    <p:sldId id="637" r:id="rId41"/>
    <p:sldId id="638" r:id="rId42"/>
    <p:sldId id="642" r:id="rId43"/>
    <p:sldId id="660" r:id="rId44"/>
    <p:sldId id="639" r:id="rId45"/>
    <p:sldId id="656" r:id="rId46"/>
    <p:sldId id="643" r:id="rId47"/>
    <p:sldId id="644" r:id="rId48"/>
    <p:sldId id="645" r:id="rId49"/>
    <p:sldId id="646" r:id="rId50"/>
    <p:sldId id="647" r:id="rId51"/>
    <p:sldId id="648" r:id="rId52"/>
    <p:sldId id="649" r:id="rId53"/>
    <p:sldId id="650" r:id="rId54"/>
    <p:sldId id="651" r:id="rId55"/>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00504BD-71DE-4FDA-B1FB-7C97307B392B}">
          <p14:sldIdLst>
            <p14:sldId id="461"/>
            <p14:sldId id="606"/>
            <p14:sldId id="607"/>
            <p14:sldId id="608"/>
          </p14:sldIdLst>
        </p14:section>
        <p14:section name="Design Philosophy" id="{39E440FF-C9E4-4BBA-8061-0031D81C20D8}">
          <p14:sldIdLst>
            <p14:sldId id="652"/>
            <p14:sldId id="611"/>
            <p14:sldId id="612"/>
            <p14:sldId id="665"/>
            <p14:sldId id="613"/>
            <p14:sldId id="661"/>
            <p14:sldId id="663"/>
          </p14:sldIdLst>
        </p14:section>
        <p14:section name="CAST Syntax" id="{10750178-B3BE-4D66-BCFD-FD3896020274}">
          <p14:sldIdLst>
            <p14:sldId id="616"/>
            <p14:sldId id="619"/>
            <p14:sldId id="620"/>
            <p14:sldId id="610"/>
            <p14:sldId id="664"/>
            <p14:sldId id="621"/>
            <p14:sldId id="622"/>
            <p14:sldId id="623"/>
            <p14:sldId id="624"/>
            <p14:sldId id="625"/>
            <p14:sldId id="626"/>
          </p14:sldIdLst>
        </p14:section>
        <p14:section name="CSP" id="{0BBEE73A-B28E-4068-9AC3-7B1991E6262A}">
          <p14:sldIdLst>
            <p14:sldId id="653"/>
            <p14:sldId id="628"/>
            <p14:sldId id="629"/>
            <p14:sldId id="630"/>
            <p14:sldId id="631"/>
            <p14:sldId id="632"/>
          </p14:sldIdLst>
        </p14:section>
        <p14:section name="SUBCELLS" id="{5BE7E5E7-D3FB-49B9-9E36-A720269E373E}">
          <p14:sldIdLst>
            <p14:sldId id="654"/>
            <p14:sldId id="634"/>
            <p14:sldId id="658"/>
            <p14:sldId id="659"/>
            <p14:sldId id="635"/>
          </p14:sldIdLst>
        </p14:section>
        <p14:section name="DSIM" id="{DC674EF5-785F-4936-98FD-F391233E60FB}">
          <p14:sldIdLst>
            <p14:sldId id="655"/>
            <p14:sldId id="636"/>
            <p14:sldId id="637"/>
            <p14:sldId id="638"/>
            <p14:sldId id="642"/>
            <p14:sldId id="660"/>
            <p14:sldId id="639"/>
            <p14:sldId id="656"/>
            <p14:sldId id="643"/>
            <p14:sldId id="644"/>
            <p14:sldId id="645"/>
            <p14:sldId id="646"/>
            <p14:sldId id="647"/>
            <p14:sldId id="648"/>
            <p14:sldId id="649"/>
            <p14:sldId id="650"/>
            <p14:sldId id="651"/>
          </p14:sldIdLst>
        </p14:section>
      </p14:sectionLst>
    </p:ext>
    <p:ext uri="{EFAFB233-063F-42B5-8137-9DF3F51BA10A}">
      <p15:sldGuideLst xmlns:p15="http://schemas.microsoft.com/office/powerpoint/2012/main">
        <p15:guide id="1" orient="horz" pos="1622">
          <p15:clr>
            <a:srgbClr val="A4A3A4"/>
          </p15:clr>
        </p15:guide>
        <p15:guide id="2" orient="horz" pos="3032">
          <p15:clr>
            <a:srgbClr val="A4A3A4"/>
          </p15:clr>
        </p15:guide>
        <p15:guide id="3" orient="horz" pos="118">
          <p15:clr>
            <a:srgbClr val="A4A3A4"/>
          </p15:clr>
        </p15:guide>
        <p15:guide id="4" orient="horz" pos="758">
          <p15:clr>
            <a:srgbClr val="A4A3A4"/>
          </p15:clr>
        </p15:guide>
        <p15:guide id="5" orient="horz" pos="2916">
          <p15:clr>
            <a:srgbClr val="A4A3A4"/>
          </p15:clr>
        </p15:guide>
        <p15:guide id="6" pos="5470">
          <p15:clr>
            <a:srgbClr val="A4A3A4"/>
          </p15:clr>
        </p15:guide>
        <p15:guide id="7" pos="287">
          <p15:clr>
            <a:srgbClr val="A4A3A4"/>
          </p15:clr>
        </p15:guide>
        <p15:guide id="8" pos="2879">
          <p15:clr>
            <a:srgbClr val="A4A3A4"/>
          </p15:clr>
        </p15:guide>
        <p15:guide id="9" pos="2811">
          <p15:clr>
            <a:srgbClr val="A4A3A4"/>
          </p15:clr>
        </p15:guide>
        <p15:guide id="10" pos="2947">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81"/>
    <a:srgbClr val="B3FFC5"/>
    <a:srgbClr val="FFFFC9"/>
    <a:srgbClr val="6DFFAF"/>
    <a:srgbClr val="FFDC6D"/>
    <a:srgbClr val="0064B0"/>
    <a:srgbClr val="00579B"/>
    <a:srgbClr val="005091"/>
    <a:srgbClr val="080808"/>
    <a:srgbClr val="DEC8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03" autoAdjust="0"/>
    <p:restoredTop sz="93455" autoAdjust="0"/>
  </p:normalViewPr>
  <p:slideViewPr>
    <p:cSldViewPr snapToGrid="0">
      <p:cViewPr varScale="1">
        <p:scale>
          <a:sx n="136" d="100"/>
          <a:sy n="136" d="100"/>
        </p:scale>
        <p:origin x="810" y="126"/>
      </p:cViewPr>
      <p:guideLst>
        <p:guide orient="horz" pos="1622"/>
        <p:guide orient="horz" pos="3032"/>
        <p:guide orient="horz" pos="118"/>
        <p:guide orient="horz" pos="758"/>
        <p:guide orient="horz" pos="2916"/>
        <p:guide pos="5470"/>
        <p:guide pos="287"/>
        <p:guide pos="2879"/>
        <p:guide pos="2811"/>
        <p:guide pos="2947"/>
      </p:guideLst>
    </p:cSldViewPr>
  </p:slideViewPr>
  <p:outlineViewPr>
    <p:cViewPr>
      <p:scale>
        <a:sx n="33" d="100"/>
        <a:sy n="33" d="100"/>
      </p:scale>
      <p:origin x="0" y="-6437"/>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handoutMaster" Target="handoutMasters/handout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58" tIns="46580" rIns="93158" bIns="46580" rtlCol="0"/>
          <a:lstStyle>
            <a:lvl1pPr algn="l">
              <a:defRPr sz="1200"/>
            </a:lvl1pPr>
          </a:lstStyle>
          <a:p>
            <a:endParaRPr lang="en-US"/>
          </a:p>
        </p:txBody>
      </p:sp>
      <p:sp>
        <p:nvSpPr>
          <p:cNvPr id="3" name="Date Placeholder 2"/>
          <p:cNvSpPr>
            <a:spLocks noGrp="1"/>
          </p:cNvSpPr>
          <p:nvPr>
            <p:ph type="dt" sz="quarter" idx="1"/>
          </p:nvPr>
        </p:nvSpPr>
        <p:spPr>
          <a:xfrm>
            <a:off x="3970938" y="1"/>
            <a:ext cx="3037840" cy="466434"/>
          </a:xfrm>
          <a:prstGeom prst="rect">
            <a:avLst/>
          </a:prstGeom>
        </p:spPr>
        <p:txBody>
          <a:bodyPr vert="horz" lIns="93158" tIns="46580" rIns="93158" bIns="46580" rtlCol="0"/>
          <a:lstStyle>
            <a:lvl1pPr algn="r">
              <a:defRPr sz="1200"/>
            </a:lvl1pPr>
          </a:lstStyle>
          <a:p>
            <a:fld id="{0A21B66E-D057-422C-BE30-092660F20106}" type="datetimeFigureOut">
              <a:rPr lang="en-US" smtClean="0"/>
              <a:t>11/15/2025</a:t>
            </a:fld>
            <a:endParaRPr lang="en-US"/>
          </a:p>
        </p:txBody>
      </p:sp>
      <p:sp>
        <p:nvSpPr>
          <p:cNvPr id="4" name="Footer Placeholder 3"/>
          <p:cNvSpPr>
            <a:spLocks noGrp="1"/>
          </p:cNvSpPr>
          <p:nvPr>
            <p:ph type="ftr" sz="quarter" idx="2"/>
          </p:nvPr>
        </p:nvSpPr>
        <p:spPr>
          <a:xfrm>
            <a:off x="0" y="8829968"/>
            <a:ext cx="3037840" cy="466433"/>
          </a:xfrm>
          <a:prstGeom prst="rect">
            <a:avLst/>
          </a:prstGeom>
        </p:spPr>
        <p:txBody>
          <a:bodyPr vert="horz" lIns="93158" tIns="46580" rIns="93158" bIns="46580"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8"/>
            <a:ext cx="3037840" cy="466433"/>
          </a:xfrm>
          <a:prstGeom prst="rect">
            <a:avLst/>
          </a:prstGeom>
        </p:spPr>
        <p:txBody>
          <a:bodyPr vert="horz" lIns="93158" tIns="46580" rIns="93158" bIns="46580" rtlCol="0" anchor="b"/>
          <a:lstStyle>
            <a:lvl1pPr algn="r">
              <a:defRPr sz="1200"/>
            </a:lvl1pPr>
          </a:lstStyle>
          <a:p>
            <a:fld id="{B75FC965-8C82-4876-B4FD-4E925D53E9F8}" type="slidenum">
              <a:rPr lang="en-US" smtClean="0"/>
              <a:t>‹#›</a:t>
            </a:fld>
            <a:endParaRPr lang="en-US"/>
          </a:p>
        </p:txBody>
      </p:sp>
    </p:spTree>
    <p:extLst>
      <p:ext uri="{BB962C8B-B14F-4D97-AF65-F5344CB8AC3E}">
        <p14:creationId xmlns:p14="http://schemas.microsoft.com/office/powerpoint/2010/main" val="8948995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58" tIns="46580" rIns="93158" bIns="46580"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58" tIns="46580" rIns="93158" bIns="46580" rtlCol="0"/>
          <a:lstStyle>
            <a:lvl1pPr algn="r">
              <a:defRPr sz="1200"/>
            </a:lvl1pPr>
          </a:lstStyle>
          <a:p>
            <a:fld id="{435D55CD-1BDF-44BE-B253-682DDB209840}" type="datetimeFigureOut">
              <a:rPr lang="en-US" smtClean="0"/>
              <a:t>11/15/2025</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3158" tIns="46580" rIns="93158" bIns="46580"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58" tIns="46580" rIns="93158" bIns="4658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3"/>
          </a:xfrm>
          <a:prstGeom prst="rect">
            <a:avLst/>
          </a:prstGeom>
        </p:spPr>
        <p:txBody>
          <a:bodyPr vert="horz" lIns="93158" tIns="46580" rIns="93158" bIns="4658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8"/>
            <a:ext cx="3037840" cy="466433"/>
          </a:xfrm>
          <a:prstGeom prst="rect">
            <a:avLst/>
          </a:prstGeom>
        </p:spPr>
        <p:txBody>
          <a:bodyPr vert="horz" lIns="93158" tIns="46580" rIns="93158" bIns="46580" rtlCol="0" anchor="b"/>
          <a:lstStyle>
            <a:lvl1pPr algn="r">
              <a:defRPr sz="1200"/>
            </a:lvl1pPr>
          </a:lstStyle>
          <a:p>
            <a:fld id="{B9830AEF-C118-46E1-BA6A-8E2AE91DC594}" type="slidenum">
              <a:rPr lang="en-US" smtClean="0"/>
              <a:t>‹#›</a:t>
            </a:fld>
            <a:endParaRPr lang="en-US"/>
          </a:p>
        </p:txBody>
      </p:sp>
    </p:spTree>
    <p:extLst>
      <p:ext uri="{BB962C8B-B14F-4D97-AF65-F5344CB8AC3E}">
        <p14:creationId xmlns:p14="http://schemas.microsoft.com/office/powerpoint/2010/main" val="1859409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solidFill>
                  <a:srgbClr val="003C71"/>
                </a:solidFill>
              </a:rPr>
              <a:t>2-phase Bundled Data handshake with request and acknowledge wires</a:t>
            </a:r>
          </a:p>
          <a:p>
            <a:pPr marL="171450" indent="-171450">
              <a:buFont typeface="Arial" panose="020B0604020202020204" pitchFamily="34" charset="0"/>
              <a:buChar char="•"/>
            </a:pPr>
            <a:r>
              <a:rPr lang="en-US" sz="1200" dirty="0">
                <a:solidFill>
                  <a:srgbClr val="003C71"/>
                </a:solidFill>
              </a:rPr>
              <a:t>Datapath uses </a:t>
            </a:r>
            <a:r>
              <a:rPr lang="en-US" sz="1200" dirty="0" err="1">
                <a:solidFill>
                  <a:srgbClr val="003C71"/>
                </a:solidFill>
              </a:rPr>
              <a:t>pos</a:t>
            </a:r>
            <a:r>
              <a:rPr lang="en-US" sz="1200" dirty="0">
                <a:solidFill>
                  <a:srgbClr val="003C71"/>
                </a:solidFill>
              </a:rPr>
              <a:t>-edge latches</a:t>
            </a:r>
          </a:p>
          <a:p>
            <a:pPr marL="171450" indent="-171450">
              <a:buFont typeface="Arial" panose="020B0604020202020204" pitchFamily="34" charset="0"/>
              <a:buChar char="•"/>
            </a:pPr>
            <a:r>
              <a:rPr lang="en-US" sz="1200" dirty="0">
                <a:solidFill>
                  <a:srgbClr val="003C71"/>
                </a:solidFill>
              </a:rPr>
              <a:t>Clock is normally low, latches opaque</a:t>
            </a:r>
          </a:p>
          <a:p>
            <a:pPr marL="171450" indent="-171450">
              <a:buFont typeface="Arial" panose="020B0604020202020204" pitchFamily="34" charset="0"/>
              <a:buChar char="•"/>
            </a:pPr>
            <a:r>
              <a:rPr lang="en-US" sz="1200" dirty="0">
                <a:solidFill>
                  <a:srgbClr val="003C71"/>
                </a:solidFill>
              </a:rPr>
              <a:t>When token arrives on input (</a:t>
            </a:r>
            <a:r>
              <a:rPr lang="en-US" sz="1200" dirty="0" err="1">
                <a:solidFill>
                  <a:srgbClr val="003C71"/>
                </a:solidFill>
              </a:rPr>
              <a:t>Lq</a:t>
            </a:r>
            <a:r>
              <a:rPr lang="en-US" sz="1200" dirty="0">
                <a:solidFill>
                  <a:srgbClr val="003C71"/>
                </a:solidFill>
              </a:rPr>
              <a:t>!=La) and there is space on output (</a:t>
            </a:r>
            <a:r>
              <a:rPr lang="en-US" sz="1200" dirty="0" err="1">
                <a:solidFill>
                  <a:srgbClr val="003C71"/>
                </a:solidFill>
              </a:rPr>
              <a:t>Rq</a:t>
            </a:r>
            <a:r>
              <a:rPr lang="en-US" sz="1200" dirty="0">
                <a:solidFill>
                  <a:srgbClr val="003C71"/>
                </a:solidFill>
              </a:rPr>
              <a:t>==Ra), then raise the clock</a:t>
            </a:r>
          </a:p>
          <a:p>
            <a:pPr marL="171450" indent="-171450">
              <a:buFont typeface="Arial" panose="020B0604020202020204" pitchFamily="34" charset="0"/>
              <a:buChar char="•"/>
            </a:pPr>
            <a:r>
              <a:rPr lang="en-US" sz="1200" dirty="0">
                <a:solidFill>
                  <a:srgbClr val="003C71"/>
                </a:solidFill>
              </a:rPr>
              <a:t>After clock pulse delay, flip </a:t>
            </a:r>
            <a:r>
              <a:rPr lang="en-US" sz="1200" dirty="0" err="1">
                <a:solidFill>
                  <a:srgbClr val="003C71"/>
                </a:solidFill>
              </a:rPr>
              <a:t>Rq</a:t>
            </a:r>
            <a:r>
              <a:rPr lang="en-US" sz="1200" dirty="0">
                <a:solidFill>
                  <a:srgbClr val="003C71"/>
                </a:solidFill>
              </a:rPr>
              <a:t> and La</a:t>
            </a:r>
          </a:p>
          <a:p>
            <a:pPr marL="171450" indent="-171450">
              <a:buFont typeface="Arial" panose="020B0604020202020204" pitchFamily="34" charset="0"/>
              <a:buChar char="•"/>
            </a:pPr>
            <a:r>
              <a:rPr lang="en-US" sz="1200" dirty="0">
                <a:solidFill>
                  <a:srgbClr val="003C71"/>
                </a:solidFill>
              </a:rPr>
              <a:t>Similar to Click, except with latch instead of toggle, and stretched pulse-width</a:t>
            </a:r>
          </a:p>
          <a:p>
            <a:pPr marL="171450" indent="-171450">
              <a:buFont typeface="Arial" panose="020B0604020202020204" pitchFamily="34" charset="0"/>
              <a:buChar char="•"/>
            </a:pPr>
            <a:r>
              <a:rPr lang="en-US" sz="1200" dirty="0">
                <a:solidFill>
                  <a:srgbClr val="003C71"/>
                </a:solidFill>
              </a:rPr>
              <a:t>Routed as </a:t>
            </a:r>
            <a:r>
              <a:rPr lang="en-US" sz="1200" dirty="0" err="1">
                <a:solidFill>
                  <a:srgbClr val="003C71"/>
                </a:solidFill>
              </a:rPr>
              <a:t>placeable</a:t>
            </a:r>
            <a:r>
              <a:rPr lang="en-US" sz="1200" dirty="0">
                <a:solidFill>
                  <a:srgbClr val="003C71"/>
                </a:solidFill>
              </a:rPr>
              <a:t> hard macro</a:t>
            </a:r>
          </a:p>
          <a:p>
            <a:pPr marL="171450" indent="-171450">
              <a:buFont typeface="Arial" panose="020B0604020202020204" pitchFamily="34" charset="0"/>
              <a:buChar char="•"/>
            </a:pPr>
            <a:r>
              <a:rPr lang="en-US" sz="1200" dirty="0">
                <a:solidFill>
                  <a:srgbClr val="003C71"/>
                </a:solidFill>
              </a:rPr>
              <a:t>Timing LIB modified to eliminate loops</a:t>
            </a:r>
          </a:p>
          <a:p>
            <a:endParaRPr lang="en-US" dirty="0"/>
          </a:p>
        </p:txBody>
      </p:sp>
      <p:sp>
        <p:nvSpPr>
          <p:cNvPr id="4" name="Slide Number Placeholder 3"/>
          <p:cNvSpPr>
            <a:spLocks noGrp="1"/>
          </p:cNvSpPr>
          <p:nvPr>
            <p:ph type="sldNum" sz="quarter" idx="10"/>
          </p:nvPr>
        </p:nvSpPr>
        <p:spPr/>
        <p:txBody>
          <a:bodyPr/>
          <a:lstStyle/>
          <a:p>
            <a:fld id="{B9830AEF-C118-46E1-BA6A-8E2AE91DC594}" type="slidenum">
              <a:rPr lang="en-US" smtClean="0"/>
              <a:t>8</a:t>
            </a:fld>
            <a:endParaRPr lang="en-US"/>
          </a:p>
        </p:txBody>
      </p:sp>
    </p:spTree>
    <p:extLst>
      <p:ext uri="{BB962C8B-B14F-4D97-AF65-F5344CB8AC3E}">
        <p14:creationId xmlns:p14="http://schemas.microsoft.com/office/powerpoint/2010/main" val="1780482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p:spPr>
        <p:txBody>
          <a:bodyPr/>
          <a:lstStyle/>
          <a:p>
            <a:r>
              <a:rPr lang="en-US" altLang="en-US"/>
              <a:t>Uses timing invariance of asynchronous circuits; tokenized values match on all external interfaces</a:t>
            </a:r>
          </a:p>
        </p:txBody>
      </p:sp>
      <p:sp>
        <p:nvSpPr>
          <p:cNvPr id="23556" name="Slide Number Placeholder 3"/>
          <p:cNvSpPr>
            <a:spLocks noGrp="1"/>
          </p:cNvSpPr>
          <p:nvPr>
            <p:ph type="sldNum" sz="quarter" idx="5"/>
          </p:nvPr>
        </p:nvSpPr>
        <p:spPr>
          <a:noFill/>
        </p:spPr>
        <p:txBody>
          <a:bodyPr/>
          <a:lstStyle>
            <a:lvl1pPr defTabSz="885825">
              <a:defRPr sz="2400" b="1">
                <a:solidFill>
                  <a:schemeClr val="tx1"/>
                </a:solidFill>
                <a:latin typeface="Helvetica" panose="020B0604020202020204" pitchFamily="34" charset="0"/>
              </a:defRPr>
            </a:lvl1pPr>
            <a:lvl2pPr marL="742950" indent="-285750" defTabSz="885825">
              <a:defRPr sz="2400" b="1">
                <a:solidFill>
                  <a:schemeClr val="tx1"/>
                </a:solidFill>
                <a:latin typeface="Helvetica" panose="020B0604020202020204" pitchFamily="34" charset="0"/>
              </a:defRPr>
            </a:lvl2pPr>
            <a:lvl3pPr marL="1143000" indent="-228600" defTabSz="885825">
              <a:defRPr sz="2400" b="1">
                <a:solidFill>
                  <a:schemeClr val="tx1"/>
                </a:solidFill>
                <a:latin typeface="Helvetica" panose="020B0604020202020204" pitchFamily="34" charset="0"/>
              </a:defRPr>
            </a:lvl3pPr>
            <a:lvl4pPr marL="1600200" indent="-228600" defTabSz="885825">
              <a:defRPr sz="2400" b="1">
                <a:solidFill>
                  <a:schemeClr val="tx1"/>
                </a:solidFill>
                <a:latin typeface="Helvetica" panose="020B0604020202020204" pitchFamily="34" charset="0"/>
              </a:defRPr>
            </a:lvl4pPr>
            <a:lvl5pPr marL="2057400" indent="-228600" defTabSz="885825">
              <a:defRPr sz="2400" b="1">
                <a:solidFill>
                  <a:schemeClr val="tx1"/>
                </a:solidFill>
                <a:latin typeface="Helvetica" panose="020B0604020202020204" pitchFamily="34" charset="0"/>
              </a:defRPr>
            </a:lvl5pPr>
            <a:lvl6pPr marL="2514600" indent="-228600" defTabSz="885825" eaLnBrk="0" fontAlgn="base" hangingPunct="0">
              <a:spcBef>
                <a:spcPct val="0"/>
              </a:spcBef>
              <a:spcAft>
                <a:spcPct val="0"/>
              </a:spcAft>
              <a:defRPr sz="2400" b="1">
                <a:solidFill>
                  <a:schemeClr val="tx1"/>
                </a:solidFill>
                <a:latin typeface="Helvetica" panose="020B0604020202020204" pitchFamily="34" charset="0"/>
              </a:defRPr>
            </a:lvl6pPr>
            <a:lvl7pPr marL="2971800" indent="-228600" defTabSz="885825" eaLnBrk="0" fontAlgn="base" hangingPunct="0">
              <a:spcBef>
                <a:spcPct val="0"/>
              </a:spcBef>
              <a:spcAft>
                <a:spcPct val="0"/>
              </a:spcAft>
              <a:defRPr sz="2400" b="1">
                <a:solidFill>
                  <a:schemeClr val="tx1"/>
                </a:solidFill>
                <a:latin typeface="Helvetica" panose="020B0604020202020204" pitchFamily="34" charset="0"/>
              </a:defRPr>
            </a:lvl7pPr>
            <a:lvl8pPr marL="3429000" indent="-228600" defTabSz="885825" eaLnBrk="0" fontAlgn="base" hangingPunct="0">
              <a:spcBef>
                <a:spcPct val="0"/>
              </a:spcBef>
              <a:spcAft>
                <a:spcPct val="0"/>
              </a:spcAft>
              <a:defRPr sz="2400" b="1">
                <a:solidFill>
                  <a:schemeClr val="tx1"/>
                </a:solidFill>
                <a:latin typeface="Helvetica" panose="020B0604020202020204" pitchFamily="34" charset="0"/>
              </a:defRPr>
            </a:lvl8pPr>
            <a:lvl9pPr marL="3886200" indent="-228600" defTabSz="885825" eaLnBrk="0" fontAlgn="base" hangingPunct="0">
              <a:spcBef>
                <a:spcPct val="0"/>
              </a:spcBef>
              <a:spcAft>
                <a:spcPct val="0"/>
              </a:spcAft>
              <a:defRPr sz="2400" b="1">
                <a:solidFill>
                  <a:schemeClr val="tx1"/>
                </a:solidFill>
                <a:latin typeface="Helvetica" panose="020B0604020202020204" pitchFamily="34" charset="0"/>
              </a:defRPr>
            </a:lvl9pPr>
          </a:lstStyle>
          <a:p>
            <a:fld id="{3C722F2B-D882-46FF-B2A8-B7263948DAA0}" type="slidenum">
              <a:rPr lang="en-US" altLang="en-US" sz="1200" smtClean="0"/>
              <a:pPr/>
              <a:t>9</a:t>
            </a:fld>
            <a:endParaRPr lang="en-US" altLang="en-US" sz="1200"/>
          </a:p>
        </p:txBody>
      </p:sp>
    </p:spTree>
    <p:extLst>
      <p:ext uri="{BB962C8B-B14F-4D97-AF65-F5344CB8AC3E}">
        <p14:creationId xmlns:p14="http://schemas.microsoft.com/office/powerpoint/2010/main" val="2225202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830AEF-C118-46E1-BA6A-8E2AE91DC594}"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891896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830AEF-C118-46E1-BA6A-8E2AE91DC594}" type="slidenum">
              <a:rPr lang="en-US" smtClean="0"/>
              <a:t>11</a:t>
            </a:fld>
            <a:endParaRPr lang="en-US"/>
          </a:p>
        </p:txBody>
      </p:sp>
    </p:spTree>
    <p:extLst>
      <p:ext uri="{BB962C8B-B14F-4D97-AF65-F5344CB8AC3E}">
        <p14:creationId xmlns:p14="http://schemas.microsoft.com/office/powerpoint/2010/main" val="3548300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830AEF-C118-46E1-BA6A-8E2AE91DC594}" type="slidenum">
              <a:rPr lang="en-US" smtClean="0"/>
              <a:t>15</a:t>
            </a:fld>
            <a:endParaRPr lang="en-US"/>
          </a:p>
        </p:txBody>
      </p:sp>
    </p:spTree>
    <p:extLst>
      <p:ext uri="{BB962C8B-B14F-4D97-AF65-F5344CB8AC3E}">
        <p14:creationId xmlns:p14="http://schemas.microsoft.com/office/powerpoint/2010/main" val="1547973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830AEF-C118-46E1-BA6A-8E2AE91DC594}" type="slidenum">
              <a:rPr lang="en-US" smtClean="0"/>
              <a:t>16</a:t>
            </a:fld>
            <a:endParaRPr lang="en-US"/>
          </a:p>
        </p:txBody>
      </p:sp>
    </p:spTree>
    <p:extLst>
      <p:ext uri="{BB962C8B-B14F-4D97-AF65-F5344CB8AC3E}">
        <p14:creationId xmlns:p14="http://schemas.microsoft.com/office/powerpoint/2010/main" val="3201750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885825">
              <a:defRPr sz="2400" b="1">
                <a:solidFill>
                  <a:schemeClr val="tx1"/>
                </a:solidFill>
                <a:latin typeface="Helvetica" panose="020B0604020202020204" pitchFamily="34" charset="0"/>
              </a:defRPr>
            </a:lvl1pPr>
            <a:lvl2pPr marL="742950" indent="-285750" defTabSz="885825">
              <a:defRPr sz="2400" b="1">
                <a:solidFill>
                  <a:schemeClr val="tx1"/>
                </a:solidFill>
                <a:latin typeface="Helvetica" panose="020B0604020202020204" pitchFamily="34" charset="0"/>
              </a:defRPr>
            </a:lvl2pPr>
            <a:lvl3pPr marL="1143000" indent="-228600" defTabSz="885825">
              <a:defRPr sz="2400" b="1">
                <a:solidFill>
                  <a:schemeClr val="tx1"/>
                </a:solidFill>
                <a:latin typeface="Helvetica" panose="020B0604020202020204" pitchFamily="34" charset="0"/>
              </a:defRPr>
            </a:lvl3pPr>
            <a:lvl4pPr marL="1600200" indent="-228600" defTabSz="885825">
              <a:defRPr sz="2400" b="1">
                <a:solidFill>
                  <a:schemeClr val="tx1"/>
                </a:solidFill>
                <a:latin typeface="Helvetica" panose="020B0604020202020204" pitchFamily="34" charset="0"/>
              </a:defRPr>
            </a:lvl4pPr>
            <a:lvl5pPr marL="2057400" indent="-228600" defTabSz="885825">
              <a:defRPr sz="2400" b="1">
                <a:solidFill>
                  <a:schemeClr val="tx1"/>
                </a:solidFill>
                <a:latin typeface="Helvetica" panose="020B0604020202020204" pitchFamily="34" charset="0"/>
              </a:defRPr>
            </a:lvl5pPr>
            <a:lvl6pPr marL="2514600" indent="-228600" defTabSz="885825" eaLnBrk="0" fontAlgn="base" hangingPunct="0">
              <a:spcBef>
                <a:spcPct val="0"/>
              </a:spcBef>
              <a:spcAft>
                <a:spcPct val="0"/>
              </a:spcAft>
              <a:defRPr sz="2400" b="1">
                <a:solidFill>
                  <a:schemeClr val="tx1"/>
                </a:solidFill>
                <a:latin typeface="Helvetica" panose="020B0604020202020204" pitchFamily="34" charset="0"/>
              </a:defRPr>
            </a:lvl6pPr>
            <a:lvl7pPr marL="2971800" indent="-228600" defTabSz="885825" eaLnBrk="0" fontAlgn="base" hangingPunct="0">
              <a:spcBef>
                <a:spcPct val="0"/>
              </a:spcBef>
              <a:spcAft>
                <a:spcPct val="0"/>
              </a:spcAft>
              <a:defRPr sz="2400" b="1">
                <a:solidFill>
                  <a:schemeClr val="tx1"/>
                </a:solidFill>
                <a:latin typeface="Helvetica" panose="020B0604020202020204" pitchFamily="34" charset="0"/>
              </a:defRPr>
            </a:lvl7pPr>
            <a:lvl8pPr marL="3429000" indent="-228600" defTabSz="885825" eaLnBrk="0" fontAlgn="base" hangingPunct="0">
              <a:spcBef>
                <a:spcPct val="0"/>
              </a:spcBef>
              <a:spcAft>
                <a:spcPct val="0"/>
              </a:spcAft>
              <a:defRPr sz="2400" b="1">
                <a:solidFill>
                  <a:schemeClr val="tx1"/>
                </a:solidFill>
                <a:latin typeface="Helvetica" panose="020B0604020202020204" pitchFamily="34" charset="0"/>
              </a:defRPr>
            </a:lvl8pPr>
            <a:lvl9pPr marL="3886200" indent="-228600" defTabSz="885825" eaLnBrk="0" fontAlgn="base" hangingPunct="0">
              <a:spcBef>
                <a:spcPct val="0"/>
              </a:spcBef>
              <a:spcAft>
                <a:spcPct val="0"/>
              </a:spcAft>
              <a:defRPr sz="2400" b="1">
                <a:solidFill>
                  <a:schemeClr val="tx1"/>
                </a:solidFill>
                <a:latin typeface="Helvetica" panose="020B0604020202020204" pitchFamily="34" charset="0"/>
              </a:defRPr>
            </a:lvl9pPr>
          </a:lstStyle>
          <a:p>
            <a:fld id="{164D3AC3-EF15-4795-9C7B-0CFE3058D9C4}" type="slidenum">
              <a:rPr lang="en-US" altLang="en-US" sz="1200" smtClean="0"/>
              <a:pPr/>
              <a:t>24</a:t>
            </a:fld>
            <a:endParaRPr lang="en-US" altLang="en-US" sz="1200"/>
          </a:p>
        </p:txBody>
      </p:sp>
      <p:sp>
        <p:nvSpPr>
          <p:cNvPr id="44035" name="Rectangle 2"/>
          <p:cNvSpPr>
            <a:spLocks noGrp="1" noRot="1" noChangeAspect="1" noChangeArrowheads="1" noTextEdit="1"/>
          </p:cNvSpPr>
          <p:nvPr>
            <p:ph type="sldImg"/>
          </p:nvPr>
        </p:nvSpPr>
        <p:spPr>
          <a:xfrm>
            <a:off x="330200" y="696913"/>
            <a:ext cx="6197600" cy="3486150"/>
          </a:xfrm>
          <a:solidFill>
            <a:srgbClr val="FFFFFF"/>
          </a:solidFill>
          <a:ln/>
        </p:spPr>
      </p:sp>
      <p:sp>
        <p:nvSpPr>
          <p:cNvPr id="44036" name="Rectangle 3"/>
          <p:cNvSpPr>
            <a:spLocks noGrp="1" noChangeArrowheads="1"/>
          </p:cNvSpPr>
          <p:nvPr>
            <p:ph type="body" idx="1"/>
          </p:nvPr>
        </p:nvSpPr>
        <p:spPr>
          <a:xfrm>
            <a:off x="914400" y="4416425"/>
            <a:ext cx="5029200" cy="4183063"/>
          </a:xfr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647916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830AEF-C118-46E1-BA6A-8E2AE91DC594}" type="slidenum">
              <a:rPr lang="en-US" smtClean="0"/>
              <a:t>31</a:t>
            </a:fld>
            <a:endParaRPr lang="en-US"/>
          </a:p>
        </p:txBody>
      </p:sp>
    </p:spTree>
    <p:extLst>
      <p:ext uri="{BB962C8B-B14F-4D97-AF65-F5344CB8AC3E}">
        <p14:creationId xmlns:p14="http://schemas.microsoft.com/office/powerpoint/2010/main" val="20990184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with Linear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5000" b="0" spc="0" baseline="0">
                <a:solidFill>
                  <a:schemeClr val="bg1">
                    <a:alpha val="90000"/>
                  </a:schemeClr>
                </a:solidFill>
                <a:latin typeface="Intel Clear Pro" panose="020B0804020202060201" pitchFamily="34" charset="0"/>
                <a:ea typeface="Intel Clear Pro" panose="020B0804020202060201" pitchFamily="34" charset="0"/>
                <a:cs typeface="Intel Clear Pro" panose="020B0804020202060201" pitchFamily="34" charset="0"/>
              </a:defRPr>
            </a:lvl1pPr>
          </a:lstStyle>
          <a:p>
            <a:r>
              <a:rPr lang="en-US" dirty="0"/>
              <a:t>50pt Intel Clear pro Title</a:t>
            </a:r>
            <a:br>
              <a:rPr lang="en-US" dirty="0"/>
            </a:br>
            <a:r>
              <a:rPr lang="en-US" dirty="0"/>
              <a:t>with Linear gradient</a:t>
            </a:r>
          </a:p>
        </p:txBody>
      </p:sp>
      <p:sp>
        <p:nvSpPr>
          <p:cNvPr id="3"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chemeClr val="accent3"/>
                </a:solidFill>
                <a:latin typeface="+mn-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16pt Intel Clear Subhead, Date, Etc.</a:t>
            </a:r>
          </a:p>
        </p:txBody>
      </p:sp>
      <p:pic>
        <p:nvPicPr>
          <p:cNvPr id="6" name="Picture 2"/>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451797" y="383169"/>
            <a:ext cx="1248049" cy="82985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21823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with Linear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5000" b="0" spc="0" baseline="0">
                <a:solidFill>
                  <a:schemeClr val="bg1">
                    <a:alpha val="90000"/>
                  </a:schemeClr>
                </a:solidFill>
                <a:latin typeface="Intel Clear Pro" panose="020B0804020202060201" pitchFamily="34" charset="0"/>
                <a:ea typeface="Intel Clear Pro" panose="020B0804020202060201" pitchFamily="34" charset="0"/>
                <a:cs typeface="Intel Clear Pro" panose="020B0804020202060201" pitchFamily="34" charset="0"/>
              </a:defRPr>
            </a:lvl1pPr>
          </a:lstStyle>
          <a:p>
            <a:r>
              <a:rPr lang="en-US" dirty="0"/>
              <a:t>50pt Intel Clear pro Title</a:t>
            </a:r>
            <a:br>
              <a:rPr lang="en-US" dirty="0"/>
            </a:br>
            <a:r>
              <a:rPr lang="en-US" dirty="0"/>
              <a:t>with Linear gradient</a:t>
            </a:r>
          </a:p>
        </p:txBody>
      </p:sp>
      <p:sp>
        <p:nvSpPr>
          <p:cNvPr id="3"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chemeClr val="accent3"/>
                </a:solidFill>
                <a:latin typeface="+mn-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16pt Intel Clear Subhead, Date, Etc.</a:t>
            </a:r>
          </a:p>
        </p:txBody>
      </p:sp>
      <p:pic>
        <p:nvPicPr>
          <p:cNvPr id="5" name="Picture 4" descr="int_experience_hrz_wht_rgb_1500.png"/>
          <p:cNvPicPr>
            <a:picLocks noChangeAspect="1"/>
          </p:cNvPicPr>
          <p:nvPr/>
        </p:nvPicPr>
        <p:blipFill>
          <a:blip r:embed="rId2" cstate="screen">
            <a:alphaModFix/>
            <a:extLst>
              <a:ext uri="{28A0092B-C50C-407E-A947-70E740481C1C}">
                <a14:useLocalDpi xmlns:a14="http://schemas.microsoft.com/office/drawing/2010/main"/>
              </a:ext>
            </a:extLst>
          </a:blip>
          <a:stretch>
            <a:fillRect/>
          </a:stretch>
        </p:blipFill>
        <p:spPr>
          <a:xfrm>
            <a:off x="460693" y="389228"/>
            <a:ext cx="2121766" cy="887284"/>
          </a:xfrm>
          <a:prstGeom prst="rect">
            <a:avLst/>
          </a:prstGeom>
        </p:spPr>
      </p:pic>
    </p:spTree>
    <p:extLst>
      <p:ext uri="{BB962C8B-B14F-4D97-AF65-F5344CB8AC3E}">
        <p14:creationId xmlns:p14="http://schemas.microsoft.com/office/powerpoint/2010/main" val="398212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30000">
              <a:schemeClr val="tx2"/>
            </a:gs>
            <a:gs pos="100000">
              <a:srgbClr val="009FDF"/>
            </a:gs>
            <a:gs pos="65000">
              <a:srgbClr val="0071C5"/>
            </a:gs>
          </a:gsLst>
          <a:lin ang="19860000" scaled="0"/>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451797" y="383169"/>
            <a:ext cx="1248049" cy="829850"/>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5000" b="0" spc="0" baseline="0">
                <a:solidFill>
                  <a:schemeClr val="bg1">
                    <a:alpha val="90000"/>
                  </a:schemeClr>
                </a:solidFill>
                <a:latin typeface="Intel Clear Pro" panose="020B0804020202060201" pitchFamily="34" charset="0"/>
                <a:ea typeface="Intel Clear Pro" panose="020B0804020202060201" pitchFamily="34" charset="0"/>
                <a:cs typeface="Intel Clear Pro" panose="020B0804020202060201" pitchFamily="34" charset="0"/>
              </a:defRPr>
            </a:lvl1pPr>
          </a:lstStyle>
          <a:p>
            <a:r>
              <a:rPr lang="en-US" dirty="0"/>
              <a:t>50pt Intel Clear pro Title</a:t>
            </a:r>
            <a:br>
              <a:rPr lang="en-US" dirty="0"/>
            </a:br>
            <a:r>
              <a:rPr lang="en-US" dirty="0"/>
              <a:t>with image</a:t>
            </a:r>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chemeClr val="accent3"/>
                </a:solidFill>
                <a:latin typeface="+mn-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1272704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200">
                <a:solidFill>
                  <a:schemeClr val="tx2"/>
                </a:solidFill>
              </a:defRPr>
            </a:lvl5pPr>
          </a:lstStyle>
          <a:p>
            <a:pPr lvl="0"/>
            <a:r>
              <a:rPr lang="en-US" dirty="0"/>
              <a:t>18pt Intel Clear body text</a:t>
            </a:r>
          </a:p>
          <a:p>
            <a:pPr lvl="1"/>
            <a:r>
              <a:rPr lang="en-US" dirty="0"/>
              <a:t>18pt Intel Clear bullet one</a:t>
            </a:r>
          </a:p>
          <a:p>
            <a:pPr lvl="2"/>
            <a:r>
              <a:rPr lang="en-US" dirty="0"/>
              <a:t>16pt Intel Clear sub-bullet</a:t>
            </a:r>
          </a:p>
          <a:p>
            <a:pPr lvl="3"/>
            <a:r>
              <a:rPr lang="en-US" dirty="0"/>
              <a:t>14pt Intel Clear fourth level</a:t>
            </a:r>
          </a:p>
          <a:p>
            <a:pPr lvl="4"/>
            <a:r>
              <a:rPr lang="en-US" dirty="0"/>
              <a:t>12pt Intel Clear fifth level</a:t>
            </a:r>
          </a:p>
        </p:txBody>
      </p:sp>
    </p:spTree>
    <p:extLst>
      <p:ext uri="{BB962C8B-B14F-4D97-AF65-F5344CB8AC3E}">
        <p14:creationId xmlns:p14="http://schemas.microsoft.com/office/powerpoint/2010/main" val="31190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a:latin typeface="Arial"/>
              </a:rPr>
              <a:t>Click icon to add picture</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a:latin typeface="Arial"/>
              </a:rPr>
              <a:t>Click icon to add picture</a:t>
            </a:r>
            <a:endParaRPr lang="en-US" sz="1100" dirty="0">
              <a:latin typeface="Arial"/>
            </a:endParaRPr>
          </a:p>
        </p:txBody>
      </p:sp>
    </p:spTree>
    <p:extLst>
      <p:ext uri="{BB962C8B-B14F-4D97-AF65-F5344CB8AC3E}">
        <p14:creationId xmlns:p14="http://schemas.microsoft.com/office/powerpoint/2010/main" val="2527615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Tree>
    <p:extLst>
      <p:ext uri="{BB962C8B-B14F-4D97-AF65-F5344CB8AC3E}">
        <p14:creationId xmlns:p14="http://schemas.microsoft.com/office/powerpoint/2010/main" val="240955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1"/>
                </a:solidFill>
                <a:latin typeface="+mn-lt"/>
                <a:cs typeface="Arial" panose="020B0604020202020204" pitchFamily="34" charset="0"/>
              </a:defRPr>
            </a:lvl1pPr>
            <a:lvl2pPr marL="417513" indent="-225425">
              <a:buFont typeface="Intel Clear" pitchFamily="34" charset="0"/>
              <a:buChar char="–"/>
              <a:defRPr sz="1200" baseline="0">
                <a:latin typeface="+mn-lt"/>
                <a:cs typeface="Arial" panose="020B0604020202020204" pitchFamily="34" charset="0"/>
              </a:defRPr>
            </a:lvl2pPr>
            <a:lvl3pPr marL="685800" indent="-228600">
              <a:buFont typeface="Intel Clear" pitchFamily="34" charset="0"/>
              <a:buChar char="–"/>
              <a:defRPr sz="1200">
                <a:latin typeface="+mn-lt"/>
              </a:defRPr>
            </a:lvl3pPr>
            <a:lvl4pPr>
              <a:buFont typeface="Intel Clear" pitchFamily="34" charset="0"/>
              <a:buChar char="–"/>
              <a:defRPr sz="1100">
                <a:latin typeface="+mn-lt"/>
              </a:defRPr>
            </a:lvl4pPr>
            <a:lvl5pPr>
              <a:buFont typeface="Intel Clear" pitchFamily="34" charset="0"/>
              <a:buChar char="–"/>
              <a:defRPr sz="1050">
                <a:latin typeface="+mn-lt"/>
              </a:defRPr>
            </a:lvl5pPr>
          </a:lstStyle>
          <a:p>
            <a:pPr lvl="0"/>
            <a:r>
              <a:rPr lang="en-US" dirty="0"/>
              <a:t>“36pt Intel Clear Bold Text”</a:t>
            </a:r>
          </a:p>
          <a:p>
            <a:pPr lvl="1"/>
            <a:r>
              <a:rPr lang="en-US" dirty="0" err="1"/>
              <a:t>12pt</a:t>
            </a:r>
            <a:r>
              <a:rPr lang="en-US" dirty="0"/>
              <a:t> Attribution</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Tree>
    <p:extLst>
      <p:ext uri="{BB962C8B-B14F-4D97-AF65-F5344CB8AC3E}">
        <p14:creationId xmlns:p14="http://schemas.microsoft.com/office/powerpoint/2010/main" val="2488559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atin typeface="+mj-lt"/>
              </a:defRPr>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6872352" y="4824387"/>
            <a:ext cx="2133600"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Tree>
    <p:extLst>
      <p:ext uri="{BB962C8B-B14F-4D97-AF65-F5344CB8AC3E}">
        <p14:creationId xmlns:p14="http://schemas.microsoft.com/office/powerpoint/2010/main" val="243458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94719"/>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6872352" y="4824387"/>
            <a:ext cx="2133600"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a:solidFill>
                <a:schemeClr val="tx2"/>
              </a:solidFill>
              <a:cs typeface="Arial" panose="020B0604020202020204" pitchFamily="34" charset="0"/>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Tree>
    <p:extLst>
      <p:ext uri="{BB962C8B-B14F-4D97-AF65-F5344CB8AC3E}">
        <p14:creationId xmlns:p14="http://schemas.microsoft.com/office/powerpoint/2010/main" val="774049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1"/>
            <a:ext cx="4465637" cy="4768849"/>
          </a:xfrm>
          <a:solidFill>
            <a:schemeClr val="bg2">
              <a:lumMod val="60000"/>
              <a:lumOff val="40000"/>
            </a:schemeClr>
          </a:solidFill>
        </p:spPr>
        <p:txBody>
          <a:bodyPr/>
          <a:lstStyle>
            <a:lvl1pPr>
              <a:defRPr baseline="0"/>
            </a:lvl1pPr>
          </a:lstStyle>
          <a:p>
            <a:r>
              <a:rPr lang="en-US" dirty="0"/>
              <a:t>Insert photo here. Drag picture to placeholder or click icon to add.</a:t>
            </a:r>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solidFill>
                  <a:schemeClr val="tx2"/>
                </a:solidFill>
                <a:latin typeface="+mj-lt"/>
                <a:cs typeface="Arial" panose="020B0604020202020204" pitchFamily="34" charset="0"/>
              </a:defRPr>
            </a:lvl1pPr>
          </a:lstStyle>
          <a:p>
            <a:r>
              <a:rPr lang="en-US" dirty="0"/>
              <a:t>28pt Intel Clear Headline</a:t>
            </a:r>
          </a:p>
        </p:txBody>
      </p:sp>
      <p:sp>
        <p:nvSpPr>
          <p:cNvPr id="6" name="Slide Number Placeholder 5"/>
          <p:cNvSpPr>
            <a:spLocks noGrp="1"/>
          </p:cNvSpPr>
          <p:nvPr>
            <p:ph type="sldNum" sz="quarter" idx="12"/>
          </p:nvPr>
        </p:nvSpPr>
        <p:spPr>
          <a:xfrm>
            <a:off x="6872352" y="4824387"/>
            <a:ext cx="2133600"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Tree>
    <p:extLst>
      <p:ext uri="{BB962C8B-B14F-4D97-AF65-F5344CB8AC3E}">
        <p14:creationId xmlns:p14="http://schemas.microsoft.com/office/powerpoint/2010/main" val="197352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4000" b="0" cap="none" spc="0" baseline="0">
                <a:solidFill>
                  <a:schemeClr val="tx2">
                    <a:alpha val="90000"/>
                  </a:schemeClr>
                </a:solidFill>
                <a:latin typeface="+mj-lt"/>
                <a:cs typeface="Arial" panose="020B0604020202020204" pitchFamily="34" charset="0"/>
              </a:defRPr>
            </a:lvl1pPr>
          </a:lstStyle>
          <a:p>
            <a:r>
              <a:rPr lang="en-US" dirty="0"/>
              <a:t>40pt Intel Clear Pro</a:t>
            </a:r>
            <a:br>
              <a:rPr lang="en-US" dirty="0"/>
            </a:br>
            <a:r>
              <a:rPr lang="en-US" dirty="0"/>
              <a:t>white section break</a:t>
            </a:r>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a:p>
        </p:txBody>
      </p:sp>
    </p:spTree>
    <p:extLst>
      <p:ext uri="{BB962C8B-B14F-4D97-AF65-F5344CB8AC3E}">
        <p14:creationId xmlns:p14="http://schemas.microsoft.com/office/powerpoint/2010/main" val="2638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4000" b="0" cap="none" spc="0" baseline="0">
                <a:solidFill>
                  <a:schemeClr val="bg1">
                    <a:alpha val="90000"/>
                  </a:schemeClr>
                </a:solidFill>
                <a:latin typeface="Intel Clear Pro" panose="020B0804020202060201" pitchFamily="34" charset="0"/>
                <a:ea typeface="Intel Clear Pro" panose="020B0804020202060201" pitchFamily="34" charset="0"/>
                <a:cs typeface="Intel Clear Pro" panose="020B0804020202060201" pitchFamily="34" charset="0"/>
              </a:defRPr>
            </a:lvl1pPr>
          </a:lstStyle>
          <a:p>
            <a:r>
              <a:rPr lang="en-US" dirty="0"/>
              <a:t>40pt Intel Clear Pro</a:t>
            </a:r>
            <a:br>
              <a:rPr lang="en-US" dirty="0"/>
            </a:br>
            <a:r>
              <a:rPr lang="en-US" dirty="0"/>
              <a:t>blue section break</a:t>
            </a:r>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a:t>16pt Intel Clear Subhead</a:t>
            </a:r>
          </a:p>
        </p:txBody>
      </p:sp>
    </p:spTree>
    <p:extLst>
      <p:ext uri="{BB962C8B-B14F-4D97-AF65-F5344CB8AC3E}">
        <p14:creationId xmlns:p14="http://schemas.microsoft.com/office/powerpoint/2010/main" val="397076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Arial" panose="020B0604020202020204" pitchFamily="34" charset="0"/>
                <a:ea typeface="Intel Clear"/>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a:t>40pt Intel Clear Light Body.</a:t>
            </a:r>
            <a:br>
              <a:rPr lang="en-US" dirty="0"/>
            </a:br>
            <a:r>
              <a:rPr lang="en-US" dirty="0"/>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chemeClr val="tx2"/>
                </a:solidFill>
                <a:latin typeface="Arial" panose="020B0604020202020204" pitchFamily="34" charset="0"/>
                <a:ea typeface="Intel Clear" panose="020B0604020203020204" pitchFamily="34" charset="0"/>
                <a:cs typeface="Arial" panose="020B0604020202020204" pitchFamily="34" charset="0"/>
              </a:defRPr>
            </a:lvl1pPr>
          </a:lstStyle>
          <a:p>
            <a:r>
              <a:rPr lang="en-US" dirty="0"/>
              <a:t>40pt Intel Clear Heading</a:t>
            </a:r>
          </a:p>
        </p:txBody>
      </p:sp>
    </p:spTree>
    <p:extLst>
      <p:ext uri="{BB962C8B-B14F-4D97-AF65-F5344CB8AC3E}">
        <p14:creationId xmlns:p14="http://schemas.microsoft.com/office/powerpoint/2010/main" val="2898388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32000">
              <a:schemeClr val="tx2"/>
            </a:gs>
            <a:gs pos="95000">
              <a:srgbClr val="009FDF"/>
            </a:gs>
            <a:gs pos="78000">
              <a:srgbClr val="0071C5"/>
            </a:gs>
          </a:gsLst>
          <a:lin ang="1986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4000" b="0" cap="none" spc="0" baseline="0">
                <a:solidFill>
                  <a:schemeClr val="bg1">
                    <a:alpha val="90000"/>
                  </a:schemeClr>
                </a:solidFill>
                <a:latin typeface="Intel Clear Pro" panose="020B0804020202060201" pitchFamily="34" charset="0"/>
                <a:ea typeface="Intel Clear Pro" panose="020B0804020202060201" pitchFamily="34" charset="0"/>
                <a:cs typeface="Intel Clear Pro" panose="020B0804020202060201" pitchFamily="34" charset="0"/>
              </a:defRPr>
            </a:lvl1pPr>
          </a:lstStyle>
          <a:p>
            <a:r>
              <a:rPr lang="en-US" dirty="0"/>
              <a:t>40pt Intel Clear Pro blue section</a:t>
            </a:r>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chemeClr val="accent3"/>
                </a:solidFill>
                <a:latin typeface="+mn-lt"/>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a:t>16pt Intel Clear Subhead</a:t>
            </a:r>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a:t>Insert photo here. Drag picture to placeholder or click icon to add.</a:t>
            </a:r>
          </a:p>
        </p:txBody>
      </p:sp>
    </p:spTree>
    <p:extLst>
      <p:ext uri="{BB962C8B-B14F-4D97-AF65-F5344CB8AC3E}">
        <p14:creationId xmlns:p14="http://schemas.microsoft.com/office/powerpoint/2010/main" val="351717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a:p>
        </p:txBody>
      </p:sp>
      <p:sp>
        <p:nvSpPr>
          <p:cNvPr id="6"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Tree>
    <p:extLst>
      <p:ext uri="{BB962C8B-B14F-4D97-AF65-F5344CB8AC3E}">
        <p14:creationId xmlns:p14="http://schemas.microsoft.com/office/powerpoint/2010/main" val="375901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1089813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477432" y="1875130"/>
            <a:ext cx="2108795" cy="138988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90400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5" name="Picture 4" descr="int_experience_hrz_wht_rgb_3000.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48779" y="1874822"/>
            <a:ext cx="3646443" cy="1514490"/>
          </a:xfrm>
          <a:prstGeom prst="rect">
            <a:avLst/>
          </a:prstGeom>
        </p:spPr>
      </p:pic>
    </p:spTree>
    <p:extLst>
      <p:ext uri="{BB962C8B-B14F-4D97-AF65-F5344CB8AC3E}">
        <p14:creationId xmlns:p14="http://schemas.microsoft.com/office/powerpoint/2010/main" val="751617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924726" y="995749"/>
            <a:ext cx="7865312" cy="3649994"/>
          </a:xfrm>
        </p:spPr>
        <p:txBody>
          <a:bodyPr/>
          <a:lstStyle>
            <a:lvl1pPr>
              <a:spcBef>
                <a:spcPts val="9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p:cNvSpPr>
            <a:spLocks noGrp="1"/>
          </p:cNvSpPr>
          <p:nvPr>
            <p:ph type="sldNum" sz="quarter" idx="10"/>
          </p:nvPr>
        </p:nvSpPr>
        <p:spPr/>
        <p:txBody>
          <a:bodyPr/>
          <a:lstStyle>
            <a:lvl1pPr eaLnBrk="0" hangingPunct="0">
              <a:defRPr b="1"/>
            </a:lvl1pPr>
          </a:lstStyle>
          <a:p>
            <a:pPr>
              <a:defRPr/>
            </a:pPr>
            <a:fld id="{83767D2C-1EC3-497A-A8E0-998E3645C4A1}" type="slidenum">
              <a:rPr lang="en-US" altLang="en-US"/>
              <a:pPr>
                <a:defRPr/>
              </a:pPr>
              <a:t>‹#›</a:t>
            </a:fld>
            <a:endParaRPr lang="en-US" altLang="en-US"/>
          </a:p>
        </p:txBody>
      </p:sp>
    </p:spTree>
    <p:extLst>
      <p:ext uri="{BB962C8B-B14F-4D97-AF65-F5344CB8AC3E}">
        <p14:creationId xmlns:p14="http://schemas.microsoft.com/office/powerpoint/2010/main" val="3597029756"/>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2531" name="Rectangle 3"/>
          <p:cNvSpPr>
            <a:spLocks noChangeArrowheads="1"/>
          </p:cNvSpPr>
          <p:nvPr/>
        </p:nvSpPr>
        <p:spPr bwMode="auto">
          <a:xfrm>
            <a:off x="366713" y="1345410"/>
            <a:ext cx="8407400" cy="3126581"/>
          </a:xfrm>
          <a:prstGeom prst="rect">
            <a:avLst/>
          </a:prstGeom>
          <a:noFill/>
          <a:ln w="9525">
            <a:noFill/>
            <a:miter lim="800000"/>
            <a:headEnd/>
            <a:tailEnd/>
          </a:ln>
          <a:effectLst/>
        </p:spPr>
        <p:txBody>
          <a:bodyPr lIns="50078" tIns="25040" rIns="50078" bIns="25040" anchorCtr="1"/>
          <a:lstStyle/>
          <a:p>
            <a:pPr algn="r" defTabSz="501206"/>
            <a:endParaRPr lang="en-US" sz="1313" dirty="0">
              <a:solidFill>
                <a:prstClr val="white"/>
              </a:solidFill>
              <a:effectLst>
                <a:outerShdw blurRad="38100" dist="38100" dir="2700000" algn="tl">
                  <a:srgbClr val="000000"/>
                </a:outerShdw>
              </a:effectLst>
              <a:latin typeface="Neo Sans Intel" pitchFamily="34" charset="0"/>
            </a:endParaRPr>
          </a:p>
        </p:txBody>
      </p:sp>
      <p:sp>
        <p:nvSpPr>
          <p:cNvPr id="22532" name="Rectangle 4"/>
          <p:cNvSpPr>
            <a:spLocks noGrp="1" noChangeArrowheads="1"/>
          </p:cNvSpPr>
          <p:nvPr>
            <p:ph type="ctrTitle"/>
          </p:nvPr>
        </p:nvSpPr>
        <p:spPr>
          <a:xfrm>
            <a:off x="1471155" y="2089322"/>
            <a:ext cx="2641119" cy="943818"/>
          </a:xfrm>
        </p:spPr>
        <p:txBody>
          <a:bodyPr anchor="b" anchorCtr="0"/>
          <a:lstStyle>
            <a:lvl1pPr algn="ctr">
              <a:lnSpc>
                <a:spcPct val="75000"/>
              </a:lnSpc>
              <a:defRPr sz="3600">
                <a:latin typeface="+mj-lt"/>
              </a:defRPr>
            </a:lvl1pPr>
          </a:lstStyle>
          <a:p>
            <a:r>
              <a:rPr lang="en-US" dirty="0"/>
              <a:t>Click to edit Master title style</a:t>
            </a:r>
          </a:p>
        </p:txBody>
      </p:sp>
      <p:sp>
        <p:nvSpPr>
          <p:cNvPr id="22533" name="Rectangle 5"/>
          <p:cNvSpPr>
            <a:spLocks noGrp="1" noChangeArrowheads="1"/>
          </p:cNvSpPr>
          <p:nvPr>
            <p:ph type="subTitle" idx="1"/>
          </p:nvPr>
        </p:nvSpPr>
        <p:spPr>
          <a:xfrm>
            <a:off x="1350088" y="3074489"/>
            <a:ext cx="2883252" cy="883501"/>
          </a:xfrm>
        </p:spPr>
        <p:txBody>
          <a:bodyPr anchorCtr="0"/>
          <a:lstStyle>
            <a:lvl1pPr marL="0" indent="0" algn="ctr">
              <a:spcBef>
                <a:spcPts val="0"/>
              </a:spcBef>
              <a:buFont typeface="Wingdings" pitchFamily="2" charset="2"/>
              <a:buNone/>
              <a:defRPr>
                <a:solidFill>
                  <a:schemeClr val="accent3"/>
                </a:solidFill>
              </a:defRPr>
            </a:lvl1pPr>
          </a:lstStyle>
          <a:p>
            <a:r>
              <a:rPr lang="en-US" dirty="0"/>
              <a:t>Click to edit Master subtitle style</a:t>
            </a:r>
          </a:p>
        </p:txBody>
      </p:sp>
      <p:pic>
        <p:nvPicPr>
          <p:cNvPr id="5" name="Picture 2"/>
          <p:cNvPicPr>
            <a:picLocks noChangeAspect="1" noChangeArrowheads="1"/>
          </p:cNvPicPr>
          <p:nvPr userDrawn="1"/>
        </p:nvPicPr>
        <p:blipFill>
          <a:blip r:embed="rId3" cstate="screen">
            <a:extLst>
              <a:ext uri="{28A0092B-C50C-407E-A947-70E740481C1C}">
                <a14:useLocalDpi xmlns:a14="http://schemas.microsoft.com/office/drawing/2010/main"/>
              </a:ext>
            </a:extLst>
          </a:blip>
          <a:stretch>
            <a:fillRect/>
          </a:stretch>
        </p:blipFill>
        <p:spPr bwMode="auto">
          <a:xfrm>
            <a:off x="451797" y="383169"/>
            <a:ext cx="1248049" cy="82985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57274940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atin typeface="+mj-lt"/>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528549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atin typeface="+mj-lt"/>
              </a:defRPr>
            </a:lvl1pPr>
          </a:lstStyle>
          <a:p>
            <a:r>
              <a:rPr lang="en-US"/>
              <a:t>Click to edit Master title style</a:t>
            </a:r>
          </a:p>
        </p:txBody>
      </p:sp>
    </p:spTree>
    <p:extLst>
      <p:ext uri="{BB962C8B-B14F-4D97-AF65-F5344CB8AC3E}">
        <p14:creationId xmlns:p14="http://schemas.microsoft.com/office/powerpoint/2010/main" val="132315036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2" y="1709955"/>
            <a:ext cx="8234297" cy="1021556"/>
          </a:xfrm>
        </p:spPr>
        <p:txBody>
          <a:bodyPr anchor="b" anchorCtr="0">
            <a:noAutofit/>
          </a:bodyPr>
          <a:lstStyle>
            <a:lvl1pPr algn="ctr">
              <a:lnSpc>
                <a:spcPct val="80000"/>
              </a:lnSpc>
              <a:defRPr sz="4000" b="0" cap="none" spc="0" baseline="0">
                <a:solidFill>
                  <a:schemeClr val="tx1"/>
                </a:solidFill>
                <a:latin typeface="+mj-lt"/>
                <a:cs typeface="Arial" panose="020B0604020202020204" pitchFamily="34" charset="0"/>
              </a:defRPr>
            </a:lvl1pPr>
          </a:lstStyle>
          <a:p>
            <a:r>
              <a:rPr lang="en-US" dirty="0"/>
              <a:t>40pt Intel Clear Pro</a:t>
            </a:r>
            <a:br>
              <a:rPr lang="en-US" dirty="0"/>
            </a:br>
            <a:r>
              <a:rPr lang="en-US" dirty="0"/>
              <a:t>blue section break</a:t>
            </a:r>
          </a:p>
        </p:txBody>
      </p:sp>
      <p:sp>
        <p:nvSpPr>
          <p:cNvPr id="3" name="Text Placeholder 2"/>
          <p:cNvSpPr>
            <a:spLocks noGrp="1"/>
          </p:cNvSpPr>
          <p:nvPr>
            <p:ph type="body" idx="1" hasCustomPrompt="1"/>
          </p:nvPr>
        </p:nvSpPr>
        <p:spPr>
          <a:xfrm>
            <a:off x="455611" y="2843043"/>
            <a:ext cx="8234297" cy="1125140"/>
          </a:xfrm>
        </p:spPr>
        <p:txBody>
          <a:bodyPr anchor="t" anchorCtr="0">
            <a:noAutofit/>
          </a:bodyPr>
          <a:lstStyle>
            <a:lvl1pPr marL="0" indent="0" algn="ctr">
              <a:buNone/>
              <a:defRPr sz="1600" b="0" i="0" baseline="0">
                <a:solidFill>
                  <a:schemeClr val="accent3"/>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a:t>16pt Intel Clear Subhead</a:t>
            </a:r>
          </a:p>
        </p:txBody>
      </p:sp>
      <p:pic>
        <p:nvPicPr>
          <p:cNvPr id="4" name="Picture 2"/>
          <p:cNvPicPr>
            <a:picLocks noChangeAspect="1" noChangeArrowheads="1"/>
          </p:cNvPicPr>
          <p:nvPr userDrawn="1"/>
        </p:nvPicPr>
        <p:blipFill>
          <a:blip r:embed="rId2" cstate="screen">
            <a:extLst>
              <a:ext uri="{28A0092B-C50C-407E-A947-70E740481C1C}">
                <a14:useLocalDpi xmlns:a14="http://schemas.microsoft.com/office/drawing/2010/main"/>
              </a:ext>
            </a:extLst>
          </a:blip>
          <a:stretch>
            <a:fillRect/>
          </a:stretch>
        </p:blipFill>
        <p:spPr bwMode="auto">
          <a:xfrm>
            <a:off x="196095" y="4649491"/>
            <a:ext cx="519031" cy="34511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76793417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887700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131817" y="1503771"/>
            <a:ext cx="2880367" cy="2029138"/>
          </a:xfrm>
          <a:prstGeom prst="rect">
            <a:avLst/>
          </a:prstGeom>
        </p:spPr>
      </p:pic>
    </p:spTree>
    <p:extLst>
      <p:ext uri="{BB962C8B-B14F-4D97-AF65-F5344CB8AC3E}">
        <p14:creationId xmlns:p14="http://schemas.microsoft.com/office/powerpoint/2010/main" val="236928714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solidFill>
                  <a:prstClr val="white">
                    <a:lumMod val="85000"/>
                  </a:prstClr>
                </a:solidFill>
              </a:rPr>
              <a:pPr/>
              <a:t>‹#›</a:t>
            </a:fld>
            <a:endParaRPr lang="en-US">
              <a:solidFill>
                <a:prstClr val="white">
                  <a:lumMod val="85000"/>
                </a:prstClr>
              </a:solidFill>
            </a:endParaRPr>
          </a:p>
        </p:txBody>
      </p:sp>
      <p:sp>
        <p:nvSpPr>
          <p:cNvPr id="6" name="Title 6"/>
          <p:cNvSpPr>
            <a:spLocks noGrp="1"/>
          </p:cNvSpPr>
          <p:nvPr>
            <p:ph type="title" hasCustomPrompt="1"/>
          </p:nvPr>
        </p:nvSpPr>
        <p:spPr>
          <a:xfrm>
            <a:off x="455613" y="308848"/>
            <a:ext cx="8229600" cy="868680"/>
          </a:xfrm>
        </p:spPr>
        <p:txBody>
          <a:bodyPr/>
          <a:lstStyle>
            <a:lvl1pPr>
              <a:defRPr b="0" i="0" baseline="0">
                <a:solidFill>
                  <a:schemeClr val="tx2"/>
                </a:solidFill>
                <a:latin typeface="+mj-lt"/>
                <a:cs typeface="Arial" panose="020B0604020202020204" pitchFamily="34" charset="0"/>
              </a:defRPr>
            </a:lvl1pPr>
          </a:lstStyle>
          <a:p>
            <a:r>
              <a:rPr lang="en-US" dirty="0"/>
              <a:t>28pt Intel Clear Headline</a:t>
            </a:r>
          </a:p>
        </p:txBody>
      </p:sp>
    </p:spTree>
    <p:extLst>
      <p:ext uri="{BB962C8B-B14F-4D97-AF65-F5344CB8AC3E}">
        <p14:creationId xmlns:p14="http://schemas.microsoft.com/office/powerpoint/2010/main" val="361272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24200" y="4824387"/>
            <a:ext cx="2895600" cy="273844"/>
          </a:xfrm>
          <a:prstGeom prst="rect">
            <a:avLst/>
          </a:prstGeom>
        </p:spPr>
        <p:txBody>
          <a:bodyPr/>
          <a:lstStyle/>
          <a:p>
            <a:r>
              <a:rPr lang="en-US"/>
              <a:t>Intel Confidential- Do Not Forward                              Attorney/Client Privileged</a:t>
            </a:r>
          </a:p>
        </p:txBody>
      </p:sp>
      <p:sp>
        <p:nvSpPr>
          <p:cNvPr id="6" name="Slide Number Placeholder 5"/>
          <p:cNvSpPr>
            <a:spLocks noGrp="1"/>
          </p:cNvSpPr>
          <p:nvPr>
            <p:ph type="sldNum" sz="quarter" idx="12"/>
          </p:nvPr>
        </p:nvSpPr>
        <p:spPr/>
        <p:txBody>
          <a:bodyPr/>
          <a:lstStyle/>
          <a:p>
            <a:fld id="{F808E13E-D8D1-4B1B-864A-F1B0C8D1CB51}" type="slidenum">
              <a:rPr lang="en-US" smtClean="0"/>
              <a:t>‹#›</a:t>
            </a:fld>
            <a:endParaRPr lang="en-US"/>
          </a:p>
        </p:txBody>
      </p:sp>
      <p:sp>
        <p:nvSpPr>
          <p:cNvPr id="9" name="Content Placeholder 8"/>
          <p:cNvSpPr>
            <a:spLocks noGrp="1"/>
          </p:cNvSpPr>
          <p:nvPr>
            <p:ph sz="quarter" idx="13" hasCustomPrompt="1"/>
          </p:nvPr>
        </p:nvSpPr>
        <p:spPr>
          <a:xfrm>
            <a:off x="455614" y="1203326"/>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528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10" Type="http://schemas.openxmlformats.org/officeDocument/2006/relationships/image" Target="../media/image6.jpeg"/><Relationship Id="rId4" Type="http://schemas.openxmlformats.org/officeDocument/2006/relationships/slideLayout" Target="../slideLayouts/slideLayout23.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2" name="Straight Connector 11"/>
          <p:cNvCxnSpPr/>
          <p:nvPr/>
        </p:nvCxnSpPr>
        <p:spPr>
          <a:xfrm>
            <a:off x="8718551" y="4824510"/>
            <a:ext cx="2381" cy="237744"/>
          </a:xfrm>
          <a:prstGeom prst="line">
            <a:avLst/>
          </a:prstGeom>
          <a:ln w="9525">
            <a:solidFill>
              <a:schemeClr val="tx2">
                <a:alpha val="50000"/>
              </a:schemeClr>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6" name="Slide Number Placeholder 5"/>
          <p:cNvSpPr>
            <a:spLocks noGrp="1"/>
          </p:cNvSpPr>
          <p:nvPr>
            <p:ph type="sldNum" sz="quarter" idx="4"/>
          </p:nvPr>
        </p:nvSpPr>
        <p:spPr>
          <a:xfrm>
            <a:off x="6872352" y="4824387"/>
            <a:ext cx="2133600" cy="273844"/>
          </a:xfrm>
          <a:prstGeom prst="rect">
            <a:avLst/>
          </a:prstGeom>
        </p:spPr>
        <p:txBody>
          <a:bodyPr vert="horz" lIns="0" tIns="0" rIns="0" bIns="0" rtlCol="0" anchor="ctr"/>
          <a:lstStyle>
            <a:lvl1pPr algn="r">
              <a:defRPr sz="800">
                <a:solidFill>
                  <a:schemeClr val="tx2"/>
                </a:solidFill>
                <a:latin typeface="+mn-lt"/>
                <a:cs typeface="Arial" panose="020B0604020202020204" pitchFamily="34" charset="0"/>
              </a:defRPr>
            </a:lvl1pPr>
          </a:lstStyle>
          <a:p>
            <a:fld id="{EE2556C5-CE8C-6547-B838-EA80C61A4AF7}" type="slidenum">
              <a:rPr lang="en-US" smtClean="0"/>
              <a:pPr/>
              <a:t>‹#›</a:t>
            </a:fld>
            <a:endParaRPr lang="en-US" dirty="0"/>
          </a:p>
        </p:txBody>
      </p:sp>
      <p:sp>
        <p:nvSpPr>
          <p:cNvPr id="8" name="TextBox 7"/>
          <p:cNvSpPr txBox="1"/>
          <p:nvPr userDrawn="1"/>
        </p:nvSpPr>
        <p:spPr>
          <a:xfrm>
            <a:off x="133735" y="4845378"/>
            <a:ext cx="1094852" cy="169277"/>
          </a:xfrm>
          <a:prstGeom prst="rect">
            <a:avLst/>
          </a:prstGeom>
          <a:noFill/>
        </p:spPr>
        <p:txBody>
          <a:bodyPr vert="horz" wrap="none" lIns="0" tIns="0" rIns="0" bIns="0" rtlCol="0">
            <a:spAutoFit/>
          </a:bodyPr>
          <a:lstStyle/>
          <a:p>
            <a:r>
              <a:rPr lang="en-US" sz="1100" i="1" dirty="0">
                <a:solidFill>
                  <a:schemeClr val="tx2"/>
                </a:solidFill>
              </a:rPr>
              <a:t>Intel Confidential</a:t>
            </a:r>
          </a:p>
        </p:txBody>
      </p:sp>
      <p:pic>
        <p:nvPicPr>
          <p:cNvPr id="9" name="Picture 4" descr="Image result for intel logo"/>
          <p:cNvPicPr>
            <a:picLocks noChangeAspect="1" noChangeArrowheads="1"/>
          </p:cNvPicPr>
          <p:nvPr userDrawn="1"/>
        </p:nvPicPr>
        <p:blipFill>
          <a:blip r:embed="rId21" cstate="print">
            <a:extLst>
              <a:ext uri="{28A0092B-C50C-407E-A947-70E740481C1C}">
                <a14:useLocalDpi xmlns:a14="http://schemas.microsoft.com/office/drawing/2010/main"/>
              </a:ext>
            </a:extLst>
          </a:blip>
          <a:srcRect/>
          <a:stretch>
            <a:fillRect/>
          </a:stretch>
        </p:blipFill>
        <p:spPr bwMode="auto">
          <a:xfrm>
            <a:off x="8226107" y="4822981"/>
            <a:ext cx="414847" cy="275250"/>
          </a:xfrm>
          <a:prstGeom prst="rect">
            <a:avLst/>
          </a:prstGeom>
          <a:solidFill>
            <a:schemeClr val="bg1"/>
          </a:solidFill>
          <a:effectLst/>
        </p:spPr>
      </p:pic>
    </p:spTree>
    <p:extLst>
      <p:ext uri="{BB962C8B-B14F-4D97-AF65-F5344CB8AC3E}">
        <p14:creationId xmlns:p14="http://schemas.microsoft.com/office/powerpoint/2010/main" val="235559099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787"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457200" rtl="0" eaLnBrk="1" latinLnBrk="0" hangingPunct="1">
        <a:lnSpc>
          <a:spcPct val="100000"/>
        </a:lnSpc>
        <a:spcBef>
          <a:spcPct val="0"/>
        </a:spcBef>
        <a:buNone/>
        <a:defRPr sz="2800" b="0" i="0" kern="1200" spc="0" baseline="0">
          <a:solidFill>
            <a:schemeClr val="tx2"/>
          </a:solidFill>
          <a:latin typeface="+mj-lt"/>
          <a:ea typeface="Intel Clear"/>
          <a:cs typeface="Arial" panose="020B0604020202020204" pitchFamily="34" charset="0"/>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Arial" panose="020B0604020202020204" pitchFamily="34" charset="0"/>
        </a:defRPr>
      </a:lvl1pPr>
      <a:lvl2pPr marL="225425" indent="-225425" algn="l" defTabSz="457200" rtl="0" eaLnBrk="1" latinLnBrk="0" hangingPunct="1">
        <a:spcBef>
          <a:spcPts val="1200"/>
        </a:spcBef>
        <a:buFont typeface="Wingdings" charset="2"/>
        <a:buChar char="§"/>
        <a:defRPr sz="1600" kern="1200" baseline="0">
          <a:solidFill>
            <a:schemeClr val="tx2"/>
          </a:solidFill>
          <a:latin typeface="+mn-lt"/>
          <a:ea typeface="+mn-ea"/>
          <a:cs typeface="Arial" panose="020B0604020202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chemeClr val="tx2"/>
          </a:solidFill>
          <a:latin typeface="+mn-lt"/>
          <a:ea typeface="+mn-ea"/>
          <a:cs typeface="Arial" panose="020B0604020202020204" pitchFamily="34" charset="0"/>
        </a:defRPr>
      </a:lvl3pPr>
      <a:lvl4pPr marL="969963" indent="-228600" algn="l" defTabSz="457200" rtl="0" eaLnBrk="1" latinLnBrk="0" hangingPunct="1">
        <a:spcBef>
          <a:spcPct val="20000"/>
        </a:spcBef>
        <a:buFont typeface="Arial"/>
        <a:buChar char="–"/>
        <a:defRPr sz="1400" kern="1200">
          <a:solidFill>
            <a:schemeClr val="tx2"/>
          </a:solidFill>
          <a:latin typeface="+mn-lt"/>
          <a:ea typeface="+mn-ea"/>
          <a:cs typeface="Arial" panose="020B0604020202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113" name="Rectangle 17"/>
          <p:cNvSpPr>
            <a:spLocks noChangeArrowheads="1"/>
          </p:cNvSpPr>
          <p:nvPr/>
        </p:nvSpPr>
        <p:spPr bwMode="auto">
          <a:xfrm>
            <a:off x="365126" y="285752"/>
            <a:ext cx="8410576" cy="992981"/>
          </a:xfrm>
          <a:prstGeom prst="rect">
            <a:avLst/>
          </a:prstGeom>
          <a:noFill/>
          <a:ln w="9525">
            <a:noFill/>
            <a:miter lim="800000"/>
            <a:headEnd/>
            <a:tailEnd/>
          </a:ln>
          <a:effectLst/>
        </p:spPr>
        <p:txBody>
          <a:bodyPr lIns="50426" tIns="25214" rIns="50426" bIns="25214" anchor="ctr" anchorCtr="1"/>
          <a:lstStyle/>
          <a:p>
            <a:pPr defTabSz="501206">
              <a:lnSpc>
                <a:spcPct val="90000"/>
              </a:lnSpc>
              <a:spcBef>
                <a:spcPct val="0"/>
              </a:spcBef>
            </a:pPr>
            <a:endParaRPr lang="en-US" sz="1750" dirty="0">
              <a:solidFill>
                <a:prstClr val="white"/>
              </a:solidFill>
              <a:effectLst>
                <a:outerShdw blurRad="38100" dist="38100" dir="2700000" algn="tl">
                  <a:srgbClr val="000000"/>
                </a:outerShdw>
              </a:effectLst>
              <a:latin typeface="Neo Sans Intel Medium" pitchFamily="34" charset="0"/>
            </a:endParaRPr>
          </a:p>
        </p:txBody>
      </p:sp>
      <p:sp>
        <p:nvSpPr>
          <p:cNvPr id="4114" name="Rectangle 18"/>
          <p:cNvSpPr>
            <a:spLocks noChangeArrowheads="1"/>
          </p:cNvSpPr>
          <p:nvPr/>
        </p:nvSpPr>
        <p:spPr bwMode="auto">
          <a:xfrm>
            <a:off x="366713" y="1345410"/>
            <a:ext cx="8407400" cy="3126581"/>
          </a:xfrm>
          <a:prstGeom prst="rect">
            <a:avLst/>
          </a:prstGeom>
          <a:noFill/>
          <a:ln w="9525">
            <a:noFill/>
            <a:miter lim="800000"/>
            <a:headEnd/>
            <a:tailEnd/>
          </a:ln>
          <a:effectLst/>
        </p:spPr>
        <p:txBody>
          <a:bodyPr lIns="50078" tIns="25040" rIns="50078" bIns="25040" anchorCtr="1"/>
          <a:lstStyle/>
          <a:p>
            <a:pPr marL="123549" indent="-123549" defTabSz="501206">
              <a:buFont typeface="Wingdings" pitchFamily="2" charset="2"/>
              <a:buChar char=""/>
            </a:pPr>
            <a:endParaRPr lang="en-US" sz="1313" dirty="0">
              <a:solidFill>
                <a:prstClr val="white"/>
              </a:solidFill>
              <a:effectLst>
                <a:outerShdw blurRad="38100" dist="38100" dir="2700000" algn="tl">
                  <a:srgbClr val="000000"/>
                </a:outerShdw>
              </a:effectLst>
              <a:latin typeface="Neo Sans Intel" pitchFamily="34" charset="0"/>
            </a:endParaRPr>
          </a:p>
        </p:txBody>
      </p:sp>
      <p:sp>
        <p:nvSpPr>
          <p:cNvPr id="4115" name="Rectangle 19"/>
          <p:cNvSpPr>
            <a:spLocks noGrp="1" noChangeArrowheads="1"/>
          </p:cNvSpPr>
          <p:nvPr>
            <p:ph type="title"/>
          </p:nvPr>
        </p:nvSpPr>
        <p:spPr bwMode="auto">
          <a:xfrm>
            <a:off x="457200" y="165781"/>
            <a:ext cx="8229600" cy="857250"/>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p>
            <a:pPr lvl="0"/>
            <a:r>
              <a:rPr lang="en-US" dirty="0"/>
              <a:t>Click to edit Master title style</a:t>
            </a:r>
          </a:p>
        </p:txBody>
      </p:sp>
      <p:sp>
        <p:nvSpPr>
          <p:cNvPr id="4116" name="Rectangle 20"/>
          <p:cNvSpPr>
            <a:spLocks noGrp="1" noChangeArrowheads="1"/>
          </p:cNvSpPr>
          <p:nvPr>
            <p:ph type="body" idx="1"/>
          </p:nvPr>
        </p:nvSpPr>
        <p:spPr bwMode="auto">
          <a:xfrm>
            <a:off x="457200" y="1211463"/>
            <a:ext cx="8229600" cy="3394473"/>
          </a:xfrm>
          <a:prstGeom prst="rect">
            <a:avLst/>
          </a:prstGeom>
          <a:noFill/>
          <a:ln w="9525">
            <a:noFill/>
            <a:miter lim="800000"/>
            <a:headEnd/>
            <a:tailEnd/>
          </a:ln>
          <a:effectLst/>
        </p:spPr>
        <p:txBody>
          <a:bodyPr vert="horz" wrap="square" lIns="80185" tIns="40092" rIns="80185" bIns="40092" numCol="1" anchor="t" anchorCtr="1" compatLnSpc="1">
            <a:prstTxWarp prst="textNoShape">
              <a:avLst/>
            </a:prstTxWarp>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5"/>
          <p:cNvSpPr>
            <a:spLocks noGrp="1"/>
          </p:cNvSpPr>
          <p:nvPr>
            <p:ph type="sldNum" sz="quarter" idx="4"/>
          </p:nvPr>
        </p:nvSpPr>
        <p:spPr>
          <a:xfrm>
            <a:off x="5273040" y="4632725"/>
            <a:ext cx="3413760" cy="438150"/>
          </a:xfrm>
          <a:prstGeom prst="rect">
            <a:avLst/>
          </a:prstGeom>
        </p:spPr>
        <p:txBody>
          <a:bodyPr anchor="ctr"/>
          <a:lstStyle>
            <a:lvl1pPr algn="r">
              <a:defRPr>
                <a:solidFill>
                  <a:schemeClr val="tx1">
                    <a:lumMod val="85000"/>
                  </a:schemeClr>
                </a:solidFill>
              </a:defRPr>
            </a:lvl1pPr>
          </a:lstStyle>
          <a:p>
            <a:pPr defTabSz="801929"/>
            <a:fld id="{7957AEE3-981B-FB40-ACA5-A2DED1DE527A}" type="slidenum">
              <a:rPr lang="en-US" sz="1000" smtClean="0">
                <a:solidFill>
                  <a:prstClr val="white">
                    <a:lumMod val="85000"/>
                  </a:prstClr>
                </a:solidFill>
              </a:rPr>
              <a:pPr defTabSz="801929"/>
              <a:t>‹#›</a:t>
            </a:fld>
            <a:endParaRPr lang="en-US" sz="1000" dirty="0">
              <a:solidFill>
                <a:prstClr val="white">
                  <a:lumMod val="85000"/>
                </a:prstClr>
              </a:solidFill>
            </a:endParaRPr>
          </a:p>
        </p:txBody>
      </p:sp>
    </p:spTree>
    <p:extLst>
      <p:ext uri="{BB962C8B-B14F-4D97-AF65-F5344CB8AC3E}">
        <p14:creationId xmlns:p14="http://schemas.microsoft.com/office/powerpoint/2010/main" val="2671110318"/>
      </p:ext>
    </p:extLst>
  </p:cSld>
  <p:clrMap bg1="dk2" tx1="lt1" bg2="dk1" tx2="lt2" accent1="accent1" accent2="accent2" accent3="accent3" accent4="accent4" accent5="accent5" accent6="accent6" hlink="hlink" folHlink="folHlink"/>
  <p:sldLayoutIdLst>
    <p:sldLayoutId id="2147483703" r:id="rId1"/>
    <p:sldLayoutId id="2147483704" r:id="rId2"/>
    <p:sldLayoutId id="2147483705" r:id="rId3"/>
    <p:sldLayoutId id="2147483742" r:id="rId4"/>
    <p:sldLayoutId id="2147483706" r:id="rId5"/>
    <p:sldLayoutId id="2147483707" r:id="rId6"/>
    <p:sldLayoutId id="2147483709" r:id="rId7"/>
    <p:sldLayoutId id="2147483786" r:id="rId8"/>
  </p:sldLayoutIdLst>
  <p:transition>
    <p:fade/>
  </p:transition>
  <p:hf hdr="0" dt="0"/>
  <p:txStyles>
    <p:titleStyle>
      <a:lvl1pPr algn="ctr" rtl="0" eaLnBrk="1" fontAlgn="base" hangingPunct="1">
        <a:lnSpc>
          <a:spcPct val="90000"/>
        </a:lnSpc>
        <a:spcBef>
          <a:spcPct val="0"/>
        </a:spcBef>
        <a:spcAft>
          <a:spcPct val="0"/>
        </a:spcAft>
        <a:defRPr sz="4800">
          <a:solidFill>
            <a:schemeClr val="tx1"/>
          </a:solidFill>
          <a:effectLst/>
          <a:latin typeface="+mj-lt"/>
          <a:ea typeface="+mj-ea"/>
          <a:cs typeface="+mj-cs"/>
        </a:defRPr>
      </a:lvl1pPr>
      <a:lvl2pPr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2pPr>
      <a:lvl3pPr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3pPr>
      <a:lvl4pPr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4pPr>
      <a:lvl5pPr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5pPr>
      <a:lvl6pPr marL="250578"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6pPr>
      <a:lvl7pPr marL="501155"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7pPr>
      <a:lvl8pPr marL="751733"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8pPr>
      <a:lvl9pPr marL="1002311" algn="ctr" rtl="0" eaLnBrk="1" fontAlgn="base" hangingPunct="1">
        <a:lnSpc>
          <a:spcPct val="90000"/>
        </a:lnSpc>
        <a:spcBef>
          <a:spcPct val="0"/>
        </a:spcBef>
        <a:spcAft>
          <a:spcPct val="0"/>
        </a:spcAft>
        <a:defRPr sz="1750">
          <a:solidFill>
            <a:schemeClr val="tx1"/>
          </a:solidFill>
          <a:effectLst>
            <a:outerShdw blurRad="38100" dist="38100" dir="2700000" algn="tl">
              <a:srgbClr val="000000"/>
            </a:outerShdw>
          </a:effectLst>
          <a:latin typeface="Neo Sans Intel Medium" pitchFamily="34" charset="0"/>
          <a:cs typeface="Arial" charset="0"/>
        </a:defRPr>
      </a:lvl9pPr>
    </p:titleStyle>
    <p:bodyStyle>
      <a:lvl1pPr marL="123549" indent="-123549" algn="l" rtl="0" eaLnBrk="1" fontAlgn="base" hangingPunct="1">
        <a:lnSpc>
          <a:spcPct val="95000"/>
        </a:lnSpc>
        <a:spcBef>
          <a:spcPct val="30000"/>
        </a:spcBef>
        <a:spcAft>
          <a:spcPct val="0"/>
        </a:spcAft>
        <a:buClr>
          <a:schemeClr val="tx1"/>
        </a:buClr>
        <a:buFont typeface="Arial" pitchFamily="34" charset="0"/>
        <a:buChar char="•"/>
        <a:defRPr sz="2000">
          <a:solidFill>
            <a:schemeClr val="tx1"/>
          </a:solidFill>
          <a:effectLst/>
          <a:latin typeface="+mn-lt"/>
          <a:ea typeface="+mn-ea"/>
          <a:cs typeface="+mn-cs"/>
        </a:defRPr>
      </a:lvl1pPr>
      <a:lvl2pPr marL="312353" indent="-123549" algn="l" rtl="0" eaLnBrk="1" fontAlgn="base" hangingPunct="1">
        <a:lnSpc>
          <a:spcPct val="95000"/>
        </a:lnSpc>
        <a:spcBef>
          <a:spcPct val="30000"/>
        </a:spcBef>
        <a:spcAft>
          <a:spcPct val="0"/>
        </a:spcAft>
        <a:buClr>
          <a:schemeClr val="tx1"/>
        </a:buClr>
        <a:buChar char="–"/>
        <a:defRPr sz="1750">
          <a:solidFill>
            <a:schemeClr val="tx1"/>
          </a:solidFill>
          <a:effectLst/>
          <a:latin typeface="+mn-lt"/>
          <a:cs typeface="+mn-cs"/>
        </a:defRPr>
      </a:lvl2pPr>
      <a:lvl3pPr marL="501155" indent="-123549" algn="l" rtl="0" eaLnBrk="1" fontAlgn="base" hangingPunct="1">
        <a:lnSpc>
          <a:spcPct val="95000"/>
        </a:lnSpc>
        <a:spcBef>
          <a:spcPct val="30000"/>
        </a:spcBef>
        <a:spcAft>
          <a:spcPct val="0"/>
        </a:spcAft>
        <a:buClr>
          <a:schemeClr val="tx1"/>
        </a:buClr>
        <a:buChar char="–"/>
        <a:defRPr sz="1500">
          <a:solidFill>
            <a:schemeClr val="tx1"/>
          </a:solidFill>
          <a:effectLst/>
          <a:latin typeface="+mn-lt"/>
          <a:cs typeface="+mn-cs"/>
        </a:defRPr>
      </a:lvl3pPr>
      <a:lvl4pPr marL="757824" indent="-131380" algn="l" rtl="0" eaLnBrk="1" fontAlgn="base" hangingPunct="1">
        <a:spcBef>
          <a:spcPct val="20000"/>
        </a:spcBef>
        <a:spcAft>
          <a:spcPct val="0"/>
        </a:spcAft>
        <a:buChar char="–"/>
        <a:defRPr sz="1063">
          <a:solidFill>
            <a:schemeClr val="tx1"/>
          </a:solidFill>
          <a:effectLst>
            <a:outerShdw blurRad="38100" dist="38100" dir="2700000" algn="tl">
              <a:srgbClr val="000000"/>
            </a:outerShdw>
          </a:effectLst>
          <a:latin typeface="Arial" charset="0"/>
          <a:cs typeface="+mn-cs"/>
        </a:defRPr>
      </a:lvl4pPr>
      <a:lvl5pPr marL="946627" indent="-126160" algn="l" rtl="0" eaLnBrk="1" fontAlgn="base" hangingPunct="1">
        <a:spcBef>
          <a:spcPct val="20000"/>
        </a:spcBef>
        <a:spcAft>
          <a:spcPct val="0"/>
        </a:spcAft>
        <a:buChar char="•"/>
        <a:defRPr sz="1063">
          <a:solidFill>
            <a:schemeClr val="tx1"/>
          </a:solidFill>
          <a:effectLst>
            <a:outerShdw blurRad="38100" dist="38100" dir="2700000" algn="tl">
              <a:srgbClr val="000000"/>
            </a:outerShdw>
          </a:effectLst>
          <a:latin typeface="Arial" charset="0"/>
          <a:cs typeface="+mn-cs"/>
        </a:defRPr>
      </a:lvl5pPr>
      <a:lvl6pPr marL="1197205" indent="-126160" algn="l" rtl="0" eaLnBrk="1" fontAlgn="base" hangingPunct="1">
        <a:spcBef>
          <a:spcPct val="20000"/>
        </a:spcBef>
        <a:spcAft>
          <a:spcPct val="0"/>
        </a:spcAft>
        <a:buChar char="•"/>
        <a:defRPr sz="1063">
          <a:solidFill>
            <a:schemeClr val="tx1"/>
          </a:solidFill>
          <a:effectLst>
            <a:outerShdw blurRad="38100" dist="38100" dir="2700000" algn="tl">
              <a:srgbClr val="000000"/>
            </a:outerShdw>
          </a:effectLst>
          <a:latin typeface="Arial" charset="0"/>
          <a:cs typeface="+mn-cs"/>
        </a:defRPr>
      </a:lvl6pPr>
      <a:lvl7pPr marL="1447783" indent="-126160" algn="l" rtl="0" eaLnBrk="1" fontAlgn="base" hangingPunct="1">
        <a:spcBef>
          <a:spcPct val="20000"/>
        </a:spcBef>
        <a:spcAft>
          <a:spcPct val="0"/>
        </a:spcAft>
        <a:buChar char="•"/>
        <a:defRPr sz="1063">
          <a:solidFill>
            <a:schemeClr val="tx1"/>
          </a:solidFill>
          <a:effectLst>
            <a:outerShdw blurRad="38100" dist="38100" dir="2700000" algn="tl">
              <a:srgbClr val="000000"/>
            </a:outerShdw>
          </a:effectLst>
          <a:latin typeface="Arial" charset="0"/>
          <a:cs typeface="+mn-cs"/>
        </a:defRPr>
      </a:lvl7pPr>
      <a:lvl8pPr marL="1698360" indent="-126160" algn="l" rtl="0" eaLnBrk="1" fontAlgn="base" hangingPunct="1">
        <a:spcBef>
          <a:spcPct val="20000"/>
        </a:spcBef>
        <a:spcAft>
          <a:spcPct val="0"/>
        </a:spcAft>
        <a:buChar char="•"/>
        <a:defRPr sz="1063">
          <a:solidFill>
            <a:schemeClr val="tx1"/>
          </a:solidFill>
          <a:effectLst>
            <a:outerShdw blurRad="38100" dist="38100" dir="2700000" algn="tl">
              <a:srgbClr val="000000"/>
            </a:outerShdw>
          </a:effectLst>
          <a:latin typeface="Arial" charset="0"/>
          <a:cs typeface="+mn-cs"/>
        </a:defRPr>
      </a:lvl8pPr>
      <a:lvl9pPr marL="1948937" indent="-126160" algn="l" rtl="0" eaLnBrk="1" fontAlgn="base" hangingPunct="1">
        <a:spcBef>
          <a:spcPct val="20000"/>
        </a:spcBef>
        <a:spcAft>
          <a:spcPct val="0"/>
        </a:spcAft>
        <a:buChar char="•"/>
        <a:defRPr sz="1063">
          <a:solidFill>
            <a:schemeClr val="tx1"/>
          </a:solidFill>
          <a:effectLst>
            <a:outerShdw blurRad="38100" dist="38100" dir="2700000" algn="tl">
              <a:srgbClr val="000000"/>
            </a:outerShdw>
          </a:effectLst>
          <a:latin typeface="Arial" charset="0"/>
          <a:cs typeface="+mn-cs"/>
        </a:defRPr>
      </a:lvl9pPr>
    </p:bodyStyle>
    <p:otherStyle>
      <a:defPPr>
        <a:defRPr lang="en-US"/>
      </a:defPPr>
      <a:lvl1pPr marL="0" algn="l" defTabSz="501155" rtl="0" eaLnBrk="1" latinLnBrk="0" hangingPunct="1">
        <a:defRPr sz="1000" kern="1200">
          <a:solidFill>
            <a:schemeClr val="tx1"/>
          </a:solidFill>
          <a:latin typeface="+mn-lt"/>
          <a:ea typeface="+mn-ea"/>
          <a:cs typeface="+mn-cs"/>
        </a:defRPr>
      </a:lvl1pPr>
      <a:lvl2pPr marL="250578" algn="l" defTabSz="501155" rtl="0" eaLnBrk="1" latinLnBrk="0" hangingPunct="1">
        <a:defRPr sz="1000" kern="1200">
          <a:solidFill>
            <a:schemeClr val="tx1"/>
          </a:solidFill>
          <a:latin typeface="+mn-lt"/>
          <a:ea typeface="+mn-ea"/>
          <a:cs typeface="+mn-cs"/>
        </a:defRPr>
      </a:lvl2pPr>
      <a:lvl3pPr marL="501155" algn="l" defTabSz="501155" rtl="0" eaLnBrk="1" latinLnBrk="0" hangingPunct="1">
        <a:defRPr sz="1000" kern="1200">
          <a:solidFill>
            <a:schemeClr val="tx1"/>
          </a:solidFill>
          <a:latin typeface="+mn-lt"/>
          <a:ea typeface="+mn-ea"/>
          <a:cs typeface="+mn-cs"/>
        </a:defRPr>
      </a:lvl3pPr>
      <a:lvl4pPr marL="751733" algn="l" defTabSz="501155" rtl="0" eaLnBrk="1" latinLnBrk="0" hangingPunct="1">
        <a:defRPr sz="1000" kern="1200">
          <a:solidFill>
            <a:schemeClr val="tx1"/>
          </a:solidFill>
          <a:latin typeface="+mn-lt"/>
          <a:ea typeface="+mn-ea"/>
          <a:cs typeface="+mn-cs"/>
        </a:defRPr>
      </a:lvl4pPr>
      <a:lvl5pPr marL="1002311" algn="l" defTabSz="501155" rtl="0" eaLnBrk="1" latinLnBrk="0" hangingPunct="1">
        <a:defRPr sz="1000" kern="1200">
          <a:solidFill>
            <a:schemeClr val="tx1"/>
          </a:solidFill>
          <a:latin typeface="+mn-lt"/>
          <a:ea typeface="+mn-ea"/>
          <a:cs typeface="+mn-cs"/>
        </a:defRPr>
      </a:lvl5pPr>
      <a:lvl6pPr marL="1252889" algn="l" defTabSz="501155" rtl="0" eaLnBrk="1" latinLnBrk="0" hangingPunct="1">
        <a:defRPr sz="1000" kern="1200">
          <a:solidFill>
            <a:schemeClr val="tx1"/>
          </a:solidFill>
          <a:latin typeface="+mn-lt"/>
          <a:ea typeface="+mn-ea"/>
          <a:cs typeface="+mn-cs"/>
        </a:defRPr>
      </a:lvl6pPr>
      <a:lvl7pPr marL="1503466" algn="l" defTabSz="501155" rtl="0" eaLnBrk="1" latinLnBrk="0" hangingPunct="1">
        <a:defRPr sz="1000" kern="1200">
          <a:solidFill>
            <a:schemeClr val="tx1"/>
          </a:solidFill>
          <a:latin typeface="+mn-lt"/>
          <a:ea typeface="+mn-ea"/>
          <a:cs typeface="+mn-cs"/>
        </a:defRPr>
      </a:lvl7pPr>
      <a:lvl8pPr marL="1754044" algn="l" defTabSz="501155" rtl="0" eaLnBrk="1" latinLnBrk="0" hangingPunct="1">
        <a:defRPr sz="1000" kern="1200">
          <a:solidFill>
            <a:schemeClr val="tx1"/>
          </a:solidFill>
          <a:latin typeface="+mn-lt"/>
          <a:ea typeface="+mn-ea"/>
          <a:cs typeface="+mn-cs"/>
        </a:defRPr>
      </a:lvl8pPr>
      <a:lvl9pPr marL="2004621" algn="l" defTabSz="501155"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7626" y="1739883"/>
            <a:ext cx="7405220" cy="1772419"/>
          </a:xfrm>
          <a:effectLst>
            <a:outerShdw blurRad="50800" dist="38100" dir="2700000" algn="tl" rotWithShape="0">
              <a:prstClr val="black">
                <a:alpha val="40000"/>
              </a:prstClr>
            </a:outerShdw>
          </a:effectLst>
        </p:spPr>
        <p:txBody>
          <a:bodyPr anchor="ctr"/>
          <a:lstStyle/>
          <a:p>
            <a:pPr algn="l">
              <a:lnSpc>
                <a:spcPct val="100000"/>
              </a:lnSpc>
              <a:spcBef>
                <a:spcPts val="600"/>
              </a:spcBef>
            </a:pPr>
            <a:r>
              <a:rPr lang="en-US" sz="5400" b="1" dirty="0"/>
              <a:t>CAST Tutorial</a:t>
            </a:r>
            <a:br>
              <a:rPr lang="en-US" sz="5400" b="1" dirty="0"/>
            </a:br>
            <a:endParaRPr lang="en-US" sz="2000" i="1" dirty="0">
              <a:solidFill>
                <a:schemeClr val="accent3"/>
              </a:solidFill>
              <a:latin typeface="Intel Clear Light" panose="020B0404020203020204" pitchFamily="34" charset="0"/>
              <a:ea typeface="Intel Clear Light" panose="020B0404020203020204" pitchFamily="34" charset="0"/>
              <a:cs typeface="Intel Clear Light" panose="020B0404020203020204" pitchFamily="34" charset="0"/>
            </a:endParaRPr>
          </a:p>
        </p:txBody>
      </p:sp>
      <p:sp>
        <p:nvSpPr>
          <p:cNvPr id="3" name="TextBox 2"/>
          <p:cNvSpPr txBox="1"/>
          <p:nvPr/>
        </p:nvSpPr>
        <p:spPr>
          <a:xfrm>
            <a:off x="667626" y="3608989"/>
            <a:ext cx="5603778" cy="757130"/>
          </a:xfrm>
          <a:prstGeom prst="rect">
            <a:avLst/>
          </a:prstGeom>
          <a:noFill/>
        </p:spPr>
        <p:txBody>
          <a:bodyPr wrap="square" rtlCol="0">
            <a:spAutoFit/>
          </a:bodyPr>
          <a:lstStyle/>
          <a:p>
            <a:pPr defTabSz="501206">
              <a:lnSpc>
                <a:spcPct val="90000"/>
              </a:lnSpc>
            </a:pPr>
            <a:r>
              <a:rPr lang="en-US" sz="1600" dirty="0">
                <a:solidFill>
                  <a:srgbClr val="F3D54E"/>
                </a:solidFill>
              </a:rPr>
              <a:t>7/8/2024</a:t>
            </a:r>
          </a:p>
          <a:p>
            <a:pPr defTabSz="501206">
              <a:lnSpc>
                <a:spcPct val="90000"/>
              </a:lnSpc>
            </a:pPr>
            <a:r>
              <a:rPr lang="en-US" sz="1600" dirty="0">
                <a:solidFill>
                  <a:srgbClr val="F3D54E"/>
                </a:solidFill>
              </a:rPr>
              <a:t>Neuromorphic Computing Lab | Intel Labs</a:t>
            </a:r>
          </a:p>
          <a:p>
            <a:pPr defTabSz="501206">
              <a:lnSpc>
                <a:spcPct val="90000"/>
              </a:lnSpc>
            </a:pPr>
            <a:endParaRPr lang="en-US" sz="1600" dirty="0">
              <a:solidFill>
                <a:srgbClr val="F3D54E"/>
              </a:solidFill>
            </a:endParaRPr>
          </a:p>
        </p:txBody>
      </p:sp>
    </p:spTree>
    <p:extLst>
      <p:ext uri="{BB962C8B-B14F-4D97-AF65-F5344CB8AC3E}">
        <p14:creationId xmlns:p14="http://schemas.microsoft.com/office/powerpoint/2010/main" val="306103714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a:t>
            </a:fld>
            <a:endParaRPr lang="en-US" dirty="0"/>
          </a:p>
        </p:txBody>
      </p:sp>
      <p:sp>
        <p:nvSpPr>
          <p:cNvPr id="3" name="Title 2"/>
          <p:cNvSpPr>
            <a:spLocks noGrp="1"/>
          </p:cNvSpPr>
          <p:nvPr>
            <p:ph type="title"/>
          </p:nvPr>
        </p:nvSpPr>
        <p:spPr/>
        <p:txBody>
          <a:bodyPr/>
          <a:lstStyle/>
          <a:p>
            <a:r>
              <a:rPr lang="en-US" u="sng" dirty="0"/>
              <a:t>C</a:t>
            </a:r>
            <a:r>
              <a:rPr lang="en-US" dirty="0"/>
              <a:t>altech </a:t>
            </a:r>
            <a:r>
              <a:rPr lang="en-US" u="sng" dirty="0"/>
              <a:t>A</a:t>
            </a:r>
            <a:r>
              <a:rPr lang="en-US" dirty="0"/>
              <a:t>synchronous </a:t>
            </a:r>
            <a:r>
              <a:rPr lang="en-US" u="sng" dirty="0"/>
              <a:t>S</a:t>
            </a:r>
            <a:r>
              <a:rPr lang="en-US" dirty="0"/>
              <a:t>ynthesis </a:t>
            </a:r>
            <a:r>
              <a:rPr lang="en-US" u="sng" dirty="0"/>
              <a:t>T</a:t>
            </a:r>
            <a:r>
              <a:rPr lang="en-US" dirty="0"/>
              <a:t>ools</a:t>
            </a:r>
          </a:p>
        </p:txBody>
      </p:sp>
      <p:sp>
        <p:nvSpPr>
          <p:cNvPr id="4" name="Content Placeholder 3"/>
          <p:cNvSpPr>
            <a:spLocks noGrp="1"/>
          </p:cNvSpPr>
          <p:nvPr>
            <p:ph sz="quarter" idx="13"/>
          </p:nvPr>
        </p:nvSpPr>
        <p:spPr>
          <a:xfrm>
            <a:off x="455613" y="1203326"/>
            <a:ext cx="8228012" cy="2986290"/>
          </a:xfrm>
        </p:spPr>
        <p:txBody>
          <a:bodyPr/>
          <a:lstStyle/>
          <a:p>
            <a:r>
              <a:rPr lang="en-US" dirty="0"/>
              <a:t>“CAST” Historically refers to an HDL developed at Caltech in the 90’s.</a:t>
            </a:r>
          </a:p>
          <a:p>
            <a:pPr lvl="2">
              <a:buFont typeface="Wingdings" panose="05000000000000000000" pitchFamily="2" charset="2"/>
              <a:buChar char="§"/>
            </a:pPr>
            <a:r>
              <a:rPr lang="en-US" dirty="0"/>
              <a:t>Incorporates many concepts from advanced programming languages</a:t>
            </a:r>
          </a:p>
          <a:p>
            <a:pPr lvl="2">
              <a:buFont typeface="Wingdings" panose="05000000000000000000" pitchFamily="2" charset="2"/>
              <a:buChar char="§"/>
            </a:pPr>
            <a:r>
              <a:rPr lang="en-US" dirty="0"/>
              <a:t>Optimized for asynchronous design, but supports synchronous too</a:t>
            </a:r>
          </a:p>
          <a:p>
            <a:pPr lvl="2">
              <a:buFont typeface="Wingdings" panose="05000000000000000000" pitchFamily="2" charset="2"/>
              <a:buChar char="§"/>
            </a:pPr>
            <a:r>
              <a:rPr lang="en-US" dirty="0"/>
              <a:t>Further developed (</a:t>
            </a:r>
            <a:r>
              <a:rPr lang="en-US" i="1" dirty="0"/>
              <a:t>much</a:t>
            </a:r>
            <a:r>
              <a:rPr lang="en-US" dirty="0"/>
              <a:t> further) by Fulcrum Microsystems 2000-2011.</a:t>
            </a:r>
          </a:p>
          <a:p>
            <a:pPr marL="0" lvl="1" indent="0">
              <a:buNone/>
            </a:pPr>
            <a:r>
              <a:rPr lang="en-US" dirty="0">
                <a:solidFill>
                  <a:srgbClr val="0071C5"/>
                </a:solidFill>
              </a:rPr>
              <a:t>We now refer to CAST as a full design flow spanning HDL to GDS</a:t>
            </a:r>
          </a:p>
          <a:p>
            <a:pPr marL="631825" lvl="2" indent="-285750">
              <a:buFont typeface="Wingdings" panose="05000000000000000000" pitchFamily="2" charset="2"/>
              <a:buChar char="§"/>
            </a:pPr>
            <a:r>
              <a:rPr lang="en-US" dirty="0"/>
              <a:t>Supports fully automated asynchronous bundled data (BD) design</a:t>
            </a:r>
          </a:p>
          <a:p>
            <a:pPr marL="631825" lvl="2" indent="-285750">
              <a:buFont typeface="Wingdings" panose="05000000000000000000" pitchFamily="2" charset="2"/>
              <a:buChar char="§"/>
            </a:pPr>
            <a:r>
              <a:rPr lang="en-US" dirty="0"/>
              <a:t>Supports full custom design of all styles (QDI, BD, synchronous, etc.)</a:t>
            </a:r>
          </a:p>
          <a:p>
            <a:pPr marL="631825" lvl="2" indent="-285750">
              <a:buFont typeface="Wingdings" panose="05000000000000000000" pitchFamily="2" charset="2"/>
              <a:buChar char="§"/>
            </a:pPr>
            <a:r>
              <a:rPr lang="en-US" dirty="0"/>
              <a:t>Ties many different tools (proprietary &amp; commercial) into one framework</a:t>
            </a:r>
          </a:p>
        </p:txBody>
      </p:sp>
      <p:sp>
        <p:nvSpPr>
          <p:cNvPr id="5" name="TextBox 4"/>
          <p:cNvSpPr txBox="1"/>
          <p:nvPr/>
        </p:nvSpPr>
        <p:spPr>
          <a:xfrm>
            <a:off x="455613" y="4328367"/>
            <a:ext cx="8228012" cy="313932"/>
          </a:xfrm>
          <a:prstGeom prst="rect">
            <a:avLst/>
          </a:prstGeom>
          <a:solidFill>
            <a:srgbClr val="FFC000"/>
          </a:solidFill>
        </p:spPr>
        <p:txBody>
          <a:bodyPr vert="horz" wrap="square" lIns="0" tIns="18288" rIns="0" bIns="18288" rtlCol="0">
            <a:spAutoFit/>
          </a:bodyPr>
          <a:lstStyle/>
          <a:p>
            <a:pPr marL="0" lvl="2" algn="ctr"/>
            <a:r>
              <a:rPr lang="en-US" dirty="0">
                <a:solidFill>
                  <a:schemeClr val="tx2"/>
                </a:solidFill>
              </a:rPr>
              <a:t>By far the most advanced asynchronous design flow in the industry</a:t>
            </a:r>
          </a:p>
        </p:txBody>
      </p:sp>
    </p:spTree>
    <p:extLst>
      <p:ext uri="{BB962C8B-B14F-4D97-AF65-F5344CB8AC3E}">
        <p14:creationId xmlns:p14="http://schemas.microsoft.com/office/powerpoint/2010/main" val="291630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7593370" y="1053370"/>
            <a:ext cx="763989" cy="319091"/>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050" b="1" dirty="0">
                <a:solidFill>
                  <a:schemeClr val="tx2"/>
                </a:solidFill>
              </a:rPr>
              <a:t>Schematics</a:t>
            </a:r>
          </a:p>
        </p:txBody>
      </p:sp>
      <p:sp>
        <p:nvSpPr>
          <p:cNvPr id="73" name="Rectangle 72"/>
          <p:cNvSpPr/>
          <p:nvPr/>
        </p:nvSpPr>
        <p:spPr>
          <a:xfrm>
            <a:off x="5380377" y="1836690"/>
            <a:ext cx="635252" cy="375870"/>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endParaRPr lang="en-US" sz="1200" b="1" dirty="0">
              <a:solidFill>
                <a:schemeClr val="tx2"/>
              </a:solidFill>
            </a:endParaRPr>
          </a:p>
        </p:txBody>
      </p:sp>
      <p:sp>
        <p:nvSpPr>
          <p:cNvPr id="72" name="Rectangle 71"/>
          <p:cNvSpPr/>
          <p:nvPr/>
        </p:nvSpPr>
        <p:spPr>
          <a:xfrm>
            <a:off x="5336819" y="1864963"/>
            <a:ext cx="635252" cy="375870"/>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endParaRPr lang="en-US" sz="1200" b="1" dirty="0">
              <a:solidFill>
                <a:schemeClr val="tx2"/>
              </a:solidFill>
            </a:endParaRPr>
          </a:p>
        </p:txBody>
      </p:sp>
      <p:sp>
        <p:nvSpPr>
          <p:cNvPr id="71" name="Rectangle 70"/>
          <p:cNvSpPr/>
          <p:nvPr/>
        </p:nvSpPr>
        <p:spPr>
          <a:xfrm>
            <a:off x="7073385" y="1863832"/>
            <a:ext cx="452437"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TCL</a:t>
            </a:r>
          </a:p>
        </p:txBody>
      </p:sp>
      <p:sp>
        <p:nvSpPr>
          <p:cNvPr id="70" name="Rectangle 69"/>
          <p:cNvSpPr/>
          <p:nvPr/>
        </p:nvSpPr>
        <p:spPr>
          <a:xfrm>
            <a:off x="5806211" y="995695"/>
            <a:ext cx="774965"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SystemC</a:t>
            </a:r>
            <a:endParaRPr lang="en-US" sz="1200" b="1" dirty="0">
              <a:solidFill>
                <a:schemeClr val="tx2"/>
              </a:solidFill>
            </a:endParaRPr>
          </a:p>
        </p:txBody>
      </p:sp>
      <p:sp>
        <p:nvSpPr>
          <p:cNvPr id="69" name="Rectangle 68"/>
          <p:cNvSpPr/>
          <p:nvPr/>
        </p:nvSpPr>
        <p:spPr>
          <a:xfrm>
            <a:off x="5079486" y="1286476"/>
            <a:ext cx="579768"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Simics</a:t>
            </a:r>
            <a:endParaRPr lang="en-US" sz="1200" b="1" dirty="0">
              <a:solidFill>
                <a:schemeClr val="tx2"/>
              </a:solidFill>
            </a:endParaRPr>
          </a:p>
        </p:txBody>
      </p:sp>
      <p:sp>
        <p:nvSpPr>
          <p:cNvPr id="57" name="Right Arrow 56"/>
          <p:cNvSpPr/>
          <p:nvPr/>
        </p:nvSpPr>
        <p:spPr>
          <a:xfrm>
            <a:off x="7939408" y="3434890"/>
            <a:ext cx="448151" cy="30715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p:nvPr/>
        </p:nvSpPr>
        <p:spPr>
          <a:xfrm>
            <a:off x="5868735" y="2933662"/>
            <a:ext cx="860079" cy="1711105"/>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400" dirty="0">
                <a:solidFill>
                  <a:schemeClr val="tx2"/>
                </a:solidFill>
              </a:rPr>
              <a:t>Library</a:t>
            </a:r>
            <a:endParaRPr lang="en-US" dirty="0">
              <a:solidFill>
                <a:schemeClr val="tx2"/>
              </a:solidFill>
            </a:endParaRPr>
          </a:p>
        </p:txBody>
      </p:sp>
      <p:sp>
        <p:nvSpPr>
          <p:cNvPr id="39" name="Rectangle 38"/>
          <p:cNvSpPr/>
          <p:nvPr/>
        </p:nvSpPr>
        <p:spPr>
          <a:xfrm>
            <a:off x="6941378" y="3275636"/>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uArch</a:t>
            </a:r>
            <a:endParaRPr lang="en-US" sz="1200" b="1" dirty="0">
              <a:solidFill>
                <a:schemeClr val="tx2"/>
              </a:solidFill>
            </a:endParaRPr>
          </a:p>
        </p:txBody>
      </p:sp>
      <p:sp>
        <p:nvSpPr>
          <p:cNvPr id="40" name="Rectangle 39"/>
          <p:cNvSpPr/>
          <p:nvPr/>
        </p:nvSpPr>
        <p:spPr>
          <a:xfrm>
            <a:off x="6941378" y="3755794"/>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Circuits</a:t>
            </a:r>
          </a:p>
        </p:txBody>
      </p:sp>
      <p:sp>
        <p:nvSpPr>
          <p:cNvPr id="41" name="Rectangle 40"/>
          <p:cNvSpPr/>
          <p:nvPr/>
        </p:nvSpPr>
        <p:spPr>
          <a:xfrm>
            <a:off x="6941378" y="4235951"/>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Netlist</a:t>
            </a:r>
            <a:endParaRPr lang="en-US" sz="1200" b="1" dirty="0">
              <a:solidFill>
                <a:schemeClr val="tx2"/>
              </a:solidFill>
            </a:endParaRPr>
          </a:p>
        </p:txBody>
      </p:sp>
      <p:sp>
        <p:nvSpPr>
          <p:cNvPr id="2" name="Slide Number Placeholder 1"/>
          <p:cNvSpPr>
            <a:spLocks noGrp="1"/>
          </p:cNvSpPr>
          <p:nvPr>
            <p:ph type="sldNum" sz="quarter" idx="12"/>
          </p:nvPr>
        </p:nvSpPr>
        <p:spPr/>
        <p:txBody>
          <a:bodyPr/>
          <a:lstStyle/>
          <a:p>
            <a:fld id="{EE2556C5-CE8C-6547-B838-EA80C61A4AF7}" type="slidenum">
              <a:rPr lang="en-US" smtClean="0"/>
              <a:pPr/>
              <a:t>3</a:t>
            </a:fld>
            <a:endParaRPr lang="en-US" dirty="0"/>
          </a:p>
        </p:txBody>
      </p:sp>
      <p:sp>
        <p:nvSpPr>
          <p:cNvPr id="4" name="Content Placeholder 3"/>
          <p:cNvSpPr>
            <a:spLocks noGrp="1"/>
          </p:cNvSpPr>
          <p:nvPr>
            <p:ph sz="half" idx="1"/>
          </p:nvPr>
        </p:nvSpPr>
        <p:spPr/>
        <p:txBody>
          <a:bodyPr/>
          <a:lstStyle/>
          <a:p>
            <a:r>
              <a:rPr lang="en-US" dirty="0"/>
              <a:t>It is possible to represent asynchronous designs in Verilog.</a:t>
            </a:r>
          </a:p>
          <a:p>
            <a:pPr marL="511175" lvl="1" indent="-285750">
              <a:buFont typeface="Wingdings" panose="05000000000000000000" pitchFamily="2" charset="2"/>
              <a:buChar char="§"/>
            </a:pPr>
            <a:r>
              <a:rPr lang="en-US" dirty="0"/>
              <a:t>Peter Beerel (USC) has a </a:t>
            </a:r>
            <a:r>
              <a:rPr lang="en-US" dirty="0" err="1"/>
              <a:t>SystemVerilog</a:t>
            </a:r>
            <a:r>
              <a:rPr lang="en-US" dirty="0"/>
              <a:t> flow for </a:t>
            </a:r>
            <a:r>
              <a:rPr lang="en-US" dirty="0" err="1"/>
              <a:t>async</a:t>
            </a:r>
            <a:r>
              <a:rPr lang="en-US" dirty="0"/>
              <a:t> bundled data design</a:t>
            </a:r>
          </a:p>
          <a:p>
            <a:r>
              <a:rPr lang="en-US" dirty="0"/>
              <a:t>CAST is more than a different syntax</a:t>
            </a:r>
          </a:p>
          <a:p>
            <a:pPr marL="511175" lvl="1" indent="-285750">
              <a:buFont typeface="Wingdings" panose="05000000000000000000" pitchFamily="2" charset="2"/>
              <a:buChar char="§"/>
            </a:pPr>
            <a:r>
              <a:rPr lang="en-US" dirty="0"/>
              <a:t>A complete framework for efficient, productive HW design</a:t>
            </a:r>
          </a:p>
          <a:p>
            <a:pPr marL="511175" lvl="1" indent="-285750">
              <a:buFont typeface="Wingdings" panose="05000000000000000000" pitchFamily="2" charset="2"/>
              <a:buChar char="§"/>
            </a:pPr>
            <a:r>
              <a:rPr lang="en-US" dirty="0"/>
              <a:t>Was (and remains) ahead of its time. (E.g. Includes many features of Chisel, but much more concise than Chisel.)</a:t>
            </a:r>
          </a:p>
        </p:txBody>
      </p:sp>
      <p:sp>
        <p:nvSpPr>
          <p:cNvPr id="3" name="Title 2"/>
          <p:cNvSpPr>
            <a:spLocks noGrp="1"/>
          </p:cNvSpPr>
          <p:nvPr>
            <p:ph type="title"/>
          </p:nvPr>
        </p:nvSpPr>
        <p:spPr/>
        <p:txBody>
          <a:bodyPr/>
          <a:lstStyle/>
          <a:p>
            <a:r>
              <a:rPr lang="en-US" dirty="0"/>
              <a:t>Why Another HDL?</a:t>
            </a:r>
          </a:p>
        </p:txBody>
      </p:sp>
      <p:sp>
        <p:nvSpPr>
          <p:cNvPr id="9" name="Rectangle 8"/>
          <p:cNvSpPr/>
          <p:nvPr/>
        </p:nvSpPr>
        <p:spPr>
          <a:xfrm>
            <a:off x="5865060" y="1490735"/>
            <a:ext cx="635252" cy="25397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File list</a:t>
            </a:r>
          </a:p>
        </p:txBody>
      </p:sp>
      <p:sp>
        <p:nvSpPr>
          <p:cNvPr id="13" name="Rectangle 12"/>
          <p:cNvSpPr/>
          <p:nvPr/>
        </p:nvSpPr>
        <p:spPr>
          <a:xfrm>
            <a:off x="5294034" y="1894136"/>
            <a:ext cx="635252" cy="375870"/>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Verilog</a:t>
            </a:r>
            <a:br>
              <a:rPr lang="en-US" sz="1200" b="1" dirty="0">
                <a:solidFill>
                  <a:schemeClr val="tx2"/>
                </a:solidFill>
              </a:rPr>
            </a:br>
            <a:r>
              <a:rPr lang="en-US" sz="1200" b="1" dirty="0">
                <a:solidFill>
                  <a:schemeClr val="tx2"/>
                </a:solidFill>
              </a:rPr>
              <a:t>(RTL)</a:t>
            </a:r>
          </a:p>
        </p:txBody>
      </p:sp>
      <p:sp>
        <p:nvSpPr>
          <p:cNvPr id="15" name="Rectangle 14"/>
          <p:cNvSpPr/>
          <p:nvPr/>
        </p:nvSpPr>
        <p:spPr>
          <a:xfrm>
            <a:off x="5772855" y="1023737"/>
            <a:ext cx="774965"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SystemC</a:t>
            </a:r>
            <a:endParaRPr lang="en-US" sz="1200" b="1" dirty="0">
              <a:solidFill>
                <a:schemeClr val="tx2"/>
              </a:solidFill>
            </a:endParaRPr>
          </a:p>
        </p:txBody>
      </p:sp>
      <p:sp>
        <p:nvSpPr>
          <p:cNvPr id="16" name="Rectangle 15"/>
          <p:cNvSpPr/>
          <p:nvPr/>
        </p:nvSpPr>
        <p:spPr>
          <a:xfrm>
            <a:off x="6782448" y="1183374"/>
            <a:ext cx="635252" cy="426378"/>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RTL</a:t>
            </a:r>
          </a:p>
          <a:p>
            <a:pPr algn="ctr"/>
            <a:r>
              <a:rPr lang="en-US" sz="1200" b="1" dirty="0">
                <a:solidFill>
                  <a:schemeClr val="tx2"/>
                </a:solidFill>
              </a:rPr>
              <a:t>(IP)</a:t>
            </a:r>
          </a:p>
        </p:txBody>
      </p:sp>
      <p:sp>
        <p:nvSpPr>
          <p:cNvPr id="19" name="Rectangle 18"/>
          <p:cNvSpPr/>
          <p:nvPr/>
        </p:nvSpPr>
        <p:spPr>
          <a:xfrm>
            <a:off x="7037656" y="1895034"/>
            <a:ext cx="452437"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TCL</a:t>
            </a:r>
          </a:p>
        </p:txBody>
      </p:sp>
      <p:sp>
        <p:nvSpPr>
          <p:cNvPr id="20" name="Rectangle 19"/>
          <p:cNvSpPr/>
          <p:nvPr/>
        </p:nvSpPr>
        <p:spPr>
          <a:xfrm>
            <a:off x="7686638" y="1980378"/>
            <a:ext cx="635252" cy="387967"/>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Verilog</a:t>
            </a:r>
          </a:p>
          <a:p>
            <a:pPr algn="ctr"/>
            <a:r>
              <a:rPr lang="en-US" sz="1200" b="1" dirty="0">
                <a:solidFill>
                  <a:schemeClr val="tx2"/>
                </a:solidFill>
              </a:rPr>
              <a:t>(layout)</a:t>
            </a:r>
          </a:p>
        </p:txBody>
      </p:sp>
      <p:sp>
        <p:nvSpPr>
          <p:cNvPr id="21" name="Rectangle 20"/>
          <p:cNvSpPr/>
          <p:nvPr/>
        </p:nvSpPr>
        <p:spPr>
          <a:xfrm>
            <a:off x="7686638" y="1539150"/>
            <a:ext cx="635252" cy="387967"/>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Verilog</a:t>
            </a:r>
          </a:p>
          <a:p>
            <a:pPr algn="ctr"/>
            <a:r>
              <a:rPr lang="en-US" sz="1200" b="1" dirty="0">
                <a:solidFill>
                  <a:schemeClr val="tx2"/>
                </a:solidFill>
              </a:rPr>
              <a:t>(synth)</a:t>
            </a:r>
          </a:p>
        </p:txBody>
      </p:sp>
      <p:sp>
        <p:nvSpPr>
          <p:cNvPr id="22" name="Rectangle 21"/>
          <p:cNvSpPr/>
          <p:nvPr/>
        </p:nvSpPr>
        <p:spPr>
          <a:xfrm>
            <a:off x="6744417" y="1227810"/>
            <a:ext cx="635252" cy="426378"/>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Verilog</a:t>
            </a:r>
          </a:p>
          <a:p>
            <a:pPr algn="ctr"/>
            <a:r>
              <a:rPr lang="en-US" sz="1200" b="1" dirty="0">
                <a:solidFill>
                  <a:schemeClr val="tx2"/>
                </a:solidFill>
              </a:rPr>
              <a:t>(IP)</a:t>
            </a:r>
          </a:p>
        </p:txBody>
      </p:sp>
      <p:sp>
        <p:nvSpPr>
          <p:cNvPr id="23" name="TextBox 22"/>
          <p:cNvSpPr txBox="1"/>
          <p:nvPr/>
        </p:nvSpPr>
        <p:spPr>
          <a:xfrm>
            <a:off x="5117133" y="2295238"/>
            <a:ext cx="989053" cy="169277"/>
          </a:xfrm>
          <a:prstGeom prst="rect">
            <a:avLst/>
          </a:prstGeom>
          <a:noFill/>
        </p:spPr>
        <p:txBody>
          <a:bodyPr vert="horz" wrap="none" lIns="0" tIns="0" rIns="0" bIns="0" rtlCol="0">
            <a:spAutoFit/>
          </a:bodyPr>
          <a:lstStyle/>
          <a:p>
            <a:r>
              <a:rPr lang="en-US" sz="1100" dirty="0">
                <a:solidFill>
                  <a:srgbClr val="003C71"/>
                </a:solidFill>
              </a:rPr>
              <a:t>10-100K’s lines</a:t>
            </a:r>
          </a:p>
        </p:txBody>
      </p:sp>
      <p:sp>
        <p:nvSpPr>
          <p:cNvPr id="24" name="TextBox 23"/>
          <p:cNvSpPr txBox="1"/>
          <p:nvPr/>
        </p:nvSpPr>
        <p:spPr>
          <a:xfrm>
            <a:off x="6203996" y="2301862"/>
            <a:ext cx="599523" cy="169277"/>
          </a:xfrm>
          <a:prstGeom prst="rect">
            <a:avLst/>
          </a:prstGeom>
          <a:noFill/>
        </p:spPr>
        <p:txBody>
          <a:bodyPr vert="horz" wrap="none" lIns="0" tIns="0" rIns="0" bIns="0" rtlCol="0">
            <a:spAutoFit/>
          </a:bodyPr>
          <a:lstStyle/>
          <a:p>
            <a:r>
              <a:rPr lang="en-US" sz="1100" dirty="0">
                <a:solidFill>
                  <a:srgbClr val="003C71"/>
                </a:solidFill>
              </a:rPr>
              <a:t>1K’s lines</a:t>
            </a:r>
          </a:p>
        </p:txBody>
      </p:sp>
      <p:sp>
        <p:nvSpPr>
          <p:cNvPr id="27" name="Rectangle 26"/>
          <p:cNvSpPr/>
          <p:nvPr/>
        </p:nvSpPr>
        <p:spPr>
          <a:xfrm>
            <a:off x="6916292" y="3316747"/>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uArch</a:t>
            </a:r>
            <a:endParaRPr lang="en-US" sz="1200" b="1" dirty="0">
              <a:solidFill>
                <a:schemeClr val="tx2"/>
              </a:solidFill>
            </a:endParaRPr>
          </a:p>
        </p:txBody>
      </p:sp>
      <p:sp>
        <p:nvSpPr>
          <p:cNvPr id="28" name="Rectangle 27"/>
          <p:cNvSpPr/>
          <p:nvPr/>
        </p:nvSpPr>
        <p:spPr>
          <a:xfrm>
            <a:off x="6916292" y="2836589"/>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Arch</a:t>
            </a:r>
          </a:p>
        </p:txBody>
      </p:sp>
      <p:sp>
        <p:nvSpPr>
          <p:cNvPr id="29" name="Rectangle 28"/>
          <p:cNvSpPr/>
          <p:nvPr/>
        </p:nvSpPr>
        <p:spPr>
          <a:xfrm>
            <a:off x="6916292" y="3796905"/>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Circuits</a:t>
            </a:r>
          </a:p>
        </p:txBody>
      </p:sp>
      <p:sp>
        <p:nvSpPr>
          <p:cNvPr id="30" name="Rectangle 29"/>
          <p:cNvSpPr/>
          <p:nvPr/>
        </p:nvSpPr>
        <p:spPr>
          <a:xfrm>
            <a:off x="6916292" y="4277062"/>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Netlist</a:t>
            </a:r>
            <a:endParaRPr lang="en-US" sz="1200" b="1" dirty="0">
              <a:solidFill>
                <a:schemeClr val="tx2"/>
              </a:solidFill>
            </a:endParaRPr>
          </a:p>
        </p:txBody>
      </p:sp>
      <p:sp>
        <p:nvSpPr>
          <p:cNvPr id="42" name="Rectangle 41"/>
          <p:cNvSpPr/>
          <p:nvPr/>
        </p:nvSpPr>
        <p:spPr>
          <a:xfrm>
            <a:off x="5988500" y="3221316"/>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uArch</a:t>
            </a:r>
            <a:endParaRPr lang="en-US" sz="1200" b="1" dirty="0">
              <a:solidFill>
                <a:schemeClr val="tx2"/>
              </a:solidFill>
            </a:endParaRPr>
          </a:p>
        </p:txBody>
      </p:sp>
      <p:sp>
        <p:nvSpPr>
          <p:cNvPr id="43" name="Rectangle 42"/>
          <p:cNvSpPr/>
          <p:nvPr/>
        </p:nvSpPr>
        <p:spPr>
          <a:xfrm>
            <a:off x="5988500" y="3701474"/>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Circuits</a:t>
            </a:r>
          </a:p>
        </p:txBody>
      </p:sp>
      <p:sp>
        <p:nvSpPr>
          <p:cNvPr id="44" name="Rectangle 43"/>
          <p:cNvSpPr/>
          <p:nvPr/>
        </p:nvSpPr>
        <p:spPr>
          <a:xfrm>
            <a:off x="5988500" y="4181631"/>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Netlist</a:t>
            </a:r>
            <a:endParaRPr lang="en-US" sz="1200" b="1" dirty="0">
              <a:solidFill>
                <a:schemeClr val="tx2"/>
              </a:solidFill>
            </a:endParaRPr>
          </a:p>
        </p:txBody>
      </p:sp>
      <p:sp>
        <p:nvSpPr>
          <p:cNvPr id="45" name="Rectangle 44"/>
          <p:cNvSpPr/>
          <p:nvPr/>
        </p:nvSpPr>
        <p:spPr>
          <a:xfrm>
            <a:off x="5963414" y="3262427"/>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uArch</a:t>
            </a:r>
            <a:endParaRPr lang="en-US" sz="1200" b="1" dirty="0">
              <a:solidFill>
                <a:schemeClr val="tx2"/>
              </a:solidFill>
            </a:endParaRPr>
          </a:p>
        </p:txBody>
      </p:sp>
      <p:sp>
        <p:nvSpPr>
          <p:cNvPr id="46" name="Rectangle 45"/>
          <p:cNvSpPr/>
          <p:nvPr/>
        </p:nvSpPr>
        <p:spPr>
          <a:xfrm>
            <a:off x="5963414" y="3742585"/>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Circuits</a:t>
            </a:r>
          </a:p>
        </p:txBody>
      </p:sp>
      <p:sp>
        <p:nvSpPr>
          <p:cNvPr id="47" name="Rectangle 46"/>
          <p:cNvSpPr/>
          <p:nvPr/>
        </p:nvSpPr>
        <p:spPr>
          <a:xfrm>
            <a:off x="5963414" y="4222742"/>
            <a:ext cx="635252"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Netlist</a:t>
            </a:r>
            <a:endParaRPr lang="en-US" sz="1200" b="1" dirty="0">
              <a:solidFill>
                <a:schemeClr val="tx2"/>
              </a:solidFill>
            </a:endParaRPr>
          </a:p>
        </p:txBody>
      </p:sp>
      <p:sp>
        <p:nvSpPr>
          <p:cNvPr id="54" name="Freeform 53"/>
          <p:cNvSpPr/>
          <p:nvPr/>
        </p:nvSpPr>
        <p:spPr>
          <a:xfrm>
            <a:off x="7558907" y="3051017"/>
            <a:ext cx="226337" cy="407406"/>
          </a:xfrm>
          <a:custGeom>
            <a:avLst/>
            <a:gdLst>
              <a:gd name="connsiteX0" fmla="*/ 0 w 226337"/>
              <a:gd name="connsiteY0" fmla="*/ 0 h 407406"/>
              <a:gd name="connsiteX1" fmla="*/ 226337 w 226337"/>
              <a:gd name="connsiteY1" fmla="*/ 208230 h 407406"/>
              <a:gd name="connsiteX2" fmla="*/ 0 w 226337"/>
              <a:gd name="connsiteY2" fmla="*/ 407406 h 407406"/>
            </a:gdLst>
            <a:ahLst/>
            <a:cxnLst>
              <a:cxn ang="0">
                <a:pos x="connsiteX0" y="connsiteY0"/>
              </a:cxn>
              <a:cxn ang="0">
                <a:pos x="connsiteX1" y="connsiteY1"/>
              </a:cxn>
              <a:cxn ang="0">
                <a:pos x="connsiteX2" y="connsiteY2"/>
              </a:cxn>
            </a:cxnLst>
            <a:rect l="l" t="t" r="r" b="b"/>
            <a:pathLst>
              <a:path w="226337" h="407406">
                <a:moveTo>
                  <a:pt x="0" y="0"/>
                </a:moveTo>
                <a:cubicBezTo>
                  <a:pt x="113168" y="70164"/>
                  <a:pt x="226337" y="140329"/>
                  <a:pt x="226337" y="208230"/>
                </a:cubicBezTo>
                <a:cubicBezTo>
                  <a:pt x="226337" y="276131"/>
                  <a:pt x="113168" y="341768"/>
                  <a:pt x="0" y="407406"/>
                </a:cubicBezTo>
              </a:path>
            </a:pathLst>
          </a:custGeom>
          <a:noFill/>
          <a:ln w="12700">
            <a:solidFill>
              <a:schemeClr val="tx1"/>
            </a:solidFill>
            <a:tailEnd type="stealt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Freeform 54"/>
          <p:cNvSpPr/>
          <p:nvPr/>
        </p:nvSpPr>
        <p:spPr>
          <a:xfrm>
            <a:off x="7558906" y="3522522"/>
            <a:ext cx="226337" cy="407406"/>
          </a:xfrm>
          <a:custGeom>
            <a:avLst/>
            <a:gdLst>
              <a:gd name="connsiteX0" fmla="*/ 0 w 226337"/>
              <a:gd name="connsiteY0" fmla="*/ 0 h 407406"/>
              <a:gd name="connsiteX1" fmla="*/ 226337 w 226337"/>
              <a:gd name="connsiteY1" fmla="*/ 208230 h 407406"/>
              <a:gd name="connsiteX2" fmla="*/ 0 w 226337"/>
              <a:gd name="connsiteY2" fmla="*/ 407406 h 407406"/>
            </a:gdLst>
            <a:ahLst/>
            <a:cxnLst>
              <a:cxn ang="0">
                <a:pos x="connsiteX0" y="connsiteY0"/>
              </a:cxn>
              <a:cxn ang="0">
                <a:pos x="connsiteX1" y="connsiteY1"/>
              </a:cxn>
              <a:cxn ang="0">
                <a:pos x="connsiteX2" y="connsiteY2"/>
              </a:cxn>
            </a:cxnLst>
            <a:rect l="l" t="t" r="r" b="b"/>
            <a:pathLst>
              <a:path w="226337" h="407406">
                <a:moveTo>
                  <a:pt x="0" y="0"/>
                </a:moveTo>
                <a:cubicBezTo>
                  <a:pt x="113168" y="70164"/>
                  <a:pt x="226337" y="140329"/>
                  <a:pt x="226337" y="208230"/>
                </a:cubicBezTo>
                <a:cubicBezTo>
                  <a:pt x="226337" y="276131"/>
                  <a:pt x="113168" y="341768"/>
                  <a:pt x="0" y="407406"/>
                </a:cubicBezTo>
              </a:path>
            </a:pathLst>
          </a:custGeom>
          <a:noFill/>
          <a:ln w="12700">
            <a:solidFill>
              <a:schemeClr val="tx1"/>
            </a:solidFill>
            <a:prstDash val="sysDash"/>
            <a:tailEnd type="stealt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ectangle 57"/>
          <p:cNvSpPr/>
          <p:nvPr/>
        </p:nvSpPr>
        <p:spPr>
          <a:xfrm>
            <a:off x="5644403" y="2715920"/>
            <a:ext cx="2294749" cy="1982829"/>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a:lstStyle/>
          <a:p>
            <a:endParaRPr lang="en-US" b="1" dirty="0">
              <a:solidFill>
                <a:schemeClr val="tx2"/>
              </a:solidFill>
            </a:endParaRPr>
          </a:p>
        </p:txBody>
      </p:sp>
      <p:sp>
        <p:nvSpPr>
          <p:cNvPr id="59" name="TextBox 58"/>
          <p:cNvSpPr txBox="1"/>
          <p:nvPr/>
        </p:nvSpPr>
        <p:spPr>
          <a:xfrm>
            <a:off x="8466783" y="3247940"/>
            <a:ext cx="453650" cy="677108"/>
          </a:xfrm>
          <a:prstGeom prst="rect">
            <a:avLst/>
          </a:prstGeom>
          <a:noFill/>
        </p:spPr>
        <p:txBody>
          <a:bodyPr vert="horz" wrap="none" lIns="0" tIns="0" rIns="0" bIns="0" rtlCol="0">
            <a:spAutoFit/>
          </a:bodyPr>
          <a:lstStyle/>
          <a:p>
            <a:r>
              <a:rPr lang="en-US" sz="1100" dirty="0">
                <a:solidFill>
                  <a:srgbClr val="003C71"/>
                </a:solidFill>
              </a:rPr>
              <a:t>Verilog</a:t>
            </a:r>
          </a:p>
          <a:p>
            <a:r>
              <a:rPr lang="en-US" sz="1100" dirty="0">
                <a:solidFill>
                  <a:srgbClr val="003C71"/>
                </a:solidFill>
              </a:rPr>
              <a:t>SDC</a:t>
            </a:r>
          </a:p>
          <a:p>
            <a:r>
              <a:rPr lang="en-US" sz="1100" dirty="0">
                <a:solidFill>
                  <a:srgbClr val="003C71"/>
                </a:solidFill>
              </a:rPr>
              <a:t>TCL</a:t>
            </a:r>
          </a:p>
          <a:p>
            <a:r>
              <a:rPr lang="en-US" sz="1100" dirty="0">
                <a:solidFill>
                  <a:srgbClr val="003C71"/>
                </a:solidFill>
              </a:rPr>
              <a:t>etc.</a:t>
            </a:r>
          </a:p>
        </p:txBody>
      </p:sp>
      <p:cxnSp>
        <p:nvCxnSpPr>
          <p:cNvPr id="61" name="Straight Arrow Connector 60"/>
          <p:cNvCxnSpPr/>
          <p:nvPr/>
        </p:nvCxnSpPr>
        <p:spPr>
          <a:xfrm flipH="1">
            <a:off x="7672074" y="4460260"/>
            <a:ext cx="703908" cy="0"/>
          </a:xfrm>
          <a:prstGeom prst="straightConnector1">
            <a:avLst/>
          </a:prstGeom>
          <a:ln>
            <a:solidFill>
              <a:schemeClr val="accent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5412610" y="3894720"/>
            <a:ext cx="403859" cy="0"/>
          </a:xfrm>
          <a:prstGeom prst="straightConnector1">
            <a:avLst/>
          </a:prstGeom>
          <a:ln>
            <a:solidFill>
              <a:schemeClr val="accent1"/>
            </a:solidFill>
            <a:prstDash val="sysDash"/>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143414" y="3635330"/>
            <a:ext cx="453650" cy="338554"/>
          </a:xfrm>
          <a:prstGeom prst="rect">
            <a:avLst/>
          </a:prstGeom>
          <a:noFill/>
        </p:spPr>
        <p:txBody>
          <a:bodyPr vert="horz" wrap="none" lIns="0" tIns="0" rIns="0" bIns="0" rtlCol="0">
            <a:spAutoFit/>
          </a:bodyPr>
          <a:lstStyle/>
          <a:p>
            <a:r>
              <a:rPr lang="en-US" sz="1100" dirty="0">
                <a:solidFill>
                  <a:srgbClr val="003C71"/>
                </a:solidFill>
              </a:rPr>
              <a:t>Verilog</a:t>
            </a:r>
          </a:p>
          <a:p>
            <a:r>
              <a:rPr lang="en-US" sz="1100" dirty="0">
                <a:solidFill>
                  <a:srgbClr val="003C71"/>
                </a:solidFill>
              </a:rPr>
              <a:t>IP</a:t>
            </a:r>
          </a:p>
        </p:txBody>
      </p:sp>
      <p:sp>
        <p:nvSpPr>
          <p:cNvPr id="66" name="TextBox 65"/>
          <p:cNvSpPr txBox="1"/>
          <p:nvPr/>
        </p:nvSpPr>
        <p:spPr>
          <a:xfrm>
            <a:off x="8466783" y="4375621"/>
            <a:ext cx="436017" cy="169277"/>
          </a:xfrm>
          <a:prstGeom prst="rect">
            <a:avLst/>
          </a:prstGeom>
          <a:noFill/>
        </p:spPr>
        <p:txBody>
          <a:bodyPr vert="horz" wrap="none" lIns="0" tIns="0" rIns="0" bIns="0" rtlCol="0">
            <a:spAutoFit/>
          </a:bodyPr>
          <a:lstStyle/>
          <a:p>
            <a:r>
              <a:rPr lang="en-US" sz="1100" dirty="0">
                <a:solidFill>
                  <a:srgbClr val="003C71"/>
                </a:solidFill>
              </a:rPr>
              <a:t>Layout</a:t>
            </a:r>
          </a:p>
        </p:txBody>
      </p:sp>
      <p:sp>
        <p:nvSpPr>
          <p:cNvPr id="67" name="Rectangle 66"/>
          <p:cNvSpPr/>
          <p:nvPr/>
        </p:nvSpPr>
        <p:spPr>
          <a:xfrm>
            <a:off x="4916032" y="932507"/>
            <a:ext cx="3550751" cy="1530037"/>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a:lstStyle/>
          <a:p>
            <a:endParaRPr lang="en-US" b="1" dirty="0">
              <a:solidFill>
                <a:schemeClr val="tx2"/>
              </a:solidFill>
            </a:endParaRPr>
          </a:p>
        </p:txBody>
      </p:sp>
      <p:sp>
        <p:nvSpPr>
          <p:cNvPr id="68" name="Rectangle 67"/>
          <p:cNvSpPr/>
          <p:nvPr/>
        </p:nvSpPr>
        <p:spPr>
          <a:xfrm>
            <a:off x="5044733" y="1322892"/>
            <a:ext cx="579768" cy="348269"/>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err="1">
                <a:solidFill>
                  <a:schemeClr val="tx2"/>
                </a:solidFill>
              </a:rPr>
              <a:t>Simics</a:t>
            </a:r>
            <a:endParaRPr lang="en-US" sz="1200" b="1" dirty="0">
              <a:solidFill>
                <a:schemeClr val="tx2"/>
              </a:solidFill>
            </a:endParaRPr>
          </a:p>
        </p:txBody>
      </p:sp>
      <p:sp>
        <p:nvSpPr>
          <p:cNvPr id="74" name="Rectangle 73"/>
          <p:cNvSpPr/>
          <p:nvPr/>
        </p:nvSpPr>
        <p:spPr>
          <a:xfrm>
            <a:off x="6220699" y="1834813"/>
            <a:ext cx="635252" cy="375870"/>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endParaRPr lang="en-US" sz="1200" b="1" dirty="0">
              <a:solidFill>
                <a:schemeClr val="tx2"/>
              </a:solidFill>
            </a:endParaRPr>
          </a:p>
        </p:txBody>
      </p:sp>
      <p:sp>
        <p:nvSpPr>
          <p:cNvPr id="75" name="Rectangle 74"/>
          <p:cNvSpPr/>
          <p:nvPr/>
        </p:nvSpPr>
        <p:spPr>
          <a:xfrm>
            <a:off x="6177141" y="1863086"/>
            <a:ext cx="635252" cy="375870"/>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endParaRPr lang="en-US" sz="1200" b="1" dirty="0">
              <a:solidFill>
                <a:schemeClr val="tx2"/>
              </a:solidFill>
            </a:endParaRPr>
          </a:p>
        </p:txBody>
      </p:sp>
      <p:sp>
        <p:nvSpPr>
          <p:cNvPr id="76" name="Rectangle 75"/>
          <p:cNvSpPr/>
          <p:nvPr/>
        </p:nvSpPr>
        <p:spPr>
          <a:xfrm>
            <a:off x="6134356" y="1892259"/>
            <a:ext cx="635252" cy="375870"/>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200" b="1" dirty="0">
                <a:solidFill>
                  <a:schemeClr val="tx2"/>
                </a:solidFill>
              </a:rPr>
              <a:t>SDC</a:t>
            </a:r>
          </a:p>
        </p:txBody>
      </p:sp>
      <p:sp>
        <p:nvSpPr>
          <p:cNvPr id="77" name="TextBox 76"/>
          <p:cNvSpPr txBox="1"/>
          <p:nvPr/>
        </p:nvSpPr>
        <p:spPr>
          <a:xfrm>
            <a:off x="5079486" y="2712817"/>
            <a:ext cx="564661" cy="220845"/>
          </a:xfrm>
          <a:prstGeom prst="rect">
            <a:avLst/>
          </a:prstGeom>
          <a:solidFill>
            <a:schemeClr val="accent1"/>
          </a:solidFill>
        </p:spPr>
        <p:txBody>
          <a:bodyPr vert="horz" wrap="square" lIns="0" tIns="0" rIns="0" bIns="0" rtlCol="0" anchor="ctr">
            <a:noAutofit/>
          </a:bodyPr>
          <a:lstStyle/>
          <a:p>
            <a:pPr algn="ctr"/>
            <a:r>
              <a:rPr lang="en-US" sz="1200" dirty="0">
                <a:solidFill>
                  <a:schemeClr val="bg1"/>
                </a:solidFill>
              </a:rPr>
              <a:t>CAST</a:t>
            </a:r>
          </a:p>
        </p:txBody>
      </p:sp>
      <p:sp>
        <p:nvSpPr>
          <p:cNvPr id="78" name="TextBox 77"/>
          <p:cNvSpPr txBox="1"/>
          <p:nvPr/>
        </p:nvSpPr>
        <p:spPr>
          <a:xfrm>
            <a:off x="4916032" y="742319"/>
            <a:ext cx="1707720" cy="196347"/>
          </a:xfrm>
          <a:prstGeom prst="rect">
            <a:avLst/>
          </a:prstGeom>
          <a:solidFill>
            <a:schemeClr val="accent1"/>
          </a:solidFill>
        </p:spPr>
        <p:txBody>
          <a:bodyPr vert="horz" wrap="square" lIns="0" tIns="0" rIns="0" bIns="0" rtlCol="0" anchor="ctr">
            <a:noAutofit/>
          </a:bodyPr>
          <a:lstStyle/>
          <a:p>
            <a:pPr algn="ctr"/>
            <a:r>
              <a:rPr lang="en-US" sz="1200" dirty="0">
                <a:solidFill>
                  <a:schemeClr val="bg1"/>
                </a:solidFill>
              </a:rPr>
              <a:t>Typical ASIC Front End</a:t>
            </a:r>
          </a:p>
        </p:txBody>
      </p:sp>
      <p:sp>
        <p:nvSpPr>
          <p:cNvPr id="79" name="Rectangle 78"/>
          <p:cNvSpPr/>
          <p:nvPr/>
        </p:nvSpPr>
        <p:spPr>
          <a:xfrm>
            <a:off x="7558612" y="1080770"/>
            <a:ext cx="763989" cy="319091"/>
          </a:xfrm>
          <a:prstGeom prst="rect">
            <a:avLst/>
          </a:prstGeom>
          <a:solidFill>
            <a:schemeClr val="bg1">
              <a:lumMod val="6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r>
              <a:rPr lang="en-US" sz="1050" b="1" dirty="0">
                <a:solidFill>
                  <a:schemeClr val="tx2"/>
                </a:solidFill>
              </a:rPr>
              <a:t>Schematics</a:t>
            </a:r>
          </a:p>
        </p:txBody>
      </p:sp>
    </p:spTree>
    <p:extLst>
      <p:ext uri="{BB962C8B-B14F-4D97-AF65-F5344CB8AC3E}">
        <p14:creationId xmlns:p14="http://schemas.microsoft.com/office/powerpoint/2010/main" val="258645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Intricacies of CAST</a:t>
            </a:r>
          </a:p>
        </p:txBody>
      </p:sp>
      <p:sp>
        <p:nvSpPr>
          <p:cNvPr id="5" name="Content Placeholder 4"/>
          <p:cNvSpPr>
            <a:spLocks noGrp="1"/>
          </p:cNvSpPr>
          <p:nvPr>
            <p:ph sz="quarter" idx="13"/>
          </p:nvPr>
        </p:nvSpPr>
        <p:spPr/>
        <p:txBody>
          <a:bodyPr/>
          <a:lstStyle/>
          <a:p>
            <a:pPr marL="285750" indent="-285750">
              <a:buFont typeface="Arial" panose="020B0604020202020204" pitchFamily="34" charset="0"/>
              <a:buChar char="•"/>
            </a:pPr>
            <a:r>
              <a:rPr lang="en-US" sz="1600" dirty="0"/>
              <a:t>CAST is a meta-language which integrates many different sub-languages which describe circuits and test environments at many levels of abstraction.</a:t>
            </a:r>
          </a:p>
          <a:p>
            <a:pPr marL="285750" indent="-285750">
              <a:buFont typeface="Arial" panose="020B0604020202020204" pitchFamily="34" charset="0"/>
              <a:buChar char="•"/>
            </a:pPr>
            <a:r>
              <a:rPr lang="en-US" sz="1600" dirty="0"/>
              <a:t>In CAST, you would normally describe the hierarchical “box and arrow” structure of a circuit in a module.</a:t>
            </a:r>
          </a:p>
          <a:p>
            <a:pPr marL="285750" indent="-285750">
              <a:buFont typeface="Arial" panose="020B0604020202020204" pitchFamily="34" charset="0"/>
              <a:buChar char="•"/>
            </a:pPr>
            <a:r>
              <a:rPr lang="en-US" sz="1600" dirty="0"/>
              <a:t>These modules are often heavily parameterized to act as a “generator” of a circuit family (e.g. N-bit multipliers).</a:t>
            </a:r>
          </a:p>
          <a:p>
            <a:pPr marL="285750" indent="-285750">
              <a:buFont typeface="Arial" panose="020B0604020202020204" pitchFamily="34" charset="0"/>
              <a:buChar char="•"/>
            </a:pPr>
            <a:r>
              <a:rPr lang="en-US" sz="1600" dirty="0"/>
              <a:t>Files have *.cast suffix, and are organized by </a:t>
            </a:r>
            <a:r>
              <a:rPr lang="en-US" sz="1600" u="sng" dirty="0"/>
              <a:t>module</a:t>
            </a:r>
            <a:r>
              <a:rPr lang="en-US" sz="1600" dirty="0"/>
              <a:t> name in a directory tree that follows the module name.</a:t>
            </a:r>
          </a:p>
          <a:p>
            <a:pPr marL="285750" indent="-285750">
              <a:buFont typeface="Arial" panose="020B0604020202020204" pitchFamily="34" charset="0"/>
              <a:buChar char="•"/>
            </a:pPr>
            <a:r>
              <a:rPr lang="en-US" sz="1600" dirty="0"/>
              <a:t>Contents from other modules can be imported with </a:t>
            </a:r>
            <a:r>
              <a:rPr lang="en-US" sz="1600" u="sng" dirty="0"/>
              <a:t>import</a:t>
            </a:r>
            <a:r>
              <a:rPr lang="en-US" sz="1600" dirty="0"/>
              <a:t> commands, or referred to by a “fully qualified cell name” (FQCN) which includes the complete module and cell name with “.” separators.  For example, </a:t>
            </a:r>
            <a:r>
              <a:rPr lang="en-US" sz="1600" dirty="0" err="1"/>
              <a:t>lib.bd.math.add.ABSTRACT_ADD</a:t>
            </a:r>
            <a:r>
              <a:rPr lang="en-US" sz="1600" dirty="0"/>
              <a:t>.</a:t>
            </a:r>
            <a:endParaRPr lang="en-US" sz="1600" u="sng" dirty="0"/>
          </a:p>
        </p:txBody>
      </p:sp>
    </p:spTree>
    <p:extLst>
      <p:ext uri="{BB962C8B-B14F-4D97-AF65-F5344CB8AC3E}">
        <p14:creationId xmlns:p14="http://schemas.microsoft.com/office/powerpoint/2010/main" val="27302348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49232" y="2244965"/>
            <a:ext cx="3321339" cy="943818"/>
          </a:xfrm>
        </p:spPr>
        <p:txBody>
          <a:bodyPr/>
          <a:lstStyle/>
          <a:p>
            <a:r>
              <a:rPr lang="en-US" dirty="0"/>
              <a:t>DESIGN PHILOSOPHY</a:t>
            </a:r>
          </a:p>
        </p:txBody>
      </p:sp>
      <p:sp>
        <p:nvSpPr>
          <p:cNvPr id="2" name="Slide Number Placeholder 1"/>
          <p:cNvSpPr>
            <a:spLocks noGrp="1"/>
          </p:cNvSpPr>
          <p:nvPr>
            <p:ph type="sldNum" sz="quarter" idx="4294967295"/>
          </p:nvPr>
        </p:nvSpPr>
        <p:spPr>
          <a:xfrm>
            <a:off x="7010400" y="4824413"/>
            <a:ext cx="2133600" cy="273050"/>
          </a:xfrm>
        </p:spPr>
        <p:txBody>
          <a:bodyPr/>
          <a:lstStyle/>
          <a:p>
            <a:fld id="{EE2556C5-CE8C-6547-B838-EA80C61A4AF7}" type="slidenum">
              <a:rPr lang="en-US" smtClean="0"/>
              <a:pPr/>
              <a:t>5</a:t>
            </a:fld>
            <a:endParaRPr lang="en-US" dirty="0"/>
          </a:p>
        </p:txBody>
      </p:sp>
    </p:spTree>
    <p:extLst>
      <p:ext uri="{BB962C8B-B14F-4D97-AF65-F5344CB8AC3E}">
        <p14:creationId xmlns:p14="http://schemas.microsoft.com/office/powerpoint/2010/main" val="40837803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9"/>
          <p:cNvSpPr>
            <a:spLocks noGrp="1"/>
          </p:cNvSpPr>
          <p:nvPr>
            <p:ph type="title"/>
          </p:nvPr>
        </p:nvSpPr>
        <p:spPr/>
        <p:txBody>
          <a:bodyPr/>
          <a:lstStyle/>
          <a:p>
            <a:r>
              <a:rPr lang="en-US" altLang="en-US"/>
              <a:t>Decomposition</a:t>
            </a:r>
          </a:p>
        </p:txBody>
      </p:sp>
      <p:sp>
        <p:nvSpPr>
          <p:cNvPr id="20483" name="Content Placeholder 37"/>
          <p:cNvSpPr>
            <a:spLocks noGrp="1"/>
          </p:cNvSpPr>
          <p:nvPr>
            <p:ph idx="1"/>
          </p:nvPr>
        </p:nvSpPr>
        <p:spPr>
          <a:xfrm>
            <a:off x="285345" y="1027688"/>
            <a:ext cx="5671125" cy="3650456"/>
          </a:xfrm>
        </p:spPr>
        <p:txBody>
          <a:bodyPr/>
          <a:lstStyle/>
          <a:p>
            <a:r>
              <a:rPr lang="en-GB" altLang="en-US" sz="1600" dirty="0"/>
              <a:t>Top-down decomposition process</a:t>
            </a:r>
          </a:p>
          <a:p>
            <a:pPr lvl="1"/>
            <a:r>
              <a:rPr lang="en-US" altLang="en-US" sz="1400" dirty="0"/>
              <a:t>Start with high-level description</a:t>
            </a:r>
            <a:endParaRPr lang="en-GB" altLang="en-US" sz="1400" dirty="0"/>
          </a:p>
          <a:p>
            <a:pPr lvl="1"/>
            <a:r>
              <a:rPr lang="en-GB" altLang="en-US" sz="1400" dirty="0"/>
              <a:t>Iteratively design partition into lower-level descriptions</a:t>
            </a:r>
          </a:p>
          <a:p>
            <a:pPr lvl="1"/>
            <a:r>
              <a:rPr lang="en-GB" altLang="en-US" sz="1400" dirty="0"/>
              <a:t>Use projection to formally map original description into </a:t>
            </a:r>
            <a:r>
              <a:rPr lang="en-GB" altLang="en-US" sz="1400" dirty="0" err="1"/>
              <a:t>subcells</a:t>
            </a:r>
            <a:endParaRPr lang="en-GB" altLang="en-US" sz="1400" dirty="0"/>
          </a:p>
          <a:p>
            <a:pPr lvl="1"/>
            <a:r>
              <a:rPr lang="en-GB" altLang="en-US" sz="1400" dirty="0"/>
              <a:t>Use message-passing between </a:t>
            </a:r>
            <a:r>
              <a:rPr lang="en-GB" altLang="en-US" sz="1400" dirty="0" err="1"/>
              <a:t>subcells</a:t>
            </a:r>
            <a:endParaRPr lang="en-GB" altLang="en-US" sz="1400" dirty="0"/>
          </a:p>
          <a:p>
            <a:r>
              <a:rPr lang="en-GB" altLang="en-US" sz="1600" dirty="0"/>
              <a:t>Decomposition steered towards library cells:</a:t>
            </a:r>
          </a:p>
          <a:p>
            <a:pPr lvl="2"/>
            <a:r>
              <a:rPr lang="en-GB" altLang="en-US" sz="1400" dirty="0"/>
              <a:t>E.g., Logic functions, Arithmetic functions</a:t>
            </a:r>
          </a:p>
          <a:p>
            <a:pPr lvl="2"/>
            <a:r>
              <a:rPr lang="en-GB" altLang="en-US" sz="1400" dirty="0"/>
              <a:t>Crossbars, SRAMs, TCAMs</a:t>
            </a:r>
          </a:p>
          <a:p>
            <a:pPr lvl="2"/>
            <a:r>
              <a:rPr lang="en-GB" altLang="en-US" sz="1400" dirty="0"/>
              <a:t>Sometimes custom leaf-cells are needed</a:t>
            </a:r>
          </a:p>
          <a:p>
            <a:r>
              <a:rPr lang="en-GB" altLang="en-US" sz="1600" dirty="0"/>
              <a:t>Performance &amp; functionality checked at each stage of decomposition</a:t>
            </a:r>
          </a:p>
        </p:txBody>
      </p:sp>
      <p:grpSp>
        <p:nvGrpSpPr>
          <p:cNvPr id="20485" name="Group 1"/>
          <p:cNvGrpSpPr>
            <a:grpSpLocks/>
          </p:cNvGrpSpPr>
          <p:nvPr/>
        </p:nvGrpSpPr>
        <p:grpSpPr bwMode="auto">
          <a:xfrm>
            <a:off x="6036469" y="776288"/>
            <a:ext cx="1912144" cy="3779044"/>
            <a:chOff x="6525418" y="1035256"/>
            <a:chExt cx="2549525" cy="5038569"/>
          </a:xfrm>
        </p:grpSpPr>
        <p:sp>
          <p:nvSpPr>
            <p:cNvPr id="20487" name="Line 4"/>
            <p:cNvSpPr>
              <a:spLocks noChangeShapeType="1"/>
            </p:cNvSpPr>
            <p:nvPr/>
          </p:nvSpPr>
          <p:spPr bwMode="auto">
            <a:xfrm flipH="1">
              <a:off x="7824437" y="3256919"/>
              <a:ext cx="9680" cy="1569131"/>
            </a:xfrm>
            <a:prstGeom prst="line">
              <a:avLst/>
            </a:prstGeom>
            <a:noFill/>
            <a:ln w="76320">
              <a:solidFill>
                <a:srgbClr val="333333"/>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488" name="Line 4"/>
            <p:cNvSpPr>
              <a:spLocks noChangeShapeType="1"/>
            </p:cNvSpPr>
            <p:nvPr/>
          </p:nvSpPr>
          <p:spPr bwMode="auto">
            <a:xfrm flipH="1">
              <a:off x="7814757" y="1138443"/>
              <a:ext cx="9680" cy="1569131"/>
            </a:xfrm>
            <a:prstGeom prst="line">
              <a:avLst/>
            </a:prstGeom>
            <a:noFill/>
            <a:ln w="76320">
              <a:solidFill>
                <a:srgbClr val="333333"/>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489" name="Rectangle 7"/>
            <p:cNvSpPr>
              <a:spLocks noChangeArrowheads="1"/>
            </p:cNvSpPr>
            <p:nvPr/>
          </p:nvSpPr>
          <p:spPr bwMode="auto">
            <a:xfrm>
              <a:off x="6798469" y="1035256"/>
              <a:ext cx="2003425" cy="959799"/>
            </a:xfrm>
            <a:prstGeom prst="rect">
              <a:avLst/>
            </a:prstGeom>
            <a:solidFill>
              <a:srgbClr val="5F5892"/>
            </a:solidFill>
            <a:ln w="9360">
              <a:solidFill>
                <a:srgbClr val="000000"/>
              </a:solidFill>
              <a:miter lim="800000"/>
              <a:headEnd/>
              <a:tailEnd/>
            </a:ln>
          </p:spPr>
          <p:txBody>
            <a:bodyPr wrap="none" lIns="67500" tIns="35100" rIns="67500" bIns="351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9pPr>
            </a:lstStyle>
            <a:p>
              <a:pPr algn="ctr"/>
              <a:r>
                <a:rPr lang="en-GB" altLang="en-US" sz="1350">
                  <a:solidFill>
                    <a:srgbClr val="FFFFFF"/>
                  </a:solidFill>
                </a:rPr>
                <a:t>Top Level</a:t>
              </a:r>
            </a:p>
            <a:p>
              <a:pPr algn="ctr"/>
              <a:r>
                <a:rPr lang="en-GB" altLang="en-US" sz="1350">
                  <a:solidFill>
                    <a:srgbClr val="FFFFFF"/>
                  </a:solidFill>
                </a:rPr>
                <a:t>CSP</a:t>
              </a:r>
            </a:p>
          </p:txBody>
        </p:sp>
        <p:sp>
          <p:nvSpPr>
            <p:cNvPr id="20490" name="Rectangle 9"/>
            <p:cNvSpPr>
              <a:spLocks noChangeArrowheads="1"/>
            </p:cNvSpPr>
            <p:nvPr/>
          </p:nvSpPr>
          <p:spPr bwMode="auto">
            <a:xfrm>
              <a:off x="6525418" y="2724244"/>
              <a:ext cx="2549525" cy="1389062"/>
            </a:xfrm>
            <a:prstGeom prst="rect">
              <a:avLst/>
            </a:prstGeom>
            <a:solidFill>
              <a:srgbClr val="D9D9D9"/>
            </a:solidFill>
            <a:ln w="9360">
              <a:solidFill>
                <a:srgbClr val="000000"/>
              </a:solidFill>
              <a:miter lim="800000"/>
              <a:headEnd/>
              <a:tailEnd/>
            </a:ln>
            <a:effectLst>
              <a:outerShdw dist="36147" dir="2700000" algn="ctr" rotWithShape="0">
                <a:srgbClr val="808080"/>
              </a:outerShdw>
            </a:effectLst>
          </p:spPr>
          <p:txBody>
            <a:bodyPr wrap="none" anchor="ct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endParaRPr lang="en-US" altLang="en-US" sz="1350"/>
            </a:p>
          </p:txBody>
        </p:sp>
        <p:sp>
          <p:nvSpPr>
            <p:cNvPr id="20491" name="Rectangle 10"/>
            <p:cNvSpPr>
              <a:spLocks noChangeArrowheads="1"/>
            </p:cNvSpPr>
            <p:nvPr/>
          </p:nvSpPr>
          <p:spPr bwMode="auto">
            <a:xfrm>
              <a:off x="6700042" y="2819494"/>
              <a:ext cx="879476" cy="474662"/>
            </a:xfrm>
            <a:prstGeom prst="rect">
              <a:avLst/>
            </a:prstGeom>
            <a:solidFill>
              <a:srgbClr val="5F5892"/>
            </a:solidFill>
            <a:ln w="9360">
              <a:solidFill>
                <a:srgbClr val="000000"/>
              </a:solidFill>
              <a:miter lim="800000"/>
              <a:headEnd/>
              <a:tailEnd/>
            </a:ln>
          </p:spPr>
          <p:txBody>
            <a:bodyPr wrap="none" lIns="67500" tIns="35100" rIns="67500" bIns="351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9pPr>
            </a:lstStyle>
            <a:p>
              <a:pPr algn="ctr"/>
              <a:r>
                <a:rPr lang="en-GB" altLang="en-US" sz="1350">
                  <a:solidFill>
                    <a:srgbClr val="FFFFFF"/>
                  </a:solidFill>
                </a:rPr>
                <a:t>A</a:t>
              </a:r>
            </a:p>
          </p:txBody>
        </p:sp>
        <p:sp>
          <p:nvSpPr>
            <p:cNvPr id="20492" name="Rectangle 11"/>
            <p:cNvSpPr>
              <a:spLocks noChangeArrowheads="1"/>
            </p:cNvSpPr>
            <p:nvPr/>
          </p:nvSpPr>
          <p:spPr bwMode="auto">
            <a:xfrm>
              <a:off x="6700042" y="3529106"/>
              <a:ext cx="890587" cy="474663"/>
            </a:xfrm>
            <a:prstGeom prst="rect">
              <a:avLst/>
            </a:prstGeom>
            <a:solidFill>
              <a:srgbClr val="5F5892"/>
            </a:solidFill>
            <a:ln w="9360">
              <a:solidFill>
                <a:srgbClr val="000000"/>
              </a:solidFill>
              <a:miter lim="800000"/>
              <a:headEnd/>
              <a:tailEnd/>
            </a:ln>
          </p:spPr>
          <p:txBody>
            <a:bodyPr wrap="none" lIns="67500" tIns="35100" rIns="67500" bIns="351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9pPr>
            </a:lstStyle>
            <a:p>
              <a:pPr algn="ctr"/>
              <a:r>
                <a:rPr lang="en-GB" altLang="en-US" sz="1350">
                  <a:solidFill>
                    <a:srgbClr val="FFFFFF"/>
                  </a:solidFill>
                </a:rPr>
                <a:t>B</a:t>
              </a:r>
            </a:p>
          </p:txBody>
        </p:sp>
        <p:sp>
          <p:nvSpPr>
            <p:cNvPr id="20493" name="Rectangle 12"/>
            <p:cNvSpPr>
              <a:spLocks noChangeArrowheads="1"/>
            </p:cNvSpPr>
            <p:nvPr/>
          </p:nvSpPr>
          <p:spPr bwMode="auto">
            <a:xfrm>
              <a:off x="7924005" y="2898869"/>
              <a:ext cx="914400" cy="1066800"/>
            </a:xfrm>
            <a:prstGeom prst="rect">
              <a:avLst/>
            </a:prstGeom>
            <a:solidFill>
              <a:srgbClr val="5F5892"/>
            </a:solidFill>
            <a:ln w="9360">
              <a:solidFill>
                <a:srgbClr val="000000"/>
              </a:solidFill>
              <a:miter lim="800000"/>
              <a:headEnd/>
              <a:tailEnd/>
            </a:ln>
          </p:spPr>
          <p:txBody>
            <a:bodyPr wrap="none" lIns="67500" tIns="35100" rIns="67500" bIns="351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Helvetica" panose="020B0604020202020204" pitchFamily="34" charset="0"/>
                </a:defRPr>
              </a:lvl9pPr>
            </a:lstStyle>
            <a:p>
              <a:pPr algn="ctr"/>
              <a:r>
                <a:rPr lang="en-GB" altLang="en-US" sz="1350">
                  <a:solidFill>
                    <a:srgbClr val="FFFFFF"/>
                  </a:solidFill>
                </a:rPr>
                <a:t>C</a:t>
              </a:r>
            </a:p>
          </p:txBody>
        </p:sp>
        <p:sp>
          <p:nvSpPr>
            <p:cNvPr id="20494" name="Line 13"/>
            <p:cNvSpPr>
              <a:spLocks noChangeShapeType="1"/>
            </p:cNvSpPr>
            <p:nvPr/>
          </p:nvSpPr>
          <p:spPr bwMode="auto">
            <a:xfrm>
              <a:off x="7579518" y="2938556"/>
              <a:ext cx="344487" cy="95250"/>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495" name="Line 14"/>
            <p:cNvSpPr>
              <a:spLocks noChangeShapeType="1"/>
            </p:cNvSpPr>
            <p:nvPr/>
          </p:nvSpPr>
          <p:spPr bwMode="auto">
            <a:xfrm flipV="1">
              <a:off x="7590630" y="3791044"/>
              <a:ext cx="333375" cy="74612"/>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496" name="Line 15"/>
            <p:cNvSpPr>
              <a:spLocks noChangeShapeType="1"/>
            </p:cNvSpPr>
            <p:nvPr/>
          </p:nvSpPr>
          <p:spPr bwMode="auto">
            <a:xfrm flipH="1">
              <a:off x="7589043" y="3579906"/>
              <a:ext cx="347662" cy="71438"/>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497" name="Line 16"/>
            <p:cNvSpPr>
              <a:spLocks noChangeShapeType="1"/>
            </p:cNvSpPr>
            <p:nvPr/>
          </p:nvSpPr>
          <p:spPr bwMode="auto">
            <a:xfrm flipH="1" flipV="1">
              <a:off x="7577930" y="3151281"/>
              <a:ext cx="347663" cy="74613"/>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498" name="Line 17"/>
            <p:cNvSpPr>
              <a:spLocks noChangeShapeType="1"/>
            </p:cNvSpPr>
            <p:nvPr/>
          </p:nvSpPr>
          <p:spPr bwMode="auto">
            <a:xfrm>
              <a:off x="7139781" y="3276776"/>
              <a:ext cx="1587" cy="238125"/>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499" name="Rectangle 19"/>
            <p:cNvSpPr>
              <a:spLocks noChangeArrowheads="1"/>
            </p:cNvSpPr>
            <p:nvPr/>
          </p:nvSpPr>
          <p:spPr bwMode="auto">
            <a:xfrm>
              <a:off x="6700042" y="4826050"/>
              <a:ext cx="2228850" cy="1247775"/>
            </a:xfrm>
            <a:prstGeom prst="rect">
              <a:avLst/>
            </a:prstGeom>
            <a:solidFill>
              <a:srgbClr val="D9D9D9"/>
            </a:solidFill>
            <a:ln w="9360">
              <a:solidFill>
                <a:srgbClr val="000000"/>
              </a:solidFill>
              <a:miter lim="800000"/>
              <a:headEnd/>
              <a:tailEnd/>
            </a:ln>
            <a:effectLst>
              <a:outerShdw dist="36147" dir="2700000" algn="ctr" rotWithShape="0">
                <a:srgbClr val="808080"/>
              </a:outerShdw>
            </a:effectLst>
          </p:spPr>
          <p:txBody>
            <a:bodyPr wrap="none" anchor="ct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endParaRPr lang="en-US" altLang="en-US" sz="1800"/>
            </a:p>
          </p:txBody>
        </p:sp>
        <p:sp>
          <p:nvSpPr>
            <p:cNvPr id="20500" name="Rectangle 21"/>
            <p:cNvSpPr>
              <a:spLocks noChangeArrowheads="1"/>
            </p:cNvSpPr>
            <p:nvPr/>
          </p:nvSpPr>
          <p:spPr bwMode="auto">
            <a:xfrm>
              <a:off x="6817517" y="4970512"/>
              <a:ext cx="355600" cy="320675"/>
            </a:xfrm>
            <a:prstGeom prst="rect">
              <a:avLst/>
            </a:prstGeom>
            <a:solidFill>
              <a:srgbClr val="5F5892"/>
            </a:solidFill>
            <a:ln w="9360">
              <a:solidFill>
                <a:srgbClr val="000000"/>
              </a:solidFill>
              <a:miter lim="800000"/>
              <a:headEnd/>
              <a:tailEnd/>
            </a:ln>
          </p:spPr>
          <p:txBody>
            <a:bodyPr wrap="none" anchor="ct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endParaRPr lang="en-US" altLang="en-US" sz="1800">
                <a:solidFill>
                  <a:srgbClr val="000000"/>
                </a:solidFill>
              </a:endParaRPr>
            </a:p>
          </p:txBody>
        </p:sp>
        <p:sp>
          <p:nvSpPr>
            <p:cNvPr id="20501" name="Rectangle 23"/>
            <p:cNvSpPr>
              <a:spLocks noChangeArrowheads="1"/>
            </p:cNvSpPr>
            <p:nvPr/>
          </p:nvSpPr>
          <p:spPr bwMode="auto">
            <a:xfrm>
              <a:off x="6836567" y="5583287"/>
              <a:ext cx="355600" cy="320675"/>
            </a:xfrm>
            <a:prstGeom prst="rect">
              <a:avLst/>
            </a:prstGeom>
            <a:solidFill>
              <a:srgbClr val="5F5892"/>
            </a:solidFill>
            <a:ln w="9360">
              <a:solidFill>
                <a:srgbClr val="000000"/>
              </a:solidFill>
              <a:miter lim="800000"/>
              <a:headEnd/>
              <a:tailEnd/>
            </a:ln>
          </p:spPr>
          <p:txBody>
            <a:bodyPr wrap="none" anchor="ct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endParaRPr lang="en-US" altLang="en-US" sz="1800">
                <a:solidFill>
                  <a:srgbClr val="000000"/>
                </a:solidFill>
              </a:endParaRPr>
            </a:p>
          </p:txBody>
        </p:sp>
        <p:sp>
          <p:nvSpPr>
            <p:cNvPr id="20502" name="Rectangle 24"/>
            <p:cNvSpPr>
              <a:spLocks noChangeArrowheads="1"/>
            </p:cNvSpPr>
            <p:nvPr/>
          </p:nvSpPr>
          <p:spPr bwMode="auto">
            <a:xfrm>
              <a:off x="7558879" y="4964162"/>
              <a:ext cx="355600" cy="320675"/>
            </a:xfrm>
            <a:prstGeom prst="rect">
              <a:avLst/>
            </a:prstGeom>
            <a:solidFill>
              <a:srgbClr val="5F5892"/>
            </a:solidFill>
            <a:ln w="9360">
              <a:solidFill>
                <a:srgbClr val="000000"/>
              </a:solidFill>
              <a:miter lim="800000"/>
              <a:headEnd/>
              <a:tailEnd/>
            </a:ln>
          </p:spPr>
          <p:txBody>
            <a:bodyPr wrap="none" anchor="ct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endParaRPr lang="en-US" altLang="en-US" sz="1800">
                <a:solidFill>
                  <a:srgbClr val="000000"/>
                </a:solidFill>
              </a:endParaRPr>
            </a:p>
          </p:txBody>
        </p:sp>
        <p:sp>
          <p:nvSpPr>
            <p:cNvPr id="20503" name="Rectangle 25"/>
            <p:cNvSpPr>
              <a:spLocks noChangeArrowheads="1"/>
            </p:cNvSpPr>
            <p:nvPr/>
          </p:nvSpPr>
          <p:spPr bwMode="auto">
            <a:xfrm>
              <a:off x="8198642" y="4975275"/>
              <a:ext cx="509587" cy="925512"/>
            </a:xfrm>
            <a:prstGeom prst="rect">
              <a:avLst/>
            </a:prstGeom>
            <a:solidFill>
              <a:srgbClr val="5F5892"/>
            </a:solidFill>
            <a:ln w="9360">
              <a:solidFill>
                <a:srgbClr val="000000"/>
              </a:solidFill>
              <a:miter lim="800000"/>
              <a:headEnd/>
              <a:tailEnd/>
            </a:ln>
          </p:spPr>
          <p:txBody>
            <a:bodyPr wrap="none" anchor="ct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endParaRPr lang="en-US" altLang="en-US" sz="1800">
                <a:solidFill>
                  <a:srgbClr val="000000"/>
                </a:solidFill>
              </a:endParaRPr>
            </a:p>
          </p:txBody>
        </p:sp>
        <p:sp>
          <p:nvSpPr>
            <p:cNvPr id="20504" name="Rectangle 26"/>
            <p:cNvSpPr>
              <a:spLocks noChangeArrowheads="1"/>
            </p:cNvSpPr>
            <p:nvPr/>
          </p:nvSpPr>
          <p:spPr bwMode="auto">
            <a:xfrm>
              <a:off x="7568404" y="5591225"/>
              <a:ext cx="355600" cy="320675"/>
            </a:xfrm>
            <a:prstGeom prst="rect">
              <a:avLst/>
            </a:prstGeom>
            <a:solidFill>
              <a:srgbClr val="5F5892"/>
            </a:solidFill>
            <a:ln w="9360">
              <a:solidFill>
                <a:srgbClr val="000000"/>
              </a:solidFill>
              <a:miter lim="800000"/>
              <a:headEnd/>
              <a:tailEnd/>
            </a:ln>
          </p:spPr>
          <p:txBody>
            <a:bodyPr wrap="none" anchor="ct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endParaRPr lang="en-US" altLang="en-US" sz="1800">
                <a:solidFill>
                  <a:srgbClr val="000000"/>
                </a:solidFill>
              </a:endParaRPr>
            </a:p>
          </p:txBody>
        </p:sp>
        <p:sp>
          <p:nvSpPr>
            <p:cNvPr id="20505" name="Line 27"/>
            <p:cNvSpPr>
              <a:spLocks noChangeShapeType="1"/>
            </p:cNvSpPr>
            <p:nvPr/>
          </p:nvSpPr>
          <p:spPr bwMode="auto">
            <a:xfrm>
              <a:off x="7924004" y="5138787"/>
              <a:ext cx="271463" cy="1588"/>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506" name="Line 28"/>
            <p:cNvSpPr>
              <a:spLocks noChangeShapeType="1"/>
            </p:cNvSpPr>
            <p:nvPr/>
          </p:nvSpPr>
          <p:spPr bwMode="auto">
            <a:xfrm flipH="1">
              <a:off x="7909717" y="5743625"/>
              <a:ext cx="276225" cy="1587"/>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507" name="Line 29"/>
            <p:cNvSpPr>
              <a:spLocks noChangeShapeType="1"/>
            </p:cNvSpPr>
            <p:nvPr/>
          </p:nvSpPr>
          <p:spPr bwMode="auto">
            <a:xfrm>
              <a:off x="7174704" y="5126087"/>
              <a:ext cx="379413" cy="1588"/>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508" name="Line 31"/>
            <p:cNvSpPr>
              <a:spLocks noChangeShapeType="1"/>
            </p:cNvSpPr>
            <p:nvPr/>
          </p:nvSpPr>
          <p:spPr bwMode="auto">
            <a:xfrm>
              <a:off x="7803354" y="5280075"/>
              <a:ext cx="1588" cy="309562"/>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509" name="Line 35"/>
            <p:cNvSpPr>
              <a:spLocks noChangeShapeType="1"/>
            </p:cNvSpPr>
            <p:nvPr/>
          </p:nvSpPr>
          <p:spPr bwMode="auto">
            <a:xfrm>
              <a:off x="7187404" y="5802362"/>
              <a:ext cx="379413" cy="1588"/>
            </a:xfrm>
            <a:prstGeom prst="line">
              <a:avLst/>
            </a:prstGeom>
            <a:noFill/>
            <a:ln w="936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sz="1350"/>
            </a:p>
          </p:txBody>
        </p:sp>
        <p:sp>
          <p:nvSpPr>
            <p:cNvPr id="20510" name="Freeform 36"/>
            <p:cNvSpPr>
              <a:spLocks/>
            </p:cNvSpPr>
            <p:nvPr/>
          </p:nvSpPr>
          <p:spPr bwMode="auto">
            <a:xfrm>
              <a:off x="7176292" y="5280075"/>
              <a:ext cx="474662" cy="403225"/>
            </a:xfrm>
            <a:custGeom>
              <a:avLst/>
              <a:gdLst>
                <a:gd name="T0" fmla="*/ 2147483646 w 299"/>
                <a:gd name="T1" fmla="*/ 0 h 254"/>
                <a:gd name="T2" fmla="*/ 2147483646 w 299"/>
                <a:gd name="T3" fmla="*/ 2147483646 h 254"/>
                <a:gd name="T4" fmla="*/ 2147483646 w 299"/>
                <a:gd name="T5" fmla="*/ 2147483646 h 254"/>
                <a:gd name="T6" fmla="*/ 2147483646 w 299"/>
                <a:gd name="T7" fmla="*/ 2147483646 h 254"/>
                <a:gd name="T8" fmla="*/ 0 w 299"/>
                <a:gd name="T9" fmla="*/ 2147483646 h 254"/>
                <a:gd name="T10" fmla="*/ 0 60000 65536"/>
                <a:gd name="T11" fmla="*/ 0 60000 65536"/>
                <a:gd name="T12" fmla="*/ 0 60000 65536"/>
                <a:gd name="T13" fmla="*/ 0 60000 65536"/>
                <a:gd name="T14" fmla="*/ 0 60000 65536"/>
                <a:gd name="T15" fmla="*/ 0 w 299"/>
                <a:gd name="T16" fmla="*/ 0 h 254"/>
                <a:gd name="T17" fmla="*/ 299 w 299"/>
                <a:gd name="T18" fmla="*/ 254 h 254"/>
              </a:gdLst>
              <a:ahLst/>
              <a:cxnLst>
                <a:cxn ang="T10">
                  <a:pos x="T0" y="T1"/>
                </a:cxn>
                <a:cxn ang="T11">
                  <a:pos x="T2" y="T3"/>
                </a:cxn>
                <a:cxn ang="T12">
                  <a:pos x="T4" y="T5"/>
                </a:cxn>
                <a:cxn ang="T13">
                  <a:pos x="T6" y="T7"/>
                </a:cxn>
                <a:cxn ang="T14">
                  <a:pos x="T8" y="T9"/>
                </a:cxn>
              </a:cxnLst>
              <a:rect l="T15" t="T16" r="T17" b="T18"/>
              <a:pathLst>
                <a:path w="299" h="254">
                  <a:moveTo>
                    <a:pt x="299" y="0"/>
                  </a:moveTo>
                  <a:lnTo>
                    <a:pt x="298" y="75"/>
                  </a:lnTo>
                  <a:lnTo>
                    <a:pt x="141" y="75"/>
                  </a:lnTo>
                  <a:lnTo>
                    <a:pt x="141" y="254"/>
                  </a:lnTo>
                  <a:lnTo>
                    <a:pt x="0" y="254"/>
                  </a:lnTo>
                </a:path>
              </a:pathLst>
            </a:custGeom>
            <a:noFill/>
            <a:ln w="9360">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sz="1350"/>
            </a:p>
          </p:txBody>
        </p:sp>
      </p:grpSp>
      <p:sp>
        <p:nvSpPr>
          <p:cNvPr id="20486"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00" b="1">
                <a:solidFill>
                  <a:schemeClr val="tx1"/>
                </a:solidFill>
                <a:latin typeface="Helvetica" panose="020B0604020202020204" pitchFamily="34" charset="0"/>
              </a:defRPr>
            </a:lvl1pPr>
            <a:lvl2pPr marL="557213" indent="-214313">
              <a:defRPr sz="1800" b="1">
                <a:solidFill>
                  <a:schemeClr val="tx1"/>
                </a:solidFill>
                <a:latin typeface="Helvetica" panose="020B0604020202020204" pitchFamily="34" charset="0"/>
              </a:defRPr>
            </a:lvl2pPr>
            <a:lvl3pPr marL="857250" indent="-171450">
              <a:defRPr sz="1800" b="1">
                <a:solidFill>
                  <a:schemeClr val="tx1"/>
                </a:solidFill>
                <a:latin typeface="Helvetica" panose="020B0604020202020204" pitchFamily="34" charset="0"/>
              </a:defRPr>
            </a:lvl3pPr>
            <a:lvl4pPr marL="1200150" indent="-171450">
              <a:defRPr sz="1800" b="1">
                <a:solidFill>
                  <a:schemeClr val="tx1"/>
                </a:solidFill>
                <a:latin typeface="Helvetica" panose="020B0604020202020204" pitchFamily="34" charset="0"/>
              </a:defRPr>
            </a:lvl4pPr>
            <a:lvl5pPr marL="1543050" indent="-171450">
              <a:defRPr sz="1800" b="1">
                <a:solidFill>
                  <a:schemeClr val="tx1"/>
                </a:solidFill>
                <a:latin typeface="Helvetica" panose="020B0604020202020204" pitchFamily="34" charset="0"/>
              </a:defRPr>
            </a:lvl5pPr>
            <a:lvl6pPr marL="1885950" indent="-171450" eaLnBrk="0" fontAlgn="base" hangingPunct="0">
              <a:spcBef>
                <a:spcPct val="0"/>
              </a:spcBef>
              <a:spcAft>
                <a:spcPct val="0"/>
              </a:spcAft>
              <a:defRPr sz="1800" b="1">
                <a:solidFill>
                  <a:schemeClr val="tx1"/>
                </a:solidFill>
                <a:latin typeface="Helvetica" panose="020B0604020202020204" pitchFamily="34" charset="0"/>
              </a:defRPr>
            </a:lvl6pPr>
            <a:lvl7pPr marL="2228850" indent="-171450" eaLnBrk="0" fontAlgn="base" hangingPunct="0">
              <a:spcBef>
                <a:spcPct val="0"/>
              </a:spcBef>
              <a:spcAft>
                <a:spcPct val="0"/>
              </a:spcAft>
              <a:defRPr sz="1800" b="1">
                <a:solidFill>
                  <a:schemeClr val="tx1"/>
                </a:solidFill>
                <a:latin typeface="Helvetica" panose="020B0604020202020204" pitchFamily="34" charset="0"/>
              </a:defRPr>
            </a:lvl7pPr>
            <a:lvl8pPr marL="2571750" indent="-171450" eaLnBrk="0" fontAlgn="base" hangingPunct="0">
              <a:spcBef>
                <a:spcPct val="0"/>
              </a:spcBef>
              <a:spcAft>
                <a:spcPct val="0"/>
              </a:spcAft>
              <a:defRPr sz="1800" b="1">
                <a:solidFill>
                  <a:schemeClr val="tx1"/>
                </a:solidFill>
                <a:latin typeface="Helvetica" panose="020B0604020202020204" pitchFamily="34" charset="0"/>
              </a:defRPr>
            </a:lvl8pPr>
            <a:lvl9pPr marL="2914650" indent="-171450" eaLnBrk="0" fontAlgn="base" hangingPunct="0">
              <a:spcBef>
                <a:spcPct val="0"/>
              </a:spcBef>
              <a:spcAft>
                <a:spcPct val="0"/>
              </a:spcAft>
              <a:defRPr sz="1800" b="1">
                <a:solidFill>
                  <a:schemeClr val="tx1"/>
                </a:solidFill>
                <a:latin typeface="Helvetica" panose="020B0604020202020204" pitchFamily="34" charset="0"/>
              </a:defRPr>
            </a:lvl9pPr>
          </a:lstStyle>
          <a:p>
            <a:fld id="{3F6A5210-617E-4123-97B0-5BF42D0EB6D6}" type="slidenum">
              <a:rPr lang="en-US" altLang="en-US" sz="600">
                <a:solidFill>
                  <a:srgbClr val="FFFFFF"/>
                </a:solidFill>
                <a:latin typeface="Verdana" panose="020B0604030504040204" pitchFamily="34" charset="0"/>
              </a:rPr>
              <a:pPr/>
              <a:t>6</a:t>
            </a:fld>
            <a:endParaRPr lang="en-US" altLang="en-US" sz="600">
              <a:solidFill>
                <a:srgbClr val="FFFFFF"/>
              </a:solidFill>
              <a:latin typeface="Verdana" panose="020B0604030504040204" pitchFamily="34" charset="0"/>
            </a:endParaRPr>
          </a:p>
        </p:txBody>
      </p:sp>
    </p:spTree>
    <p:extLst>
      <p:ext uri="{BB962C8B-B14F-4D97-AF65-F5344CB8AC3E}">
        <p14:creationId xmlns:p14="http://schemas.microsoft.com/office/powerpoint/2010/main" val="3475956399"/>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a:t>Communication as a Primitive</a:t>
            </a:r>
          </a:p>
        </p:txBody>
      </p:sp>
      <p:sp>
        <p:nvSpPr>
          <p:cNvPr id="21507" name="Content Placeholder 2"/>
          <p:cNvSpPr>
            <a:spLocks noGrp="1"/>
          </p:cNvSpPr>
          <p:nvPr>
            <p:ph idx="1"/>
          </p:nvPr>
        </p:nvSpPr>
        <p:spPr>
          <a:xfrm>
            <a:off x="1588294" y="995363"/>
            <a:ext cx="6147197" cy="3650456"/>
          </a:xfrm>
        </p:spPr>
        <p:txBody>
          <a:bodyPr/>
          <a:lstStyle/>
          <a:p>
            <a:pPr>
              <a:lnSpc>
                <a:spcPct val="80000"/>
              </a:lnSpc>
            </a:pPr>
            <a:r>
              <a:rPr lang="en-US" altLang="en-US" dirty="0"/>
              <a:t>Let </a:t>
            </a:r>
            <a:r>
              <a:rPr lang="en-US" altLang="en-US" dirty="0" err="1"/>
              <a:t>X?u</a:t>
            </a:r>
            <a:r>
              <a:rPr lang="en-US" altLang="en-US" dirty="0"/>
              <a:t> and </a:t>
            </a:r>
            <a:r>
              <a:rPr lang="en-US" altLang="en-US" dirty="0" err="1"/>
              <a:t>Y!v</a:t>
            </a:r>
            <a:r>
              <a:rPr lang="en-US" altLang="en-US" dirty="0"/>
              <a:t> be joined by a channel</a:t>
            </a:r>
          </a:p>
          <a:p>
            <a:pPr>
              <a:lnSpc>
                <a:spcPct val="80000"/>
              </a:lnSpc>
            </a:pPr>
            <a:r>
              <a:rPr lang="en-US" altLang="en-US" dirty="0"/>
              <a:t>Where u is a process variable, and</a:t>
            </a:r>
          </a:p>
          <a:p>
            <a:pPr>
              <a:lnSpc>
                <a:spcPct val="80000"/>
              </a:lnSpc>
            </a:pPr>
            <a:r>
              <a:rPr lang="en-US" altLang="en-US" dirty="0"/>
              <a:t>Where v is an expression of the same type as u.  </a:t>
            </a:r>
          </a:p>
          <a:p>
            <a:pPr>
              <a:lnSpc>
                <a:spcPct val="80000"/>
              </a:lnSpc>
            </a:pPr>
            <a:r>
              <a:rPr lang="en-US" altLang="en-US" dirty="0"/>
              <a:t>The communication implements the assignment u = v</a:t>
            </a:r>
          </a:p>
          <a:p>
            <a:endParaRPr lang="en-US" altLang="en-US" dirty="0"/>
          </a:p>
        </p:txBody>
      </p:sp>
      <p:sp>
        <p:nvSpPr>
          <p:cNvPr id="21511" name="Rectangle 7"/>
          <p:cNvSpPr>
            <a:spLocks noChangeArrowheads="1"/>
          </p:cNvSpPr>
          <p:nvPr/>
        </p:nvSpPr>
        <p:spPr bwMode="auto">
          <a:xfrm>
            <a:off x="142875" y="704850"/>
            <a:ext cx="885825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rIns="43349"/>
          <a:lstStyle>
            <a:lvl1pPr marL="266700" indent="-266700">
              <a:spcBef>
                <a:spcPts val="600"/>
              </a:spcBef>
              <a:buClr>
                <a:schemeClr val="tx1"/>
              </a:buClr>
              <a:buFont typeface="Arial" panose="020B0604020202020204" pitchFamily="34" charset="0"/>
              <a:buChar char="•"/>
              <a:defRPr sz="2000" b="1">
                <a:solidFill>
                  <a:schemeClr val="tx1"/>
                </a:solidFill>
                <a:latin typeface="Verdana" panose="020B0604030504040204" pitchFamily="34" charset="0"/>
              </a:defRPr>
            </a:lvl1pPr>
            <a:lvl2pPr marL="711200" indent="-266700">
              <a:spcBef>
                <a:spcPts val="600"/>
              </a:spcBef>
              <a:buFont typeface="Arial" panose="020B0604020202020204" pitchFamily="34" charset="0"/>
              <a:buChar char="−"/>
              <a:defRPr>
                <a:solidFill>
                  <a:schemeClr val="tx1"/>
                </a:solidFill>
                <a:latin typeface="Verdana" panose="020B0604030504040204" pitchFamily="34" charset="0"/>
              </a:defRPr>
            </a:lvl2pPr>
            <a:lvl3pPr marL="1155700" indent="-266700">
              <a:spcBef>
                <a:spcPts val="600"/>
              </a:spcBef>
              <a:buFont typeface="Verdana" panose="020B0604030504040204" pitchFamily="34" charset="0"/>
              <a:buChar char="−"/>
              <a:defRPr>
                <a:solidFill>
                  <a:schemeClr val="tx1"/>
                </a:solidFill>
                <a:latin typeface="Verdana" panose="020B0604030504040204" pitchFamily="34" charset="0"/>
              </a:defRPr>
            </a:lvl3pPr>
            <a:lvl4pPr marL="1600200" indent="-266700">
              <a:spcBef>
                <a:spcPts val="600"/>
              </a:spcBef>
              <a:buFont typeface="Arial" panose="020B0604020202020204" pitchFamily="34" charset="0"/>
              <a:buChar char="−"/>
              <a:defRPr>
                <a:solidFill>
                  <a:schemeClr val="tx1"/>
                </a:solidFill>
                <a:latin typeface="Verdana" panose="020B0604030504040204" pitchFamily="34" charset="0"/>
              </a:defRPr>
            </a:lvl4pPr>
            <a:lvl5pPr marL="2044700" indent="-266700">
              <a:spcBef>
                <a:spcPts val="600"/>
              </a:spcBef>
              <a:buFont typeface="Verdana" panose="020B0604030504040204" pitchFamily="34" charset="0"/>
              <a:buChar char="−"/>
              <a:defRPr>
                <a:solidFill>
                  <a:schemeClr val="tx1"/>
                </a:solidFill>
                <a:latin typeface="Verdana" panose="020B0604030504040204" pitchFamily="34" charset="0"/>
              </a:defRPr>
            </a:lvl5pPr>
            <a:lvl6pPr marL="2501900" indent="-2667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6pPr>
            <a:lvl7pPr marL="2959100" indent="-2667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7pPr>
            <a:lvl8pPr marL="3416300" indent="-2667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8pPr>
            <a:lvl9pPr marL="3873500" indent="-2667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9pPr>
          </a:lstStyle>
          <a:p>
            <a:pPr>
              <a:lnSpc>
                <a:spcPct val="80000"/>
              </a:lnSpc>
              <a:buClr>
                <a:srgbClr val="747474"/>
              </a:buClr>
              <a:buFont typeface="Helvetica Neue"/>
              <a:buChar char="•"/>
            </a:pPr>
            <a:endParaRPr lang="en-US" altLang="en-US" sz="1950">
              <a:solidFill>
                <a:srgbClr val="747474"/>
              </a:solidFill>
              <a:sym typeface="Helvetica Neue"/>
            </a:endParaRPr>
          </a:p>
        </p:txBody>
      </p:sp>
      <p:sp>
        <p:nvSpPr>
          <p:cNvPr id="21512"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00" b="1">
                <a:solidFill>
                  <a:schemeClr val="tx1"/>
                </a:solidFill>
                <a:latin typeface="Helvetica" panose="020B0604020202020204" pitchFamily="34" charset="0"/>
              </a:defRPr>
            </a:lvl1pPr>
            <a:lvl2pPr marL="557213" indent="-214313">
              <a:defRPr sz="1800" b="1">
                <a:solidFill>
                  <a:schemeClr val="tx1"/>
                </a:solidFill>
                <a:latin typeface="Helvetica" panose="020B0604020202020204" pitchFamily="34" charset="0"/>
              </a:defRPr>
            </a:lvl2pPr>
            <a:lvl3pPr marL="857250" indent="-171450">
              <a:defRPr sz="1800" b="1">
                <a:solidFill>
                  <a:schemeClr val="tx1"/>
                </a:solidFill>
                <a:latin typeface="Helvetica" panose="020B0604020202020204" pitchFamily="34" charset="0"/>
              </a:defRPr>
            </a:lvl3pPr>
            <a:lvl4pPr marL="1200150" indent="-171450">
              <a:defRPr sz="1800" b="1">
                <a:solidFill>
                  <a:schemeClr val="tx1"/>
                </a:solidFill>
                <a:latin typeface="Helvetica" panose="020B0604020202020204" pitchFamily="34" charset="0"/>
              </a:defRPr>
            </a:lvl4pPr>
            <a:lvl5pPr marL="1543050" indent="-171450">
              <a:defRPr sz="1800" b="1">
                <a:solidFill>
                  <a:schemeClr val="tx1"/>
                </a:solidFill>
                <a:latin typeface="Helvetica" panose="020B0604020202020204" pitchFamily="34" charset="0"/>
              </a:defRPr>
            </a:lvl5pPr>
            <a:lvl6pPr marL="1885950" indent="-171450" eaLnBrk="0" fontAlgn="base" hangingPunct="0">
              <a:spcBef>
                <a:spcPct val="0"/>
              </a:spcBef>
              <a:spcAft>
                <a:spcPct val="0"/>
              </a:spcAft>
              <a:defRPr sz="1800" b="1">
                <a:solidFill>
                  <a:schemeClr val="tx1"/>
                </a:solidFill>
                <a:latin typeface="Helvetica" panose="020B0604020202020204" pitchFamily="34" charset="0"/>
              </a:defRPr>
            </a:lvl6pPr>
            <a:lvl7pPr marL="2228850" indent="-171450" eaLnBrk="0" fontAlgn="base" hangingPunct="0">
              <a:spcBef>
                <a:spcPct val="0"/>
              </a:spcBef>
              <a:spcAft>
                <a:spcPct val="0"/>
              </a:spcAft>
              <a:defRPr sz="1800" b="1">
                <a:solidFill>
                  <a:schemeClr val="tx1"/>
                </a:solidFill>
                <a:latin typeface="Helvetica" panose="020B0604020202020204" pitchFamily="34" charset="0"/>
              </a:defRPr>
            </a:lvl7pPr>
            <a:lvl8pPr marL="2571750" indent="-171450" eaLnBrk="0" fontAlgn="base" hangingPunct="0">
              <a:spcBef>
                <a:spcPct val="0"/>
              </a:spcBef>
              <a:spcAft>
                <a:spcPct val="0"/>
              </a:spcAft>
              <a:defRPr sz="1800" b="1">
                <a:solidFill>
                  <a:schemeClr val="tx1"/>
                </a:solidFill>
                <a:latin typeface="Helvetica" panose="020B0604020202020204" pitchFamily="34" charset="0"/>
              </a:defRPr>
            </a:lvl8pPr>
            <a:lvl9pPr marL="2914650" indent="-171450" eaLnBrk="0" fontAlgn="base" hangingPunct="0">
              <a:spcBef>
                <a:spcPct val="0"/>
              </a:spcBef>
              <a:spcAft>
                <a:spcPct val="0"/>
              </a:spcAft>
              <a:defRPr sz="1800" b="1">
                <a:solidFill>
                  <a:schemeClr val="tx1"/>
                </a:solidFill>
                <a:latin typeface="Helvetica" panose="020B0604020202020204" pitchFamily="34" charset="0"/>
              </a:defRPr>
            </a:lvl9pPr>
          </a:lstStyle>
          <a:p>
            <a:fld id="{BBEEF175-8857-47D7-B0B5-12C5EBDA746A}" type="slidenum">
              <a:rPr lang="en-US" altLang="en-US" sz="600">
                <a:solidFill>
                  <a:srgbClr val="FFFFFF"/>
                </a:solidFill>
                <a:latin typeface="Verdana" panose="020B0604030504040204" pitchFamily="34" charset="0"/>
              </a:rPr>
              <a:pPr/>
              <a:t>7</a:t>
            </a:fld>
            <a:endParaRPr lang="en-US" altLang="en-US" sz="600">
              <a:solidFill>
                <a:srgbClr val="FFFFFF"/>
              </a:solidFill>
              <a:latin typeface="Verdana" panose="020B0604030504040204" pitchFamily="34" charset="0"/>
            </a:endParaRPr>
          </a:p>
        </p:txBody>
      </p:sp>
      <p:sp>
        <p:nvSpPr>
          <p:cNvPr id="2" name="Rectangle 1"/>
          <p:cNvSpPr/>
          <p:nvPr/>
        </p:nvSpPr>
        <p:spPr>
          <a:xfrm>
            <a:off x="2068749" y="2950724"/>
            <a:ext cx="1731523" cy="112840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SENDER</a:t>
            </a:r>
          </a:p>
        </p:txBody>
      </p:sp>
      <p:sp>
        <p:nvSpPr>
          <p:cNvPr id="10" name="Rectangle 9"/>
          <p:cNvSpPr/>
          <p:nvPr/>
        </p:nvSpPr>
        <p:spPr>
          <a:xfrm>
            <a:off x="5424791" y="2947482"/>
            <a:ext cx="1731523" cy="112840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RECEIVER</a:t>
            </a:r>
          </a:p>
        </p:txBody>
      </p:sp>
      <p:sp>
        <p:nvSpPr>
          <p:cNvPr id="21509" name="Rectangle 5"/>
          <p:cNvSpPr>
            <a:spLocks/>
          </p:cNvSpPr>
          <p:nvPr/>
        </p:nvSpPr>
        <p:spPr bwMode="auto">
          <a:xfrm>
            <a:off x="3276600" y="3019224"/>
            <a:ext cx="460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3349" bIns="0">
            <a:spAutoFit/>
          </a:bodyPr>
          <a:lstStyle>
            <a:lvl1pPr marL="57150">
              <a:spcBef>
                <a:spcPts val="600"/>
              </a:spcBef>
              <a:buClr>
                <a:schemeClr val="tx1"/>
              </a:buClr>
              <a:buFont typeface="Arial" panose="020B0604020202020204" pitchFamily="34" charset="0"/>
              <a:buChar char="•"/>
              <a:defRPr sz="2000" b="1">
                <a:solidFill>
                  <a:schemeClr val="tx1"/>
                </a:solidFill>
                <a:latin typeface="Verdana" panose="020B0604030504040204" pitchFamily="34" charset="0"/>
              </a:defRPr>
            </a:lvl1pPr>
            <a:lvl2pPr marL="400050" indent="-171450">
              <a:spcBef>
                <a:spcPts val="600"/>
              </a:spcBef>
              <a:buFont typeface="Arial" panose="020B0604020202020204" pitchFamily="34" charset="0"/>
              <a:buChar char="−"/>
              <a:defRPr>
                <a:solidFill>
                  <a:schemeClr val="tx1"/>
                </a:solidFill>
                <a:latin typeface="Verdana" panose="020B0604030504040204" pitchFamily="34" charset="0"/>
              </a:defRPr>
            </a:lvl2pPr>
            <a:lvl3pPr marL="628650" indent="-171450">
              <a:spcBef>
                <a:spcPts val="600"/>
              </a:spcBef>
              <a:buFont typeface="Verdana" panose="020B0604030504040204" pitchFamily="34" charset="0"/>
              <a:buChar char="−"/>
              <a:defRPr>
                <a:solidFill>
                  <a:schemeClr val="tx1"/>
                </a:solidFill>
                <a:latin typeface="Verdana" panose="020B0604030504040204" pitchFamily="34" charset="0"/>
              </a:defRPr>
            </a:lvl3pPr>
            <a:lvl4pPr marL="857250" indent="-171450">
              <a:spcBef>
                <a:spcPts val="600"/>
              </a:spcBef>
              <a:buFont typeface="Arial" panose="020B0604020202020204" pitchFamily="34" charset="0"/>
              <a:buChar char="−"/>
              <a:defRPr>
                <a:solidFill>
                  <a:schemeClr val="tx1"/>
                </a:solidFill>
                <a:latin typeface="Verdana" panose="020B0604030504040204" pitchFamily="34" charset="0"/>
              </a:defRPr>
            </a:lvl4pPr>
            <a:lvl5pPr marL="1085850" indent="-171450">
              <a:spcBef>
                <a:spcPts val="600"/>
              </a:spcBef>
              <a:buFont typeface="Verdana" panose="020B0604030504040204" pitchFamily="34" charset="0"/>
              <a:buChar char="−"/>
              <a:defRPr>
                <a:solidFill>
                  <a:schemeClr val="tx1"/>
                </a:solidFill>
                <a:latin typeface="Verdana" panose="020B0604030504040204" pitchFamily="34" charset="0"/>
              </a:defRPr>
            </a:lvl5pPr>
            <a:lvl6pPr marL="15430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6pPr>
            <a:lvl7pPr marL="20002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7pPr>
            <a:lvl8pPr marL="24574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8pPr>
            <a:lvl9pPr marL="29146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9pPr>
          </a:lstStyle>
          <a:p>
            <a:pPr>
              <a:spcBef>
                <a:spcPct val="0"/>
              </a:spcBef>
              <a:buClrTx/>
              <a:buFontTx/>
              <a:buNone/>
            </a:pPr>
            <a:r>
              <a:rPr lang="en-US" altLang="en-US" sz="1800" dirty="0" err="1">
                <a:solidFill>
                  <a:schemeClr val="bg1"/>
                </a:solidFill>
                <a:latin typeface="Arial" panose="020B0604020202020204" pitchFamily="34" charset="0"/>
                <a:ea typeface="ヒラギノ角ゴ ProN W3"/>
                <a:cs typeface="Arial" panose="020B0604020202020204" pitchFamily="34" charset="0"/>
                <a:sym typeface="Arial" panose="020B0604020202020204" pitchFamily="34" charset="0"/>
              </a:rPr>
              <a:t>Y!v</a:t>
            </a:r>
            <a:endParaRPr lang="en-US" altLang="en-US" sz="1800" dirty="0">
              <a:solidFill>
                <a:schemeClr val="bg1"/>
              </a:solidFill>
              <a:latin typeface="Arial" panose="020B0604020202020204" pitchFamily="34" charset="0"/>
              <a:ea typeface="ヒラギノ角ゴ ProN W3"/>
              <a:cs typeface="Arial" panose="020B0604020202020204" pitchFamily="34" charset="0"/>
              <a:sym typeface="Arial" panose="020B0604020202020204" pitchFamily="34" charset="0"/>
            </a:endParaRPr>
          </a:p>
        </p:txBody>
      </p:sp>
      <p:sp>
        <p:nvSpPr>
          <p:cNvPr id="21510" name="Rectangle 6"/>
          <p:cNvSpPr>
            <a:spLocks/>
          </p:cNvSpPr>
          <p:nvPr/>
        </p:nvSpPr>
        <p:spPr bwMode="auto">
          <a:xfrm>
            <a:off x="5458839" y="2986798"/>
            <a:ext cx="5374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3349" bIns="0">
            <a:spAutoFit/>
          </a:bodyPr>
          <a:lstStyle>
            <a:lvl1pPr marL="57150">
              <a:spcBef>
                <a:spcPts val="600"/>
              </a:spcBef>
              <a:buClr>
                <a:schemeClr val="tx1"/>
              </a:buClr>
              <a:buFont typeface="Arial" panose="020B0604020202020204" pitchFamily="34" charset="0"/>
              <a:buChar char="•"/>
              <a:defRPr sz="2000" b="1">
                <a:solidFill>
                  <a:schemeClr val="tx1"/>
                </a:solidFill>
                <a:latin typeface="Verdana" panose="020B0604030504040204" pitchFamily="34" charset="0"/>
              </a:defRPr>
            </a:lvl1pPr>
            <a:lvl2pPr marL="400050" indent="-171450">
              <a:spcBef>
                <a:spcPts val="600"/>
              </a:spcBef>
              <a:buFont typeface="Arial" panose="020B0604020202020204" pitchFamily="34" charset="0"/>
              <a:buChar char="−"/>
              <a:defRPr>
                <a:solidFill>
                  <a:schemeClr val="tx1"/>
                </a:solidFill>
                <a:latin typeface="Verdana" panose="020B0604030504040204" pitchFamily="34" charset="0"/>
              </a:defRPr>
            </a:lvl2pPr>
            <a:lvl3pPr marL="628650" indent="-171450">
              <a:spcBef>
                <a:spcPts val="600"/>
              </a:spcBef>
              <a:buFont typeface="Verdana" panose="020B0604030504040204" pitchFamily="34" charset="0"/>
              <a:buChar char="−"/>
              <a:defRPr>
                <a:solidFill>
                  <a:schemeClr val="tx1"/>
                </a:solidFill>
                <a:latin typeface="Verdana" panose="020B0604030504040204" pitchFamily="34" charset="0"/>
              </a:defRPr>
            </a:lvl3pPr>
            <a:lvl4pPr marL="857250" indent="-171450">
              <a:spcBef>
                <a:spcPts val="600"/>
              </a:spcBef>
              <a:buFont typeface="Arial" panose="020B0604020202020204" pitchFamily="34" charset="0"/>
              <a:buChar char="−"/>
              <a:defRPr>
                <a:solidFill>
                  <a:schemeClr val="tx1"/>
                </a:solidFill>
                <a:latin typeface="Verdana" panose="020B0604030504040204" pitchFamily="34" charset="0"/>
              </a:defRPr>
            </a:lvl4pPr>
            <a:lvl5pPr marL="1085850" indent="-171450">
              <a:spcBef>
                <a:spcPts val="600"/>
              </a:spcBef>
              <a:buFont typeface="Verdana" panose="020B0604030504040204" pitchFamily="34" charset="0"/>
              <a:buChar char="−"/>
              <a:defRPr>
                <a:solidFill>
                  <a:schemeClr val="tx1"/>
                </a:solidFill>
                <a:latin typeface="Verdana" panose="020B0604030504040204" pitchFamily="34" charset="0"/>
              </a:defRPr>
            </a:lvl5pPr>
            <a:lvl6pPr marL="15430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6pPr>
            <a:lvl7pPr marL="20002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7pPr>
            <a:lvl8pPr marL="24574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8pPr>
            <a:lvl9pPr marL="29146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9pPr>
          </a:lstStyle>
          <a:p>
            <a:pPr>
              <a:spcBef>
                <a:spcPct val="0"/>
              </a:spcBef>
              <a:buClrTx/>
              <a:buFontTx/>
              <a:buNone/>
            </a:pPr>
            <a:r>
              <a:rPr lang="en-US" altLang="en-US" sz="1800" dirty="0" err="1">
                <a:solidFill>
                  <a:schemeClr val="bg1"/>
                </a:solidFill>
                <a:latin typeface="Arial" panose="020B0604020202020204" pitchFamily="34" charset="0"/>
                <a:ea typeface="ヒラギノ角ゴ ProN W3"/>
                <a:cs typeface="Arial" panose="020B0604020202020204" pitchFamily="34" charset="0"/>
                <a:sym typeface="Arial" panose="020B0604020202020204" pitchFamily="34" charset="0"/>
              </a:rPr>
              <a:t>X?u</a:t>
            </a:r>
            <a:endParaRPr lang="en-US" altLang="en-US" sz="1800" dirty="0">
              <a:solidFill>
                <a:schemeClr val="bg1"/>
              </a:solidFill>
              <a:latin typeface="Arial" panose="020B0604020202020204" pitchFamily="34" charset="0"/>
              <a:ea typeface="ヒラギノ角ゴ ProN W3"/>
              <a:cs typeface="Arial" panose="020B0604020202020204" pitchFamily="34" charset="0"/>
              <a:sym typeface="Arial" panose="020B0604020202020204" pitchFamily="34" charset="0"/>
            </a:endParaRPr>
          </a:p>
        </p:txBody>
      </p:sp>
      <p:sp>
        <p:nvSpPr>
          <p:cNvPr id="3" name="Right Arrow 2"/>
          <p:cNvSpPr/>
          <p:nvPr/>
        </p:nvSpPr>
        <p:spPr>
          <a:xfrm>
            <a:off x="3806757" y="3002605"/>
            <a:ext cx="1621277" cy="337225"/>
          </a:xfrm>
          <a:prstGeom prst="rightArrow">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020765" y="3086911"/>
            <a:ext cx="1115438" cy="169277"/>
          </a:xfrm>
          <a:prstGeom prst="rect">
            <a:avLst/>
          </a:prstGeom>
          <a:noFill/>
        </p:spPr>
        <p:txBody>
          <a:bodyPr vert="horz" wrap="square" lIns="0" tIns="0" rIns="0" bIns="0" rtlCol="0">
            <a:spAutoFit/>
          </a:bodyPr>
          <a:lstStyle/>
          <a:p>
            <a:r>
              <a:rPr lang="en-US" sz="1100" dirty="0">
                <a:solidFill>
                  <a:srgbClr val="003C71"/>
                </a:solidFill>
              </a:rPr>
              <a:t>Abstract Channel</a:t>
            </a:r>
          </a:p>
        </p:txBody>
      </p:sp>
    </p:spTree>
    <p:extLst>
      <p:ext uri="{BB962C8B-B14F-4D97-AF65-F5344CB8AC3E}">
        <p14:creationId xmlns:p14="http://schemas.microsoft.com/office/powerpoint/2010/main" val="3794989974"/>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872352" y="4824387"/>
            <a:ext cx="2133600" cy="273844"/>
          </a:xfrm>
        </p:spPr>
        <p:txBody>
          <a:bodyPr vert="horz" lIns="0" tIns="0" rIns="0" bIns="0" rtlCol="0" anchor="ctr">
            <a:normAutofit/>
          </a:bodyPr>
          <a:lstStyle/>
          <a:p>
            <a:pPr>
              <a:spcAft>
                <a:spcPts val="600"/>
              </a:spcAft>
            </a:pPr>
            <a:fld id="{EE2556C5-CE8C-6547-B838-EA80C61A4AF7}" type="slidenum">
              <a:rPr lang="en-US" smtClean="0"/>
              <a:pPr>
                <a:spcAft>
                  <a:spcPts val="600"/>
                </a:spcAft>
              </a:pPr>
              <a:t>8</a:t>
            </a:fld>
            <a:endParaRPr lang="en-US"/>
          </a:p>
        </p:txBody>
      </p:sp>
      <p:sp>
        <p:nvSpPr>
          <p:cNvPr id="7" name="Content Placeholder 2">
            <a:extLst>
              <a:ext uri="{FF2B5EF4-FFF2-40B4-BE49-F238E27FC236}">
                <a16:creationId xmlns:a16="http://schemas.microsoft.com/office/drawing/2014/main" id="{A8F777FB-EA74-453B-B2CD-7A55AEAC12A6}"/>
              </a:ext>
            </a:extLst>
          </p:cNvPr>
          <p:cNvSpPr txBox="1">
            <a:spLocks/>
          </p:cNvSpPr>
          <p:nvPr/>
        </p:nvSpPr>
        <p:spPr>
          <a:xfrm>
            <a:off x="455613" y="1203324"/>
            <a:ext cx="4006851" cy="3425825"/>
          </a:xfrm>
          <a:prstGeom prst="rect">
            <a:avLst/>
          </a:prstGeom>
        </p:spPr>
        <p:txBody>
          <a:bodyPr vert="horz" lIns="0" tIns="0" rIns="0" bIns="0" rtlCol="0">
            <a:normAutofit fontScale="92500"/>
          </a:bodyPr>
          <a:lst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Arial" panose="020B0604020202020204" pitchFamily="34" charset="0"/>
              </a:defRPr>
            </a:lvl1pPr>
            <a:lvl2pPr marL="225425" indent="-225425" algn="l" defTabSz="457200" rtl="0" eaLnBrk="1" latinLnBrk="0" hangingPunct="1">
              <a:spcBef>
                <a:spcPts val="1200"/>
              </a:spcBef>
              <a:buFont typeface="Wingdings" charset="2"/>
              <a:buChar char="§"/>
              <a:defRPr sz="1600" kern="1200" baseline="0">
                <a:solidFill>
                  <a:schemeClr val="tx2"/>
                </a:solidFill>
                <a:latin typeface="+mn-lt"/>
                <a:ea typeface="+mn-ea"/>
                <a:cs typeface="Arial" panose="020B0604020202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chemeClr val="tx2"/>
                </a:solidFill>
                <a:latin typeface="+mn-lt"/>
                <a:ea typeface="+mn-ea"/>
                <a:cs typeface="Arial" panose="020B0604020202020204" pitchFamily="34" charset="0"/>
              </a:defRPr>
            </a:lvl3pPr>
            <a:lvl4pPr marL="969963" indent="-228600" algn="l" defTabSz="457200" rtl="0" eaLnBrk="1" latinLnBrk="0" hangingPunct="1">
              <a:spcBef>
                <a:spcPct val="20000"/>
              </a:spcBef>
              <a:buFont typeface="Arial"/>
              <a:buChar char="–"/>
              <a:defRPr sz="1400" kern="1200">
                <a:solidFill>
                  <a:schemeClr val="tx2"/>
                </a:solidFill>
                <a:latin typeface="+mn-lt"/>
                <a:ea typeface="+mn-ea"/>
                <a:cs typeface="Arial" panose="020B0604020202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An asynchronous channel consists of</a:t>
            </a:r>
          </a:p>
          <a:p>
            <a:pPr marL="511175" lvl="1" indent="-285750">
              <a:buFont typeface="Arial" panose="020B0604020202020204" pitchFamily="34" charset="0"/>
              <a:buChar char="•"/>
            </a:pPr>
            <a:r>
              <a:rPr lang="en-US" sz="1800" dirty="0">
                <a:solidFill>
                  <a:srgbClr val="0071C5"/>
                </a:solidFill>
              </a:rPr>
              <a:t>A request “req”</a:t>
            </a:r>
          </a:p>
          <a:p>
            <a:pPr marL="511175" lvl="1" indent="-285750">
              <a:buFont typeface="Arial" panose="020B0604020202020204" pitchFamily="34" charset="0"/>
              <a:buChar char="•"/>
            </a:pPr>
            <a:r>
              <a:rPr lang="en-US" sz="1800" dirty="0">
                <a:solidFill>
                  <a:srgbClr val="0071C5"/>
                </a:solidFill>
              </a:rPr>
              <a:t>An acknowledgement “ack”</a:t>
            </a:r>
          </a:p>
          <a:p>
            <a:pPr marL="285750" indent="-285750">
              <a:buFont typeface="Arial" panose="020B0604020202020204" pitchFamily="34" charset="0"/>
              <a:buChar char="•"/>
            </a:pPr>
            <a:r>
              <a:rPr lang="en-US" dirty="0"/>
              <a:t>A req signifies the arrival of new data</a:t>
            </a:r>
          </a:p>
          <a:p>
            <a:pPr marL="285750" indent="-285750">
              <a:buFont typeface="Arial" panose="020B0604020202020204" pitchFamily="34" charset="0"/>
              <a:buChar char="•"/>
            </a:pPr>
            <a:r>
              <a:rPr lang="en-US" dirty="0"/>
              <a:t>An ack signifies the controller is ready to accept  new data</a:t>
            </a:r>
          </a:p>
          <a:p>
            <a:pPr marL="285750" indent="-285750">
              <a:buFont typeface="Arial" panose="020B0604020202020204" pitchFamily="34" charset="0"/>
              <a:buChar char="•"/>
            </a:pPr>
            <a:r>
              <a:rPr lang="en-US" dirty="0"/>
              <a:t>All </a:t>
            </a:r>
            <a:r>
              <a:rPr lang="en-US" dirty="0" err="1"/>
              <a:t>reqs</a:t>
            </a:r>
            <a:r>
              <a:rPr lang="en-US" dirty="0"/>
              <a:t>/acks are bidirectional</a:t>
            </a:r>
          </a:p>
          <a:p>
            <a:pPr marL="511175" lvl="1" indent="-285750">
              <a:buFont typeface="Arial" panose="020B0604020202020204" pitchFamily="34" charset="0"/>
              <a:buChar char="•"/>
            </a:pPr>
            <a:r>
              <a:rPr lang="en-US" sz="1800" dirty="0">
                <a:solidFill>
                  <a:srgbClr val="0071C5"/>
                </a:solidFill>
              </a:rPr>
              <a:t>0-&gt;1 and 1-&gt;0 both infer a new token</a:t>
            </a:r>
          </a:p>
        </p:txBody>
      </p:sp>
      <p:sp>
        <p:nvSpPr>
          <p:cNvPr id="5" name="Title 4"/>
          <p:cNvSpPr>
            <a:spLocks noGrp="1"/>
          </p:cNvSpPr>
          <p:nvPr>
            <p:ph type="title"/>
          </p:nvPr>
        </p:nvSpPr>
        <p:spPr>
          <a:xfrm>
            <a:off x="455613" y="308848"/>
            <a:ext cx="8229600" cy="868680"/>
          </a:xfrm>
        </p:spPr>
        <p:txBody>
          <a:bodyPr vert="horz" lIns="0" tIns="0" rIns="0" bIns="0" rtlCol="0" anchor="t" anchorCtr="0">
            <a:normAutofit/>
          </a:bodyPr>
          <a:lstStyle/>
          <a:p>
            <a:r>
              <a:rPr lang="en-US" dirty="0"/>
              <a:t>Communication at the circuit level</a:t>
            </a:r>
            <a:endParaRPr lang="en-US" b="0" i="0" kern="1200" spc="0" baseline="0" dirty="0">
              <a:latin typeface="+mj-lt"/>
              <a:ea typeface="Intel Clear"/>
              <a:cs typeface="Arial" panose="020B0604020202020204" pitchFamily="34" charset="0"/>
            </a:endParaRPr>
          </a:p>
        </p:txBody>
      </p:sp>
      <p:pic>
        <p:nvPicPr>
          <p:cNvPr id="1101" name="Picture 1100">
            <a:extLst>
              <a:ext uri="{FF2B5EF4-FFF2-40B4-BE49-F238E27FC236}">
                <a16:creationId xmlns:a16="http://schemas.microsoft.com/office/drawing/2014/main" id="{82A01CDF-1FD7-DC23-5B99-61A5BAEF3B24}"/>
              </a:ext>
            </a:extLst>
          </p:cNvPr>
          <p:cNvPicPr>
            <a:picLocks noChangeAspect="1"/>
          </p:cNvPicPr>
          <p:nvPr/>
        </p:nvPicPr>
        <p:blipFill>
          <a:blip r:embed="rId3"/>
          <a:stretch>
            <a:fillRect/>
          </a:stretch>
        </p:blipFill>
        <p:spPr>
          <a:xfrm>
            <a:off x="4526018" y="1711407"/>
            <a:ext cx="4494538" cy="2400411"/>
          </a:xfrm>
          <a:prstGeom prst="rect">
            <a:avLst/>
          </a:prstGeom>
        </p:spPr>
      </p:pic>
    </p:spTree>
    <p:extLst>
      <p:ext uri="{BB962C8B-B14F-4D97-AF65-F5344CB8AC3E}">
        <p14:creationId xmlns:p14="http://schemas.microsoft.com/office/powerpoint/2010/main" val="3096438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Straight Connector 46"/>
          <p:cNvCxnSpPr/>
          <p:nvPr/>
        </p:nvCxnSpPr>
        <p:spPr bwMode="auto">
          <a:xfrm>
            <a:off x="5834243" y="4274496"/>
            <a:ext cx="411956" cy="1191"/>
          </a:xfrm>
          <a:prstGeom prst="line">
            <a:avLst/>
          </a:prstGeom>
          <a:noFill/>
          <a:ln w="19050" cap="flat" cmpd="sng" algn="ctr">
            <a:solidFill>
              <a:schemeClr val="tx1">
                <a:lumMod val="75000"/>
                <a:lumOff val="25000"/>
              </a:schemeClr>
            </a:solidFill>
            <a:prstDash val="solid"/>
            <a:round/>
            <a:headEnd type="none" w="med" len="med"/>
            <a:tailEnd type="arrow" w="med" len="med"/>
          </a:ln>
          <a:effectLst/>
        </p:spPr>
      </p:cxnSp>
      <p:sp>
        <p:nvSpPr>
          <p:cNvPr id="22532" name="Title 1"/>
          <p:cNvSpPr>
            <a:spLocks noGrp="1"/>
          </p:cNvSpPr>
          <p:nvPr>
            <p:ph type="title"/>
          </p:nvPr>
        </p:nvSpPr>
        <p:spPr/>
        <p:txBody>
          <a:bodyPr/>
          <a:lstStyle/>
          <a:p>
            <a:r>
              <a:rPr lang="en-US" altLang="en-US" dirty="0"/>
              <a:t>Design Verification</a:t>
            </a:r>
          </a:p>
        </p:txBody>
      </p:sp>
      <p:sp>
        <p:nvSpPr>
          <p:cNvPr id="22533" name="Content Placeholder 26"/>
          <p:cNvSpPr>
            <a:spLocks noGrp="1"/>
          </p:cNvSpPr>
          <p:nvPr>
            <p:ph idx="1"/>
          </p:nvPr>
        </p:nvSpPr>
        <p:spPr>
          <a:xfrm>
            <a:off x="5339397" y="794122"/>
            <a:ext cx="3623020" cy="2656285"/>
          </a:xfrm>
        </p:spPr>
        <p:txBody>
          <a:bodyPr/>
          <a:lstStyle/>
          <a:p>
            <a:r>
              <a:rPr lang="en-US" altLang="en-US" dirty="0" err="1"/>
              <a:t>Dsim</a:t>
            </a:r>
            <a:r>
              <a:rPr lang="en-US" altLang="en-US" dirty="0"/>
              <a:t>: Digital simulator</a:t>
            </a:r>
          </a:p>
          <a:p>
            <a:pPr lvl="1"/>
            <a:r>
              <a:rPr lang="en-US" altLang="en-US" dirty="0"/>
              <a:t>Designers write unit-level test environments in CAST, similar to </a:t>
            </a:r>
            <a:r>
              <a:rPr lang="en-US" altLang="en-US" dirty="0" err="1"/>
              <a:t>verilog</a:t>
            </a:r>
            <a:r>
              <a:rPr lang="en-US" altLang="en-US" dirty="0"/>
              <a:t> test-benches</a:t>
            </a:r>
          </a:p>
          <a:p>
            <a:pPr lvl="1"/>
            <a:r>
              <a:rPr lang="en-US" altLang="en-US" dirty="0"/>
              <a:t>Simulations are run in </a:t>
            </a:r>
            <a:r>
              <a:rPr lang="en-US" altLang="en-US" dirty="0" err="1"/>
              <a:t>Dsim</a:t>
            </a:r>
            <a:r>
              <a:rPr lang="en-US" altLang="en-US" dirty="0"/>
              <a:t>, our equivalent of NCSIM/VCS</a:t>
            </a:r>
          </a:p>
          <a:p>
            <a:pPr lvl="1"/>
            <a:r>
              <a:rPr lang="en-US" altLang="en-US" dirty="0"/>
              <a:t>Uses co-simulation to check that a lower-level implementation matches the higher-level specification</a:t>
            </a:r>
          </a:p>
        </p:txBody>
      </p:sp>
      <p:sp>
        <p:nvSpPr>
          <p:cNvPr id="29" name="Rounded Rectangle 28"/>
          <p:cNvSpPr>
            <a:spLocks noChangeArrowheads="1"/>
          </p:cNvSpPr>
          <p:nvPr/>
        </p:nvSpPr>
        <p:spPr bwMode="auto">
          <a:xfrm>
            <a:off x="3964961" y="3672040"/>
            <a:ext cx="1203722" cy="1033463"/>
          </a:xfrm>
          <a:prstGeom prst="roundRect">
            <a:avLst>
              <a:gd name="adj" fmla="val 12366"/>
            </a:avLst>
          </a:prstGeom>
          <a:gradFill rotWithShape="1">
            <a:gsLst>
              <a:gs pos="0">
                <a:srgbClr val="D9D9D9"/>
              </a:gs>
              <a:gs pos="50000">
                <a:srgbClr val="F2F2F2"/>
              </a:gs>
              <a:gs pos="100000">
                <a:srgbClr val="BFBFBF"/>
              </a:gs>
            </a:gsLst>
            <a:lin ang="3420000"/>
          </a:gradFill>
          <a:ln w="9525">
            <a:solidFill>
              <a:srgbClr val="7F7F7F"/>
            </a:solidFill>
            <a:round/>
            <a:headEnd/>
            <a:tailEnd/>
          </a:ln>
          <a:effectLst>
            <a:outerShdw blurRad="40000" dist="20000" dir="5400000" rotWithShape="0">
              <a:srgbClr val="808080">
                <a:alpha val="37999"/>
              </a:srgbClr>
            </a:outerShdw>
          </a:effectLst>
        </p:spPr>
        <p:txBody>
          <a:bodyP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defRPr/>
            </a:pPr>
            <a:endParaRPr lang="en-US" sz="1500">
              <a:latin typeface="+mn-lt"/>
              <a:ea typeface="ＭＳ Ｐゴシック" charset="-128"/>
              <a:cs typeface="ＭＳ Ｐゴシック" charset="-128"/>
            </a:endParaRPr>
          </a:p>
        </p:txBody>
      </p:sp>
      <p:sp>
        <p:nvSpPr>
          <p:cNvPr id="22554" name="TextBox 82"/>
          <p:cNvSpPr txBox="1">
            <a:spLocks noChangeArrowheads="1"/>
          </p:cNvSpPr>
          <p:nvPr/>
        </p:nvSpPr>
        <p:spPr bwMode="auto">
          <a:xfrm>
            <a:off x="4016158" y="3672040"/>
            <a:ext cx="110132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tx1"/>
              </a:buClr>
              <a:buFont typeface="Arial" panose="020B0604020202020204" pitchFamily="34" charset="0"/>
              <a:buChar char="•"/>
              <a:defRPr sz="2000" b="1">
                <a:solidFill>
                  <a:schemeClr val="tx1"/>
                </a:solidFill>
                <a:latin typeface="Verdana" panose="020B0604030504040204" pitchFamily="34" charset="0"/>
              </a:defRPr>
            </a:lvl1pPr>
            <a:lvl2pPr marL="400050" indent="-171450">
              <a:spcBef>
                <a:spcPts val="600"/>
              </a:spcBef>
              <a:buFont typeface="Arial" panose="020B0604020202020204" pitchFamily="34" charset="0"/>
              <a:buChar char="−"/>
              <a:defRPr>
                <a:solidFill>
                  <a:schemeClr val="tx1"/>
                </a:solidFill>
                <a:latin typeface="Verdana" panose="020B0604030504040204" pitchFamily="34" charset="0"/>
              </a:defRPr>
            </a:lvl2pPr>
            <a:lvl3pPr marL="628650" indent="-171450">
              <a:spcBef>
                <a:spcPts val="600"/>
              </a:spcBef>
              <a:buFont typeface="Verdana" panose="020B0604030504040204" pitchFamily="34" charset="0"/>
              <a:buChar char="−"/>
              <a:defRPr>
                <a:solidFill>
                  <a:schemeClr val="tx1"/>
                </a:solidFill>
                <a:latin typeface="Verdana" panose="020B0604030504040204" pitchFamily="34" charset="0"/>
              </a:defRPr>
            </a:lvl3pPr>
            <a:lvl4pPr marL="857250" indent="-171450">
              <a:spcBef>
                <a:spcPts val="600"/>
              </a:spcBef>
              <a:buFont typeface="Arial" panose="020B0604020202020204" pitchFamily="34" charset="0"/>
              <a:buChar char="−"/>
              <a:defRPr>
                <a:solidFill>
                  <a:schemeClr val="tx1"/>
                </a:solidFill>
                <a:latin typeface="Verdana" panose="020B0604030504040204" pitchFamily="34" charset="0"/>
              </a:defRPr>
            </a:lvl4pPr>
            <a:lvl5pPr marL="1085850" indent="-171450">
              <a:spcBef>
                <a:spcPts val="600"/>
              </a:spcBef>
              <a:buFont typeface="Verdana" panose="020B0604030504040204" pitchFamily="34" charset="0"/>
              <a:buChar char="−"/>
              <a:defRPr>
                <a:solidFill>
                  <a:schemeClr val="tx1"/>
                </a:solidFill>
                <a:latin typeface="Verdana" panose="020B0604030504040204" pitchFamily="34" charset="0"/>
              </a:defRPr>
            </a:lvl5pPr>
            <a:lvl6pPr marL="15430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6pPr>
            <a:lvl7pPr marL="20002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7pPr>
            <a:lvl8pPr marL="24574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8pPr>
            <a:lvl9pPr marL="2914650" indent="-17145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9pPr>
          </a:lstStyle>
          <a:p>
            <a:pPr algn="ctr" eaLnBrk="1" hangingPunct="1">
              <a:spcBef>
                <a:spcPct val="0"/>
              </a:spcBef>
              <a:buClrTx/>
              <a:buFontTx/>
              <a:buNone/>
            </a:pPr>
            <a:r>
              <a:rPr lang="en-US" altLang="en-US" sz="750">
                <a:latin typeface="Helvetica" panose="020B0604020202020204" pitchFamily="34" charset="0"/>
                <a:ea typeface="MS PGothic" panose="020B0600070205080204" pitchFamily="34" charset="-128"/>
              </a:rPr>
              <a:t>Design</a:t>
            </a:r>
            <a:br>
              <a:rPr lang="en-US" altLang="en-US" sz="750">
                <a:latin typeface="Helvetica" panose="020B0604020202020204" pitchFamily="34" charset="0"/>
                <a:ea typeface="MS PGothic" panose="020B0600070205080204" pitchFamily="34" charset="-128"/>
              </a:rPr>
            </a:br>
            <a:endParaRPr lang="en-US" altLang="en-US" sz="750" b="0">
              <a:latin typeface="Helvetica" panose="020B0604020202020204" pitchFamily="34" charset="0"/>
              <a:ea typeface="MS PGothic" panose="020B0600070205080204" pitchFamily="34" charset="-128"/>
            </a:endParaRPr>
          </a:p>
        </p:txBody>
      </p:sp>
      <p:cxnSp>
        <p:nvCxnSpPr>
          <p:cNvPr id="31" name="Straight Connector 30"/>
          <p:cNvCxnSpPr/>
          <p:nvPr/>
        </p:nvCxnSpPr>
        <p:spPr bwMode="auto">
          <a:xfrm>
            <a:off x="2720758" y="4257827"/>
            <a:ext cx="411956" cy="1191"/>
          </a:xfrm>
          <a:prstGeom prst="line">
            <a:avLst/>
          </a:prstGeom>
          <a:noFill/>
          <a:ln w="19050" cap="flat" cmpd="sng" algn="ctr">
            <a:solidFill>
              <a:schemeClr val="tx1">
                <a:lumMod val="75000"/>
                <a:lumOff val="25000"/>
              </a:schemeClr>
            </a:solidFill>
            <a:prstDash val="solid"/>
            <a:round/>
            <a:headEnd type="none" w="med" len="med"/>
            <a:tailEnd type="arrow" w="med" len="med"/>
          </a:ln>
          <a:effectLst/>
        </p:spPr>
      </p:cxnSp>
      <p:cxnSp>
        <p:nvCxnSpPr>
          <p:cNvPr id="32" name="Straight Connector 31"/>
          <p:cNvCxnSpPr>
            <a:endCxn id="35" idx="1"/>
          </p:cNvCxnSpPr>
          <p:nvPr/>
        </p:nvCxnSpPr>
        <p:spPr bwMode="auto">
          <a:xfrm flipV="1">
            <a:off x="3757793" y="4018512"/>
            <a:ext cx="492919" cy="235744"/>
          </a:xfrm>
          <a:prstGeom prst="line">
            <a:avLst/>
          </a:prstGeom>
          <a:noFill/>
          <a:ln w="19050" cap="flat" cmpd="sng" algn="ctr">
            <a:solidFill>
              <a:schemeClr val="tx1">
                <a:lumMod val="75000"/>
                <a:lumOff val="25000"/>
              </a:schemeClr>
            </a:solidFill>
            <a:prstDash val="solid"/>
            <a:round/>
            <a:headEnd type="none" w="med" len="med"/>
            <a:tailEnd type="arrow" w="med" len="med"/>
          </a:ln>
          <a:effectLst/>
        </p:spPr>
      </p:cxnSp>
      <p:sp>
        <p:nvSpPr>
          <p:cNvPr id="33" name="Rounded Rectangle 32"/>
          <p:cNvSpPr>
            <a:spLocks noChangeArrowheads="1"/>
          </p:cNvSpPr>
          <p:nvPr/>
        </p:nvSpPr>
        <p:spPr bwMode="auto">
          <a:xfrm>
            <a:off x="5375852" y="4086378"/>
            <a:ext cx="632222" cy="341710"/>
          </a:xfrm>
          <a:prstGeom prst="roundRect">
            <a:avLst>
              <a:gd name="adj" fmla="val 16667"/>
            </a:avLst>
          </a:prstGeom>
          <a:solidFill>
            <a:srgbClr val="32CCCC"/>
          </a:solidFill>
          <a:ln>
            <a:noFill/>
          </a:ln>
          <a:effectLst>
            <a:outerShdw blurRad="50800" dist="25400" dir="5400000" rotWithShape="0">
              <a:srgbClr val="808080">
                <a:alpha val="34999"/>
              </a:srgbClr>
            </a:outerShdw>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750" dirty="0">
                <a:latin typeface="Helvetica" charset="0"/>
                <a:ea typeface="ＭＳ Ｐゴシック" charset="0"/>
                <a:cs typeface="ＭＳ Ｐゴシック" charset="0"/>
              </a:rPr>
              <a:t>Equivalence</a:t>
            </a:r>
          </a:p>
          <a:p>
            <a:pPr algn="ctr">
              <a:defRPr/>
            </a:pPr>
            <a:r>
              <a:rPr lang="en-US" sz="750" b="0" dirty="0">
                <a:latin typeface="Helvetica" charset="0"/>
                <a:ea typeface="ＭＳ Ｐゴシック" charset="0"/>
                <a:cs typeface="ＭＳ Ｐゴシック" charset="0"/>
              </a:rPr>
              <a:t>Checker</a:t>
            </a:r>
          </a:p>
        </p:txBody>
      </p:sp>
      <p:sp>
        <p:nvSpPr>
          <p:cNvPr id="34" name="Rounded Rectangle 33"/>
          <p:cNvSpPr>
            <a:spLocks noChangeArrowheads="1"/>
          </p:cNvSpPr>
          <p:nvPr/>
        </p:nvSpPr>
        <p:spPr bwMode="auto">
          <a:xfrm>
            <a:off x="6246199" y="4088759"/>
            <a:ext cx="600075" cy="340519"/>
          </a:xfrm>
          <a:prstGeom prst="roundRect">
            <a:avLst>
              <a:gd name="adj" fmla="val 16667"/>
            </a:avLst>
          </a:prstGeom>
          <a:solidFill>
            <a:schemeClr val="accent1"/>
          </a:solidFill>
          <a:ln>
            <a:noFill/>
          </a:ln>
          <a:effectLst>
            <a:outerShdw blurRad="50800" dist="25400" dir="5400000" rotWithShape="0">
              <a:srgbClr val="808080">
                <a:alpha val="34999"/>
              </a:srgbClr>
            </a:outerShdw>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750" dirty="0">
                <a:solidFill>
                  <a:schemeClr val="bg1"/>
                </a:solidFill>
                <a:latin typeface="Helvetica" charset="0"/>
                <a:ea typeface="ＭＳ Ｐゴシック" charset="0"/>
                <a:cs typeface="ＭＳ Ｐゴシック" charset="0"/>
              </a:rPr>
              <a:t>Log</a:t>
            </a:r>
            <a:endParaRPr lang="en-US" sz="750" b="0" dirty="0">
              <a:solidFill>
                <a:schemeClr val="bg1"/>
              </a:solidFill>
              <a:latin typeface="Helvetica" charset="0"/>
              <a:ea typeface="ＭＳ Ｐゴシック" charset="0"/>
              <a:cs typeface="ＭＳ Ｐゴシック" charset="0"/>
            </a:endParaRPr>
          </a:p>
        </p:txBody>
      </p:sp>
      <p:sp>
        <p:nvSpPr>
          <p:cNvPr id="35" name="Rounded Rectangle 34"/>
          <p:cNvSpPr>
            <a:spLocks noChangeArrowheads="1"/>
          </p:cNvSpPr>
          <p:nvPr/>
        </p:nvSpPr>
        <p:spPr bwMode="auto">
          <a:xfrm>
            <a:off x="4250711" y="3848253"/>
            <a:ext cx="632222" cy="340519"/>
          </a:xfrm>
          <a:prstGeom prst="roundRect">
            <a:avLst>
              <a:gd name="adj" fmla="val 16667"/>
            </a:avLst>
          </a:prstGeom>
          <a:solidFill>
            <a:srgbClr val="61B544"/>
          </a:solidFill>
          <a:ln>
            <a:noFill/>
          </a:ln>
          <a:effectLst>
            <a:outerShdw blurRad="50800" dist="25400" dir="5400000" rotWithShape="0">
              <a:srgbClr val="808080">
                <a:alpha val="34999"/>
              </a:srgbClr>
            </a:outerShdw>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750" dirty="0">
                <a:solidFill>
                  <a:schemeClr val="bg1"/>
                </a:solidFill>
                <a:latin typeface="Helvetica" charset="0"/>
                <a:ea typeface="ＭＳ Ｐゴシック" charset="0"/>
                <a:cs typeface="ＭＳ Ｐゴシック" charset="0"/>
              </a:rPr>
              <a:t>High-Level</a:t>
            </a:r>
            <a:endParaRPr lang="en-US" sz="750" b="0" dirty="0">
              <a:solidFill>
                <a:schemeClr val="bg1"/>
              </a:solidFill>
              <a:latin typeface="Helvetica" charset="0"/>
              <a:ea typeface="ＭＳ Ｐゴシック" charset="0"/>
              <a:cs typeface="ＭＳ Ｐゴシック" charset="0"/>
            </a:endParaRPr>
          </a:p>
        </p:txBody>
      </p:sp>
      <p:sp>
        <p:nvSpPr>
          <p:cNvPr id="43" name="Rounded Rectangle 42"/>
          <p:cNvSpPr>
            <a:spLocks noChangeArrowheads="1"/>
          </p:cNvSpPr>
          <p:nvPr/>
        </p:nvSpPr>
        <p:spPr bwMode="auto">
          <a:xfrm>
            <a:off x="4250711" y="4274496"/>
            <a:ext cx="632222" cy="340519"/>
          </a:xfrm>
          <a:prstGeom prst="roundRect">
            <a:avLst>
              <a:gd name="adj" fmla="val 16667"/>
            </a:avLst>
          </a:prstGeom>
          <a:solidFill>
            <a:srgbClr val="61B544"/>
          </a:solidFill>
          <a:ln>
            <a:noFill/>
          </a:ln>
          <a:effectLst>
            <a:outerShdw blurRad="50800" dist="25400" dir="5400000" rotWithShape="0">
              <a:srgbClr val="808080">
                <a:alpha val="34999"/>
              </a:srgbClr>
            </a:outerShdw>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750" dirty="0">
                <a:solidFill>
                  <a:schemeClr val="bg1"/>
                </a:solidFill>
                <a:latin typeface="Helvetica" charset="0"/>
                <a:ea typeface="ＭＳ Ｐゴシック" charset="0"/>
                <a:cs typeface="ＭＳ Ｐゴシック" charset="0"/>
              </a:rPr>
              <a:t>Low-Level</a:t>
            </a:r>
            <a:endParaRPr lang="en-US" sz="750" b="0" dirty="0">
              <a:solidFill>
                <a:schemeClr val="bg1"/>
              </a:solidFill>
              <a:latin typeface="Helvetica" charset="0"/>
              <a:ea typeface="ＭＳ Ｐゴシック" charset="0"/>
              <a:cs typeface="ＭＳ Ｐゴシック" charset="0"/>
            </a:endParaRPr>
          </a:p>
        </p:txBody>
      </p:sp>
      <p:sp>
        <p:nvSpPr>
          <p:cNvPr id="44" name="Rounded Rectangle 43"/>
          <p:cNvSpPr>
            <a:spLocks noChangeArrowheads="1"/>
          </p:cNvSpPr>
          <p:nvPr/>
        </p:nvSpPr>
        <p:spPr bwMode="auto">
          <a:xfrm>
            <a:off x="3125571" y="4086378"/>
            <a:ext cx="632222" cy="341710"/>
          </a:xfrm>
          <a:prstGeom prst="roundRect">
            <a:avLst>
              <a:gd name="adj" fmla="val 16667"/>
            </a:avLst>
          </a:prstGeom>
          <a:solidFill>
            <a:srgbClr val="32CCCC"/>
          </a:solidFill>
          <a:ln>
            <a:noFill/>
          </a:ln>
          <a:effectLst>
            <a:outerShdw blurRad="50800" dist="25400" dir="5400000" rotWithShape="0">
              <a:srgbClr val="808080">
                <a:alpha val="34999"/>
              </a:srgbClr>
            </a:outerShdw>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750" dirty="0">
                <a:latin typeface="Helvetica" charset="0"/>
                <a:ea typeface="ＭＳ Ｐゴシック" charset="0"/>
                <a:cs typeface="ＭＳ Ｐゴシック" charset="0"/>
              </a:rPr>
              <a:t>Copy</a:t>
            </a:r>
            <a:endParaRPr lang="en-US" sz="750" b="0" dirty="0">
              <a:latin typeface="Helvetica" charset="0"/>
              <a:ea typeface="ＭＳ Ｐゴシック" charset="0"/>
              <a:cs typeface="ＭＳ Ｐゴシック" charset="0"/>
            </a:endParaRPr>
          </a:p>
        </p:txBody>
      </p:sp>
      <p:sp>
        <p:nvSpPr>
          <p:cNvPr id="46" name="Rounded Rectangle 45"/>
          <p:cNvSpPr>
            <a:spLocks noChangeArrowheads="1"/>
          </p:cNvSpPr>
          <p:nvPr/>
        </p:nvSpPr>
        <p:spPr bwMode="auto">
          <a:xfrm>
            <a:off x="2301658" y="4086378"/>
            <a:ext cx="600075" cy="340519"/>
          </a:xfrm>
          <a:prstGeom prst="roundRect">
            <a:avLst>
              <a:gd name="adj" fmla="val 16667"/>
            </a:avLst>
          </a:prstGeom>
          <a:solidFill>
            <a:schemeClr val="accent1"/>
          </a:solidFill>
          <a:ln>
            <a:noFill/>
          </a:ln>
          <a:effectLst>
            <a:outerShdw blurRad="50800" dist="25400" dir="5400000" rotWithShape="0">
              <a:srgbClr val="808080">
                <a:alpha val="34999"/>
              </a:srgbClr>
            </a:outerShdw>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750" dirty="0">
                <a:solidFill>
                  <a:schemeClr val="bg1"/>
                </a:solidFill>
                <a:latin typeface="Helvetica" charset="0"/>
                <a:ea typeface="ＭＳ Ｐゴシック" charset="0"/>
                <a:cs typeface="ＭＳ Ｐゴシック" charset="0"/>
              </a:rPr>
              <a:t>Stimulus</a:t>
            </a:r>
            <a:endParaRPr lang="en-US" sz="750" b="0" dirty="0">
              <a:solidFill>
                <a:schemeClr val="bg1"/>
              </a:solidFill>
              <a:latin typeface="Helvetica" charset="0"/>
              <a:ea typeface="ＭＳ Ｐゴシック" charset="0"/>
              <a:cs typeface="ＭＳ Ｐゴシック" charset="0"/>
            </a:endParaRPr>
          </a:p>
        </p:txBody>
      </p:sp>
      <p:cxnSp>
        <p:nvCxnSpPr>
          <p:cNvPr id="49" name="Straight Connector 48"/>
          <p:cNvCxnSpPr/>
          <p:nvPr/>
        </p:nvCxnSpPr>
        <p:spPr bwMode="auto">
          <a:xfrm>
            <a:off x="3768508" y="4259019"/>
            <a:ext cx="494110" cy="235744"/>
          </a:xfrm>
          <a:prstGeom prst="line">
            <a:avLst/>
          </a:prstGeom>
          <a:noFill/>
          <a:ln w="19050" cap="flat" cmpd="sng" algn="ctr">
            <a:solidFill>
              <a:schemeClr val="tx1">
                <a:lumMod val="75000"/>
                <a:lumOff val="25000"/>
              </a:schemeClr>
            </a:solidFill>
            <a:prstDash val="solid"/>
            <a:round/>
            <a:headEnd type="none" w="med" len="med"/>
            <a:tailEnd type="arrow" w="med" len="med"/>
          </a:ln>
          <a:effectLst/>
        </p:spPr>
      </p:cxnSp>
      <p:cxnSp>
        <p:nvCxnSpPr>
          <p:cNvPr id="50" name="Straight Connector 49"/>
          <p:cNvCxnSpPr/>
          <p:nvPr/>
        </p:nvCxnSpPr>
        <p:spPr bwMode="auto">
          <a:xfrm flipV="1">
            <a:off x="4887696" y="4250683"/>
            <a:ext cx="492919" cy="234554"/>
          </a:xfrm>
          <a:prstGeom prst="line">
            <a:avLst/>
          </a:prstGeom>
          <a:noFill/>
          <a:ln w="19050" cap="flat" cmpd="sng" algn="ctr">
            <a:solidFill>
              <a:schemeClr val="tx1">
                <a:lumMod val="75000"/>
                <a:lumOff val="25000"/>
              </a:schemeClr>
            </a:solidFill>
            <a:prstDash val="solid"/>
            <a:round/>
            <a:headEnd type="none" w="med" len="med"/>
            <a:tailEnd type="arrow" w="med" len="med"/>
          </a:ln>
          <a:effectLst/>
        </p:spPr>
      </p:cxnSp>
      <p:cxnSp>
        <p:nvCxnSpPr>
          <p:cNvPr id="51" name="Straight Connector 50"/>
          <p:cNvCxnSpPr/>
          <p:nvPr/>
        </p:nvCxnSpPr>
        <p:spPr bwMode="auto">
          <a:xfrm>
            <a:off x="4888887" y="4011369"/>
            <a:ext cx="492919" cy="235744"/>
          </a:xfrm>
          <a:prstGeom prst="line">
            <a:avLst/>
          </a:prstGeom>
          <a:noFill/>
          <a:ln w="19050" cap="flat" cmpd="sng" algn="ctr">
            <a:solidFill>
              <a:schemeClr val="tx1">
                <a:lumMod val="75000"/>
                <a:lumOff val="25000"/>
              </a:schemeClr>
            </a:solidFill>
            <a:prstDash val="solid"/>
            <a:round/>
            <a:headEnd type="none" w="med" len="med"/>
            <a:tailEnd type="arrow" w="med" len="med"/>
          </a:ln>
          <a:effectLst/>
        </p:spPr>
      </p:cxnSp>
      <p:sp>
        <p:nvSpPr>
          <p:cNvPr id="22566" name="TextBox 295"/>
          <p:cNvSpPr txBox="1">
            <a:spLocks noChangeArrowheads="1"/>
          </p:cNvSpPr>
          <p:nvPr/>
        </p:nvSpPr>
        <p:spPr bwMode="auto">
          <a:xfrm>
            <a:off x="136980" y="4145833"/>
            <a:ext cx="206018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tx1"/>
              </a:buClr>
              <a:buFont typeface="Arial" panose="020B0604020202020204" pitchFamily="34" charset="0"/>
              <a:buChar char="•"/>
              <a:defRPr sz="2000" b="1">
                <a:solidFill>
                  <a:schemeClr val="tx1"/>
                </a:solidFill>
                <a:latin typeface="Verdana" panose="020B0604030504040204" pitchFamily="34" charset="0"/>
              </a:defRPr>
            </a:lvl1pPr>
            <a:lvl2pPr marL="742950" indent="-285750">
              <a:spcBef>
                <a:spcPts val="600"/>
              </a:spcBef>
              <a:buFont typeface="Arial" panose="020B0604020202020204" pitchFamily="34" charset="0"/>
              <a:buChar char="−"/>
              <a:defRPr>
                <a:solidFill>
                  <a:schemeClr val="tx1"/>
                </a:solidFill>
                <a:latin typeface="Verdana" panose="020B0604030504040204" pitchFamily="34" charset="0"/>
              </a:defRPr>
            </a:lvl2pPr>
            <a:lvl3pPr marL="1143000" indent="-228600">
              <a:spcBef>
                <a:spcPts val="600"/>
              </a:spcBef>
              <a:buFont typeface="Verdana" panose="020B0604030504040204" pitchFamily="34" charset="0"/>
              <a:buChar char="−"/>
              <a:defRPr>
                <a:solidFill>
                  <a:schemeClr val="tx1"/>
                </a:solidFill>
                <a:latin typeface="Verdana" panose="020B0604030504040204" pitchFamily="34" charset="0"/>
              </a:defRPr>
            </a:lvl3pPr>
            <a:lvl4pPr marL="1600200" indent="-228600">
              <a:spcBef>
                <a:spcPts val="600"/>
              </a:spcBef>
              <a:buFont typeface="Arial" panose="020B0604020202020204" pitchFamily="34" charset="0"/>
              <a:buChar char="−"/>
              <a:defRPr>
                <a:solidFill>
                  <a:schemeClr val="tx1"/>
                </a:solidFill>
                <a:latin typeface="Verdana" panose="020B0604030504040204" pitchFamily="34" charset="0"/>
              </a:defRPr>
            </a:lvl4pPr>
            <a:lvl5pPr marL="2057400" indent="-228600">
              <a:spcBef>
                <a:spcPts val="600"/>
              </a:spcBef>
              <a:buFont typeface="Verdana" panose="020B0604030504040204" pitchFamily="34" charset="0"/>
              <a:buChar char="−"/>
              <a:defRPr>
                <a:solidFill>
                  <a:schemeClr val="tx1"/>
                </a:solidFill>
                <a:latin typeface="Verdana" panose="020B0604030504040204" pitchFamily="34" charset="0"/>
              </a:defRPr>
            </a:lvl5pPr>
            <a:lvl6pPr marL="2514600" indent="-2286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6pPr>
            <a:lvl7pPr marL="2971800" indent="-2286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7pPr>
            <a:lvl8pPr marL="3429000" indent="-2286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8pPr>
            <a:lvl9pPr marL="3886200" indent="-228600" eaLnBrk="0" fontAlgn="base" hangingPunct="0">
              <a:spcBef>
                <a:spcPts val="600"/>
              </a:spcBef>
              <a:spcAft>
                <a:spcPct val="0"/>
              </a:spcAft>
              <a:buFont typeface="Verdana" panose="020B0604030504040204" pitchFamily="34" charset="0"/>
              <a:buChar char="−"/>
              <a:defRPr>
                <a:solidFill>
                  <a:schemeClr val="tx1"/>
                </a:solidFill>
                <a:latin typeface="Verdana" panose="020B0604030504040204" pitchFamily="34" charset="0"/>
              </a:defRPr>
            </a:lvl9pPr>
          </a:lstStyle>
          <a:p>
            <a:pPr algn="r" eaLnBrk="1" hangingPunct="1">
              <a:spcBef>
                <a:spcPct val="0"/>
              </a:spcBef>
              <a:buClrTx/>
              <a:buFontTx/>
              <a:buNone/>
            </a:pPr>
            <a:r>
              <a:rPr lang="en-US" altLang="en-US" sz="1350" dirty="0">
                <a:latin typeface="Helvetica" panose="020B0604020202020204" pitchFamily="34" charset="0"/>
                <a:ea typeface="MS PGothic" panose="020B0600070205080204" pitchFamily="34" charset="-128"/>
              </a:rPr>
              <a:t>Co-simulation Process</a:t>
            </a:r>
            <a:endParaRPr lang="en-US" altLang="en-US" sz="675" dirty="0">
              <a:latin typeface="Helvetica" panose="020B0604020202020204" pitchFamily="34" charset="0"/>
              <a:ea typeface="MS PGothic" panose="020B0600070205080204" pitchFamily="34" charset="-128"/>
            </a:endParaRPr>
          </a:p>
        </p:txBody>
      </p:sp>
      <p:sp>
        <p:nvSpPr>
          <p:cNvPr id="22568"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00" b="1">
                <a:solidFill>
                  <a:schemeClr val="tx1"/>
                </a:solidFill>
                <a:latin typeface="Helvetica" panose="020B0604020202020204" pitchFamily="34" charset="0"/>
              </a:defRPr>
            </a:lvl1pPr>
            <a:lvl2pPr marL="557213" indent="-214313">
              <a:defRPr sz="1800" b="1">
                <a:solidFill>
                  <a:schemeClr val="tx1"/>
                </a:solidFill>
                <a:latin typeface="Helvetica" panose="020B0604020202020204" pitchFamily="34" charset="0"/>
              </a:defRPr>
            </a:lvl2pPr>
            <a:lvl3pPr marL="857250" indent="-171450">
              <a:defRPr sz="1800" b="1">
                <a:solidFill>
                  <a:schemeClr val="tx1"/>
                </a:solidFill>
                <a:latin typeface="Helvetica" panose="020B0604020202020204" pitchFamily="34" charset="0"/>
              </a:defRPr>
            </a:lvl3pPr>
            <a:lvl4pPr marL="1200150" indent="-171450">
              <a:defRPr sz="1800" b="1">
                <a:solidFill>
                  <a:schemeClr val="tx1"/>
                </a:solidFill>
                <a:latin typeface="Helvetica" panose="020B0604020202020204" pitchFamily="34" charset="0"/>
              </a:defRPr>
            </a:lvl4pPr>
            <a:lvl5pPr marL="1543050" indent="-171450">
              <a:defRPr sz="1800" b="1">
                <a:solidFill>
                  <a:schemeClr val="tx1"/>
                </a:solidFill>
                <a:latin typeface="Helvetica" panose="020B0604020202020204" pitchFamily="34" charset="0"/>
              </a:defRPr>
            </a:lvl5pPr>
            <a:lvl6pPr marL="1885950" indent="-171450" eaLnBrk="0" fontAlgn="base" hangingPunct="0">
              <a:spcBef>
                <a:spcPct val="0"/>
              </a:spcBef>
              <a:spcAft>
                <a:spcPct val="0"/>
              </a:spcAft>
              <a:defRPr sz="1800" b="1">
                <a:solidFill>
                  <a:schemeClr val="tx1"/>
                </a:solidFill>
                <a:latin typeface="Helvetica" panose="020B0604020202020204" pitchFamily="34" charset="0"/>
              </a:defRPr>
            </a:lvl6pPr>
            <a:lvl7pPr marL="2228850" indent="-171450" eaLnBrk="0" fontAlgn="base" hangingPunct="0">
              <a:spcBef>
                <a:spcPct val="0"/>
              </a:spcBef>
              <a:spcAft>
                <a:spcPct val="0"/>
              </a:spcAft>
              <a:defRPr sz="1800" b="1">
                <a:solidFill>
                  <a:schemeClr val="tx1"/>
                </a:solidFill>
                <a:latin typeface="Helvetica" panose="020B0604020202020204" pitchFamily="34" charset="0"/>
              </a:defRPr>
            </a:lvl7pPr>
            <a:lvl8pPr marL="2571750" indent="-171450" eaLnBrk="0" fontAlgn="base" hangingPunct="0">
              <a:spcBef>
                <a:spcPct val="0"/>
              </a:spcBef>
              <a:spcAft>
                <a:spcPct val="0"/>
              </a:spcAft>
              <a:defRPr sz="1800" b="1">
                <a:solidFill>
                  <a:schemeClr val="tx1"/>
                </a:solidFill>
                <a:latin typeface="Helvetica" panose="020B0604020202020204" pitchFamily="34" charset="0"/>
              </a:defRPr>
            </a:lvl8pPr>
            <a:lvl9pPr marL="2914650" indent="-171450" eaLnBrk="0" fontAlgn="base" hangingPunct="0">
              <a:spcBef>
                <a:spcPct val="0"/>
              </a:spcBef>
              <a:spcAft>
                <a:spcPct val="0"/>
              </a:spcAft>
              <a:defRPr sz="1800" b="1">
                <a:solidFill>
                  <a:schemeClr val="tx1"/>
                </a:solidFill>
                <a:latin typeface="Helvetica" panose="020B0604020202020204" pitchFamily="34" charset="0"/>
              </a:defRPr>
            </a:lvl9pPr>
          </a:lstStyle>
          <a:p>
            <a:fld id="{A587BA59-B15A-41DE-948C-0A9E9710AD1D}" type="slidenum">
              <a:rPr lang="en-US" altLang="en-US" sz="600">
                <a:solidFill>
                  <a:srgbClr val="FFFFFF"/>
                </a:solidFill>
                <a:latin typeface="Verdana" panose="020B0604030504040204" pitchFamily="34" charset="0"/>
              </a:rPr>
              <a:pPr/>
              <a:t>9</a:t>
            </a:fld>
            <a:endParaRPr lang="en-US" altLang="en-US" sz="600">
              <a:solidFill>
                <a:srgbClr val="FFFFFF"/>
              </a:solidFill>
              <a:latin typeface="Verdana" panose="020B0604030504040204" pitchFamily="34" charset="0"/>
            </a:endParaRPr>
          </a:p>
        </p:txBody>
      </p:sp>
      <p:grpSp>
        <p:nvGrpSpPr>
          <p:cNvPr id="41" name="Group 40"/>
          <p:cNvGrpSpPr/>
          <p:nvPr/>
        </p:nvGrpSpPr>
        <p:grpSpPr>
          <a:xfrm>
            <a:off x="-24050" y="722718"/>
            <a:ext cx="5127081" cy="3095695"/>
            <a:chOff x="3253822" y="1494773"/>
            <a:chExt cx="6271179" cy="3786494"/>
          </a:xfrm>
        </p:grpSpPr>
        <p:sp>
          <p:nvSpPr>
            <p:cNvPr id="42" name="Rounded Rectangle 41"/>
            <p:cNvSpPr>
              <a:spLocks noChangeArrowheads="1"/>
            </p:cNvSpPr>
            <p:nvPr/>
          </p:nvSpPr>
          <p:spPr bwMode="auto">
            <a:xfrm>
              <a:off x="4227114" y="1695082"/>
              <a:ext cx="1934628" cy="3586185"/>
            </a:xfrm>
            <a:prstGeom prst="roundRect">
              <a:avLst>
                <a:gd name="adj" fmla="val 12366"/>
              </a:avLst>
            </a:prstGeom>
            <a:solidFill>
              <a:schemeClr val="bg2">
                <a:lumMod val="20000"/>
                <a:lumOff val="80000"/>
              </a:schemeClr>
            </a:solidFill>
            <a:ln w="9525">
              <a:solidFill>
                <a:srgbClr val="7F7F7F"/>
              </a:solidFill>
              <a:round/>
              <a:headEnd/>
              <a:tailEnd/>
            </a:ln>
            <a:effectLst>
              <a:outerShdw blurRad="40000" dist="20000" dir="5400000" rotWithShape="0">
                <a:srgbClr val="808080">
                  <a:alpha val="37999"/>
                </a:srgbClr>
              </a:outerShdw>
            </a:effectLst>
          </p:spPr>
          <p:txBody>
            <a:bodyPr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endParaRPr lang="en-US" sz="858" dirty="0">
                <a:latin typeface="Intel Clear" panose="020B0604020203020204" pitchFamily="34" charset="0"/>
                <a:ea typeface="ＭＳ Ｐゴシック" charset="-128"/>
                <a:cs typeface="ＭＳ Ｐゴシック" charset="-128"/>
              </a:endParaRPr>
            </a:p>
          </p:txBody>
        </p:sp>
        <p:grpSp>
          <p:nvGrpSpPr>
            <p:cNvPr id="45" name="Group 44"/>
            <p:cNvGrpSpPr/>
            <p:nvPr/>
          </p:nvGrpSpPr>
          <p:grpSpPr>
            <a:xfrm>
              <a:off x="3253822" y="1494773"/>
              <a:ext cx="6271179" cy="3639897"/>
              <a:chOff x="3253822" y="1494773"/>
              <a:chExt cx="6271179" cy="3639897"/>
            </a:xfrm>
          </p:grpSpPr>
          <p:sp>
            <p:nvSpPr>
              <p:cNvPr id="48" name="Rounded Rectangle 47"/>
              <p:cNvSpPr>
                <a:spLocks noChangeArrowheads="1"/>
              </p:cNvSpPr>
              <p:nvPr/>
            </p:nvSpPr>
            <p:spPr bwMode="auto">
              <a:xfrm>
                <a:off x="6885426" y="3493901"/>
                <a:ext cx="1235403" cy="1477010"/>
              </a:xfrm>
              <a:prstGeom prst="roundRect">
                <a:avLst>
                  <a:gd name="adj" fmla="val 12366"/>
                </a:avLst>
              </a:prstGeom>
              <a:solidFill>
                <a:schemeClr val="bg2">
                  <a:lumMod val="20000"/>
                  <a:lumOff val="80000"/>
                </a:schemeClr>
              </a:solidFill>
              <a:ln w="9525">
                <a:solidFill>
                  <a:srgbClr val="7F7F7F"/>
                </a:solidFill>
                <a:round/>
                <a:headEnd/>
                <a:tailEnd/>
              </a:ln>
              <a:effectLst>
                <a:outerShdw blurRad="40000" dist="20000" dir="5400000" rotWithShape="0">
                  <a:srgbClr val="808080">
                    <a:alpha val="37999"/>
                  </a:srgbClr>
                </a:outerShdw>
              </a:effectLst>
            </p:spPr>
            <p:txBody>
              <a:bodyPr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858" dirty="0">
                    <a:latin typeface="Intel Clear" panose="020B0604020203020204" pitchFamily="34" charset="0"/>
                    <a:ea typeface="ＭＳ Ｐゴシック" charset="-128"/>
                    <a:cs typeface="ＭＳ Ｐゴシック" charset="-128"/>
                  </a:rPr>
                  <a:t>Async </a:t>
                </a:r>
              </a:p>
              <a:p>
                <a:pPr algn="ctr">
                  <a:defRPr/>
                </a:pPr>
                <a:r>
                  <a:rPr lang="en-US" sz="858" dirty="0">
                    <a:latin typeface="Intel Clear" panose="020B0604020203020204" pitchFamily="34" charset="0"/>
                    <a:ea typeface="ＭＳ Ｐゴシック" charset="-128"/>
                    <a:cs typeface="ＭＳ Ｐゴシック" charset="-128"/>
                  </a:rPr>
                  <a:t>Co-simulation</a:t>
                </a:r>
              </a:p>
            </p:txBody>
          </p:sp>
          <p:sp>
            <p:nvSpPr>
              <p:cNvPr id="52" name="Rounded Rectangle 51"/>
              <p:cNvSpPr>
                <a:spLocks noChangeArrowheads="1"/>
              </p:cNvSpPr>
              <p:nvPr/>
            </p:nvSpPr>
            <p:spPr bwMode="auto">
              <a:xfrm>
                <a:off x="7050491" y="2383632"/>
                <a:ext cx="2474510" cy="846828"/>
              </a:xfrm>
              <a:prstGeom prst="roundRect">
                <a:avLst>
                  <a:gd name="adj" fmla="val 12366"/>
                </a:avLst>
              </a:prstGeom>
              <a:solidFill>
                <a:schemeClr val="bg2">
                  <a:lumMod val="20000"/>
                  <a:lumOff val="80000"/>
                </a:schemeClr>
              </a:solidFill>
              <a:ln w="9525">
                <a:solidFill>
                  <a:srgbClr val="7F7F7F"/>
                </a:solidFill>
                <a:round/>
                <a:headEnd/>
                <a:tailEnd/>
              </a:ln>
              <a:effectLst>
                <a:outerShdw blurRad="40000" dist="20000" dir="5400000" rotWithShape="0">
                  <a:srgbClr val="808080">
                    <a:alpha val="37999"/>
                  </a:srgbClr>
                </a:outerShdw>
              </a:effectLst>
            </p:spPr>
            <p:txBody>
              <a:bodyPr anchor="t"/>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r">
                  <a:defRPr/>
                </a:pPr>
                <a:r>
                  <a:rPr lang="en-US" sz="818" dirty="0">
                    <a:latin typeface="Intel Clear" panose="020B0604020203020204" pitchFamily="34" charset="0"/>
                    <a:ea typeface="ＭＳ Ｐゴシック" charset="-128"/>
                    <a:cs typeface="ＭＳ Ｐゴシック" charset="-128"/>
                  </a:rPr>
                  <a:t>Chip-Level Verification</a:t>
                </a:r>
              </a:p>
            </p:txBody>
          </p:sp>
          <p:sp>
            <p:nvSpPr>
              <p:cNvPr id="53" name="TextBox 82"/>
              <p:cNvSpPr txBox="1">
                <a:spLocks noChangeArrowheads="1"/>
              </p:cNvSpPr>
              <p:nvPr/>
            </p:nvSpPr>
            <p:spPr bwMode="auto">
              <a:xfrm>
                <a:off x="6927339" y="2498939"/>
                <a:ext cx="1182069" cy="42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eaLnBrk="1" hangingPunct="1"/>
                <a:r>
                  <a:rPr lang="en-US" sz="818" dirty="0">
                    <a:latin typeface="Intel Clear" panose="020B0604020203020204" pitchFamily="34" charset="0"/>
                  </a:rPr>
                  <a:t>VCS</a:t>
                </a:r>
                <a:br>
                  <a:rPr lang="en-US" sz="818" dirty="0">
                    <a:latin typeface="Intel Clear" panose="020B0604020203020204" pitchFamily="34" charset="0"/>
                  </a:rPr>
                </a:br>
                <a:endParaRPr lang="en-US" sz="818" b="0" dirty="0">
                  <a:latin typeface="Intel Clear" panose="020B0604020203020204" pitchFamily="34" charset="0"/>
                </a:endParaRPr>
              </a:p>
            </p:txBody>
          </p:sp>
          <p:cxnSp>
            <p:nvCxnSpPr>
              <p:cNvPr id="54" name="Straight Connector 53"/>
              <p:cNvCxnSpPr/>
              <p:nvPr/>
            </p:nvCxnSpPr>
            <p:spPr bwMode="auto">
              <a:xfrm flipV="1">
                <a:off x="5962504" y="3065640"/>
                <a:ext cx="1195128" cy="1175517"/>
              </a:xfrm>
              <a:prstGeom prst="line">
                <a:avLst/>
              </a:prstGeom>
              <a:noFill/>
              <a:ln w="19050" cap="flat" cmpd="sng" algn="ctr">
                <a:solidFill>
                  <a:schemeClr val="tx1"/>
                </a:solidFill>
                <a:prstDash val="solid"/>
                <a:round/>
                <a:headEnd type="none" w="med" len="med"/>
                <a:tailEnd type="arrow" w="med" len="med"/>
              </a:ln>
              <a:effectLst/>
            </p:spPr>
          </p:cxnSp>
          <p:sp>
            <p:nvSpPr>
              <p:cNvPr id="55" name="Rounded Rectangle 54"/>
              <p:cNvSpPr>
                <a:spLocks noChangeArrowheads="1"/>
              </p:cNvSpPr>
              <p:nvPr/>
            </p:nvSpPr>
            <p:spPr bwMode="auto">
              <a:xfrm>
                <a:off x="7157631" y="2702453"/>
                <a:ext cx="677950" cy="438718"/>
              </a:xfrm>
              <a:prstGeom prst="roundRect">
                <a:avLst>
                  <a:gd name="adj" fmla="val 16667"/>
                </a:avLst>
              </a:prstGeom>
              <a:solidFill>
                <a:srgbClr val="595959"/>
              </a:solidFill>
              <a:ln>
                <a:noFill/>
              </a:ln>
              <a:effectLst>
                <a:outerShdw blurRad="50800" dist="25400" dir="5400000" rotWithShape="0">
                  <a:srgbClr val="808080">
                    <a:alpha val="34999"/>
                  </a:srgbClr>
                </a:outerShdw>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p>
                <a:pPr algn="ctr">
                  <a:defRPr/>
                </a:pPr>
                <a:r>
                  <a:rPr lang="en-US" sz="818" dirty="0">
                    <a:solidFill>
                      <a:schemeClr val="bg1"/>
                    </a:solidFill>
                    <a:latin typeface="Intel Clear" panose="020B0604020203020204" pitchFamily="34" charset="0"/>
                    <a:ea typeface="ＭＳ Ｐゴシック" charset="0"/>
                    <a:cs typeface="ＭＳ Ｐゴシック" charset="0"/>
                  </a:rPr>
                  <a:t>Verilog</a:t>
                </a:r>
              </a:p>
            </p:txBody>
          </p:sp>
          <p:sp>
            <p:nvSpPr>
              <p:cNvPr id="56" name="Rectangular Callout 55"/>
              <p:cNvSpPr>
                <a:spLocks noChangeArrowheads="1"/>
              </p:cNvSpPr>
              <p:nvPr/>
            </p:nvSpPr>
            <p:spPr bwMode="auto">
              <a:xfrm>
                <a:off x="7835582" y="1494773"/>
                <a:ext cx="1417654" cy="674728"/>
              </a:xfrm>
              <a:prstGeom prst="wedgeRectCallout">
                <a:avLst>
                  <a:gd name="adj1" fmla="val -61770"/>
                  <a:gd name="adj2" fmla="val 128748"/>
                </a:avLst>
              </a:prstGeom>
              <a:solidFill>
                <a:schemeClr val="bg1"/>
              </a:solidFill>
              <a:ln w="6350">
                <a:solidFill>
                  <a:srgbClr val="7F7F7F"/>
                </a:solidFill>
                <a:round/>
                <a:headEnd/>
                <a:tailEnd/>
              </a:ln>
              <a:effectLst>
                <a:outerShdw blurRad="50800" dist="38100" dir="2700000" rotWithShape="0">
                  <a:srgbClr val="808080">
                    <a:alpha val="42999"/>
                  </a:srgbClr>
                </a:outerShdw>
              </a:effectLst>
            </p:spPr>
            <p:txBody>
              <a:bodyPr/>
              <a:lstStyle/>
              <a:p>
                <a:pPr>
                  <a:defRPr/>
                </a:pPr>
                <a:r>
                  <a:rPr lang="en-US" sz="818" dirty="0">
                    <a:latin typeface="Intel Clear" panose="020B0604020203020204" pitchFamily="34" charset="0"/>
                    <a:ea typeface="ＭＳ Ｐゴシック" charset="0"/>
                    <a:cs typeface="ＭＳ Ｐゴシック" charset="0"/>
                  </a:rPr>
                  <a:t>DUT can be assembled from blocks at any level of decomposition</a:t>
                </a:r>
              </a:p>
            </p:txBody>
          </p:sp>
          <p:sp>
            <p:nvSpPr>
              <p:cNvPr id="57" name="Rounded Rectangle 56"/>
              <p:cNvSpPr>
                <a:spLocks noChangeArrowheads="1"/>
              </p:cNvSpPr>
              <p:nvPr/>
            </p:nvSpPr>
            <p:spPr bwMode="auto">
              <a:xfrm>
                <a:off x="7902821" y="2702452"/>
                <a:ext cx="783980" cy="438717"/>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818" dirty="0">
                    <a:latin typeface="Intel Clear" panose="020B0604020203020204" pitchFamily="34" charset="0"/>
                    <a:ea typeface="ＭＳ Ｐゴシック" charset="0"/>
                    <a:cs typeface="ＭＳ Ｐゴシック" charset="0"/>
                  </a:rPr>
                  <a:t>Verification</a:t>
                </a:r>
              </a:p>
              <a:p>
                <a:pPr algn="ctr">
                  <a:defRPr/>
                </a:pPr>
                <a:r>
                  <a:rPr lang="en-US" sz="818" b="0" dirty="0">
                    <a:latin typeface="Intel Clear" panose="020B0604020203020204" pitchFamily="34" charset="0"/>
                    <a:ea typeface="ＭＳ Ｐゴシック" charset="0"/>
                    <a:cs typeface="ＭＳ Ｐゴシック" charset="0"/>
                  </a:rPr>
                  <a:t>IP</a:t>
                </a:r>
              </a:p>
            </p:txBody>
          </p:sp>
          <p:sp>
            <p:nvSpPr>
              <p:cNvPr id="58" name="Rounded Rectangle 57"/>
              <p:cNvSpPr>
                <a:spLocks noChangeArrowheads="1"/>
              </p:cNvSpPr>
              <p:nvPr/>
            </p:nvSpPr>
            <p:spPr bwMode="auto">
              <a:xfrm>
                <a:off x="8770850" y="2702452"/>
                <a:ext cx="677950" cy="438717"/>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818" dirty="0" err="1">
                    <a:latin typeface="Intel Clear" panose="020B0604020203020204" pitchFamily="34" charset="0"/>
                    <a:ea typeface="ＭＳ Ｐゴシック" charset="0"/>
                    <a:cs typeface="ＭＳ Ｐゴシック" charset="0"/>
                  </a:rPr>
                  <a:t>Testbench</a:t>
                </a:r>
                <a:endParaRPr lang="en-US" sz="818" dirty="0">
                  <a:latin typeface="Intel Clear" panose="020B0604020203020204" pitchFamily="34" charset="0"/>
                  <a:ea typeface="ＭＳ Ｐゴシック" charset="0"/>
                  <a:cs typeface="ＭＳ Ｐゴシック" charset="0"/>
                </a:endParaRPr>
              </a:p>
              <a:p>
                <a:pPr algn="ctr">
                  <a:defRPr/>
                </a:pPr>
                <a:r>
                  <a:rPr lang="en-US" sz="818" b="0" dirty="0">
                    <a:latin typeface="Intel Clear" panose="020B0604020203020204" pitchFamily="34" charset="0"/>
                    <a:ea typeface="ＭＳ Ｐゴシック" charset="0"/>
                    <a:cs typeface="ＭＳ Ｐゴシック" charset="0"/>
                  </a:rPr>
                  <a:t>Interfaces</a:t>
                </a:r>
              </a:p>
            </p:txBody>
          </p:sp>
          <p:cxnSp>
            <p:nvCxnSpPr>
              <p:cNvPr id="59" name="Straight Connector 58"/>
              <p:cNvCxnSpPr>
                <a:endCxn id="55" idx="1"/>
              </p:cNvCxnSpPr>
              <p:nvPr/>
            </p:nvCxnSpPr>
            <p:spPr bwMode="auto">
              <a:xfrm flipV="1">
                <a:off x="5954842" y="2921812"/>
                <a:ext cx="1202789" cy="590188"/>
              </a:xfrm>
              <a:prstGeom prst="line">
                <a:avLst/>
              </a:prstGeom>
              <a:noFill/>
              <a:ln w="19050" cap="flat" cmpd="sng" algn="ctr">
                <a:solidFill>
                  <a:schemeClr val="tx1"/>
                </a:solidFill>
                <a:prstDash val="solid"/>
                <a:round/>
                <a:headEnd type="none" w="med" len="med"/>
                <a:tailEnd type="arrow" w="med" len="med"/>
              </a:ln>
              <a:effectLst/>
            </p:spPr>
          </p:cxnSp>
          <p:cxnSp>
            <p:nvCxnSpPr>
              <p:cNvPr id="60" name="Straight Connector 59"/>
              <p:cNvCxnSpPr>
                <a:endCxn id="55" idx="1"/>
              </p:cNvCxnSpPr>
              <p:nvPr/>
            </p:nvCxnSpPr>
            <p:spPr bwMode="auto">
              <a:xfrm>
                <a:off x="5954842" y="2772141"/>
                <a:ext cx="1202789" cy="149671"/>
              </a:xfrm>
              <a:prstGeom prst="line">
                <a:avLst/>
              </a:prstGeom>
              <a:noFill/>
              <a:ln w="19050" cap="flat" cmpd="sng" algn="ctr">
                <a:solidFill>
                  <a:schemeClr val="tx1"/>
                </a:solidFill>
                <a:prstDash val="solid"/>
                <a:round/>
                <a:headEnd type="none" w="med" len="med"/>
                <a:tailEnd type="arrow" w="med" len="med"/>
              </a:ln>
              <a:effectLst/>
            </p:spPr>
          </p:cxnSp>
          <p:cxnSp>
            <p:nvCxnSpPr>
              <p:cNvPr id="61" name="Straight Connector 60"/>
              <p:cNvCxnSpPr/>
              <p:nvPr/>
            </p:nvCxnSpPr>
            <p:spPr bwMode="auto">
              <a:xfrm>
                <a:off x="5963630" y="2030126"/>
                <a:ext cx="1202789" cy="742015"/>
              </a:xfrm>
              <a:prstGeom prst="line">
                <a:avLst/>
              </a:prstGeom>
              <a:noFill/>
              <a:ln w="19050" cap="flat" cmpd="sng" algn="ctr">
                <a:solidFill>
                  <a:schemeClr val="tx1"/>
                </a:solidFill>
                <a:prstDash val="solid"/>
                <a:round/>
                <a:headEnd type="none" w="med" len="med"/>
                <a:tailEnd type="arrow" w="med" len="med"/>
              </a:ln>
              <a:effectLst/>
            </p:spPr>
          </p:cxnSp>
          <p:sp>
            <p:nvSpPr>
              <p:cNvPr id="62" name="Left Brace 61"/>
              <p:cNvSpPr/>
              <p:nvPr/>
            </p:nvSpPr>
            <p:spPr bwMode="auto">
              <a:xfrm>
                <a:off x="4286380" y="2030124"/>
                <a:ext cx="244069" cy="2191951"/>
              </a:xfrm>
              <a:prstGeom prst="leftBrace">
                <a:avLst>
                  <a:gd name="adj1" fmla="val 48784"/>
                  <a:gd name="adj2" fmla="val 54093"/>
                </a:avLst>
              </a:prstGeom>
              <a:noFill/>
              <a:ln w="19050" cap="flat" cmpd="sng" algn="ctr">
                <a:solidFill>
                  <a:schemeClr val="tx1"/>
                </a:solidFill>
                <a:prstDash val="solid"/>
                <a:round/>
                <a:headEnd type="none" w="med" len="med"/>
                <a:tailEnd type="none" w="med" len="med"/>
              </a:ln>
              <a:effectLst/>
            </p:spPr>
            <p:txBody>
              <a:bodyPr/>
              <a:lstStyle/>
              <a:p>
                <a:pPr>
                  <a:defRPr/>
                </a:pPr>
                <a:endParaRPr lang="en-US" sz="1104">
                  <a:latin typeface="Helvetica" charset="0"/>
                  <a:ea typeface="ＭＳ Ｐゴシック" charset="0"/>
                  <a:cs typeface="ＭＳ Ｐゴシック" charset="0"/>
                </a:endParaRPr>
              </a:p>
            </p:txBody>
          </p:sp>
          <p:sp>
            <p:nvSpPr>
              <p:cNvPr id="63" name="Rectangle 100"/>
              <p:cNvSpPr>
                <a:spLocks noChangeArrowheads="1"/>
              </p:cNvSpPr>
              <p:nvPr/>
            </p:nvSpPr>
            <p:spPr bwMode="gray">
              <a:xfrm flipH="1">
                <a:off x="4583862" y="1871041"/>
                <a:ext cx="1361007" cy="304197"/>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CSP</a:t>
                </a:r>
              </a:p>
            </p:txBody>
          </p:sp>
          <p:grpSp>
            <p:nvGrpSpPr>
              <p:cNvPr id="64" name="Group 275"/>
              <p:cNvGrpSpPr>
                <a:grpSpLocks/>
              </p:cNvGrpSpPr>
              <p:nvPr/>
            </p:nvGrpSpPr>
            <p:grpSpPr bwMode="auto">
              <a:xfrm>
                <a:off x="4587692" y="2610900"/>
                <a:ext cx="1359730" cy="304199"/>
                <a:chOff x="982335" y="2014678"/>
                <a:chExt cx="1691588" cy="315205"/>
              </a:xfrm>
            </p:grpSpPr>
            <p:sp>
              <p:nvSpPr>
                <p:cNvPr id="89" name="Rectangle 100"/>
                <p:cNvSpPr>
                  <a:spLocks noChangeArrowheads="1"/>
                </p:cNvSpPr>
                <p:nvPr/>
              </p:nvSpPr>
              <p:spPr bwMode="gray">
                <a:xfrm flipH="1">
                  <a:off x="982335" y="2014678"/>
                  <a:ext cx="833881" cy="315203"/>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CSP</a:t>
                  </a:r>
                  <a:endParaRPr lang="en-US" sz="552" dirty="0">
                    <a:solidFill>
                      <a:srgbClr val="FFFFFF"/>
                    </a:solidFill>
                    <a:latin typeface="Intel Clear" panose="020B0604020203020204" pitchFamily="34" charset="0"/>
                    <a:ea typeface="ＭＳ Ｐゴシック" charset="0"/>
                    <a:cs typeface="ＭＳ Ｐゴシック" charset="0"/>
                  </a:endParaRPr>
                </a:p>
              </p:txBody>
            </p:sp>
            <p:sp>
              <p:nvSpPr>
                <p:cNvPr id="90" name="Rectangle 100"/>
                <p:cNvSpPr>
                  <a:spLocks noChangeArrowheads="1"/>
                </p:cNvSpPr>
                <p:nvPr/>
              </p:nvSpPr>
              <p:spPr bwMode="gray">
                <a:xfrm flipH="1">
                  <a:off x="1840042" y="2014679"/>
                  <a:ext cx="833881" cy="315204"/>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CSP</a:t>
                  </a:r>
                </a:p>
              </p:txBody>
            </p:sp>
          </p:grpSp>
          <p:grpSp>
            <p:nvGrpSpPr>
              <p:cNvPr id="65" name="Group 274"/>
              <p:cNvGrpSpPr>
                <a:grpSpLocks/>
              </p:cNvGrpSpPr>
              <p:nvPr/>
            </p:nvGrpSpPr>
            <p:grpSpPr bwMode="auto">
              <a:xfrm>
                <a:off x="4590245" y="3350757"/>
                <a:ext cx="1357177" cy="304197"/>
                <a:chOff x="986410" y="2504893"/>
                <a:chExt cx="1687515" cy="315204"/>
              </a:xfrm>
            </p:grpSpPr>
            <p:sp>
              <p:nvSpPr>
                <p:cNvPr id="85" name="Rectangle 100"/>
                <p:cNvSpPr>
                  <a:spLocks noChangeArrowheads="1"/>
                </p:cNvSpPr>
                <p:nvPr/>
              </p:nvSpPr>
              <p:spPr bwMode="gray">
                <a:xfrm flipH="1">
                  <a:off x="986410" y="2504893"/>
                  <a:ext cx="404813" cy="315204"/>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CSP</a:t>
                  </a:r>
                  <a:endParaRPr lang="en-US" sz="552" dirty="0">
                    <a:solidFill>
                      <a:srgbClr val="FFFFFF"/>
                    </a:solidFill>
                    <a:latin typeface="Intel Clear" panose="020B0604020203020204" pitchFamily="34" charset="0"/>
                    <a:ea typeface="ＭＳ Ｐゴシック" charset="0"/>
                    <a:cs typeface="ＭＳ Ｐゴシック" charset="0"/>
                  </a:endParaRPr>
                </a:p>
              </p:txBody>
            </p:sp>
            <p:sp>
              <p:nvSpPr>
                <p:cNvPr id="86" name="Rectangle 100"/>
                <p:cNvSpPr>
                  <a:spLocks noChangeArrowheads="1"/>
                </p:cNvSpPr>
                <p:nvPr/>
              </p:nvSpPr>
              <p:spPr bwMode="gray">
                <a:xfrm flipH="1">
                  <a:off x="1846837" y="2504893"/>
                  <a:ext cx="400051" cy="315204"/>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CSP</a:t>
                  </a:r>
                  <a:endParaRPr lang="en-US" sz="552" dirty="0">
                    <a:solidFill>
                      <a:srgbClr val="FFFFFF"/>
                    </a:solidFill>
                    <a:latin typeface="Intel Clear" panose="020B0604020203020204" pitchFamily="34" charset="0"/>
                    <a:ea typeface="ＭＳ Ｐゴシック" charset="0"/>
                    <a:cs typeface="ＭＳ Ｐゴシック" charset="0"/>
                  </a:endParaRPr>
                </a:p>
              </p:txBody>
            </p:sp>
            <p:sp>
              <p:nvSpPr>
                <p:cNvPr id="87" name="Rectangle 100"/>
                <p:cNvSpPr>
                  <a:spLocks noChangeArrowheads="1"/>
                </p:cNvSpPr>
                <p:nvPr/>
              </p:nvSpPr>
              <p:spPr bwMode="gray">
                <a:xfrm flipH="1">
                  <a:off x="1416623" y="2504893"/>
                  <a:ext cx="404814" cy="315204"/>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CSP</a:t>
                  </a:r>
                </a:p>
              </p:txBody>
            </p:sp>
            <p:sp>
              <p:nvSpPr>
                <p:cNvPr id="88" name="Rectangle 100"/>
                <p:cNvSpPr>
                  <a:spLocks noChangeArrowheads="1"/>
                </p:cNvSpPr>
                <p:nvPr/>
              </p:nvSpPr>
              <p:spPr bwMode="gray">
                <a:xfrm flipH="1">
                  <a:off x="2273874" y="2504893"/>
                  <a:ext cx="400051" cy="315204"/>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CSP</a:t>
                  </a:r>
                  <a:endParaRPr lang="en-US" sz="552" dirty="0">
                    <a:solidFill>
                      <a:srgbClr val="FFFFFF"/>
                    </a:solidFill>
                    <a:latin typeface="Intel Clear" panose="020B0604020203020204" pitchFamily="34" charset="0"/>
                    <a:ea typeface="ＭＳ Ｐゴシック" charset="0"/>
                    <a:cs typeface="ＭＳ Ｐゴシック" charset="0"/>
                  </a:endParaRPr>
                </a:p>
              </p:txBody>
            </p:sp>
          </p:grpSp>
          <p:sp>
            <p:nvSpPr>
              <p:cNvPr id="66" name="Rectangle 100"/>
              <p:cNvSpPr>
                <a:spLocks noChangeArrowheads="1"/>
              </p:cNvSpPr>
              <p:nvPr/>
            </p:nvSpPr>
            <p:spPr bwMode="gray">
              <a:xfrm flipH="1">
                <a:off x="4594076" y="4079914"/>
                <a:ext cx="1361007" cy="304199"/>
              </a:xfrm>
              <a:prstGeom prst="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3175">
                <a:solidFill>
                  <a:schemeClr val="bg1"/>
                </a:solidFill>
                <a:miter lim="800000"/>
                <a:headEnd/>
                <a:tailEnd/>
              </a:ln>
              <a:effectLst>
                <a:outerShdw blurRad="50800" dist="38100" dir="2700000" algn="tl" rotWithShape="0">
                  <a:srgbClr val="808080">
                    <a:alpha val="23999"/>
                  </a:srgbClr>
                </a:outerShdw>
              </a:effectLst>
            </p:spPr>
            <p:txBody>
              <a:bodyPr wrap="none" anchor="ctr"/>
              <a:lstStyle/>
              <a:p>
                <a:pPr algn="ctr">
                  <a:defRPr/>
                </a:pPr>
                <a:r>
                  <a:rPr lang="en-US" sz="818" dirty="0">
                    <a:solidFill>
                      <a:srgbClr val="FFFFFF"/>
                    </a:solidFill>
                    <a:latin typeface="Intel Clear" panose="020B0604020203020204" pitchFamily="34" charset="0"/>
                    <a:ea typeface="ＭＳ Ｐゴシック" charset="0"/>
                    <a:cs typeface="ＭＳ Ｐゴシック" charset="0"/>
                  </a:rPr>
                  <a:t>PRS/GATE</a:t>
                </a:r>
                <a:endParaRPr lang="en-US" sz="552" dirty="0">
                  <a:solidFill>
                    <a:srgbClr val="FFFFFF"/>
                  </a:solidFill>
                  <a:latin typeface="Intel Clear" panose="020B0604020203020204" pitchFamily="34" charset="0"/>
                  <a:ea typeface="ＭＳ Ｐゴシック" charset="0"/>
                  <a:cs typeface="ＭＳ Ｐゴシック" charset="0"/>
                </a:endParaRPr>
              </a:p>
            </p:txBody>
          </p:sp>
          <p:sp>
            <p:nvSpPr>
              <p:cNvPr id="67" name="Down Arrow 276"/>
              <p:cNvSpPr>
                <a:spLocks noChangeArrowheads="1"/>
              </p:cNvSpPr>
              <p:nvPr/>
            </p:nvSpPr>
            <p:spPr bwMode="auto">
              <a:xfrm>
                <a:off x="5116262" y="2170654"/>
                <a:ext cx="306418" cy="392858"/>
              </a:xfrm>
              <a:prstGeom prst="downArrow">
                <a:avLst>
                  <a:gd name="adj1" fmla="val 50000"/>
                  <a:gd name="adj2" fmla="val 70254"/>
                </a:avLst>
              </a:prstGeom>
              <a:gradFill rotWithShape="1">
                <a:gsLst>
                  <a:gs pos="0">
                    <a:schemeClr val="accent4">
                      <a:lumMod val="40000"/>
                      <a:lumOff val="60000"/>
                    </a:schemeClr>
                  </a:gs>
                  <a:gs pos="100000">
                    <a:srgbClr val="00B050"/>
                  </a:gs>
                </a:gsLst>
                <a:lin ang="5400000"/>
              </a:gradFill>
              <a:ln>
                <a:noFill/>
              </a:ln>
            </p:spPr>
            <p:txBody>
              <a:bodyPr/>
              <a:lstStyle/>
              <a:p>
                <a:endParaRPr lang="en-US" sz="1104"/>
              </a:p>
            </p:txBody>
          </p:sp>
          <p:sp>
            <p:nvSpPr>
              <p:cNvPr id="68" name="Down Arrow 277"/>
              <p:cNvSpPr>
                <a:spLocks noChangeArrowheads="1"/>
              </p:cNvSpPr>
              <p:nvPr/>
            </p:nvSpPr>
            <p:spPr bwMode="auto">
              <a:xfrm>
                <a:off x="5120093" y="2916626"/>
                <a:ext cx="305142" cy="392858"/>
              </a:xfrm>
              <a:prstGeom prst="downArrow">
                <a:avLst>
                  <a:gd name="adj1" fmla="val 50000"/>
                  <a:gd name="adj2" fmla="val 70547"/>
                </a:avLst>
              </a:prstGeom>
              <a:gradFill rotWithShape="1">
                <a:gsLst>
                  <a:gs pos="0">
                    <a:schemeClr val="accent4">
                      <a:lumMod val="40000"/>
                      <a:lumOff val="60000"/>
                    </a:schemeClr>
                  </a:gs>
                  <a:gs pos="100000">
                    <a:srgbClr val="00B050"/>
                  </a:gs>
                </a:gsLst>
                <a:lin ang="5400000"/>
              </a:gradFill>
              <a:ln>
                <a:noFill/>
              </a:ln>
            </p:spPr>
            <p:txBody>
              <a:bodyPr/>
              <a:lstStyle/>
              <a:p>
                <a:endParaRPr lang="en-US" sz="1104"/>
              </a:p>
            </p:txBody>
          </p:sp>
          <p:sp>
            <p:nvSpPr>
              <p:cNvPr id="69" name="Down Arrow 278"/>
              <p:cNvSpPr>
                <a:spLocks noChangeArrowheads="1"/>
              </p:cNvSpPr>
              <p:nvPr/>
            </p:nvSpPr>
            <p:spPr bwMode="auto">
              <a:xfrm>
                <a:off x="5116262" y="3642725"/>
                <a:ext cx="305141" cy="392859"/>
              </a:xfrm>
              <a:prstGeom prst="downArrow">
                <a:avLst>
                  <a:gd name="adj1" fmla="val 50000"/>
                  <a:gd name="adj2" fmla="val 70548"/>
                </a:avLst>
              </a:prstGeom>
              <a:gradFill rotWithShape="1">
                <a:gsLst>
                  <a:gs pos="0">
                    <a:schemeClr val="accent4">
                      <a:lumMod val="40000"/>
                      <a:lumOff val="60000"/>
                    </a:schemeClr>
                  </a:gs>
                  <a:gs pos="100000">
                    <a:srgbClr val="00B050"/>
                  </a:gs>
                </a:gsLst>
                <a:lin ang="5400000"/>
              </a:gradFill>
              <a:ln>
                <a:noFill/>
              </a:ln>
            </p:spPr>
            <p:txBody>
              <a:bodyPr/>
              <a:lstStyle/>
              <a:p>
                <a:endParaRPr lang="en-US" sz="1104"/>
              </a:p>
            </p:txBody>
          </p:sp>
          <p:sp>
            <p:nvSpPr>
              <p:cNvPr id="70" name="TextBox 295"/>
              <p:cNvSpPr txBox="1">
                <a:spLocks noChangeArrowheads="1"/>
              </p:cNvSpPr>
              <p:nvPr/>
            </p:nvSpPr>
            <p:spPr bwMode="auto">
              <a:xfrm>
                <a:off x="3257653" y="3050322"/>
                <a:ext cx="1076822" cy="42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pitchFamily="34" charset="0"/>
                    <a:ea typeface="MS PGothic" pitchFamily="34" charset="-128"/>
                  </a:defRPr>
                </a:lvl1pPr>
                <a:lvl2pPr marL="742950" indent="-285750" eaLnBrk="0" hangingPunct="0">
                  <a:defRPr sz="2000" b="1">
                    <a:solidFill>
                      <a:schemeClr val="tx1"/>
                    </a:solidFill>
                    <a:latin typeface="Helvetica" pitchFamily="34" charset="0"/>
                    <a:ea typeface="MS PGothic" pitchFamily="34" charset="-128"/>
                  </a:defRPr>
                </a:lvl2pPr>
                <a:lvl3pPr marL="1143000" indent="-228600" eaLnBrk="0" hangingPunct="0">
                  <a:defRPr sz="2000" b="1">
                    <a:solidFill>
                      <a:schemeClr val="tx1"/>
                    </a:solidFill>
                    <a:latin typeface="Helvetica" pitchFamily="34" charset="0"/>
                    <a:ea typeface="MS PGothic" pitchFamily="34" charset="-128"/>
                  </a:defRPr>
                </a:lvl3pPr>
                <a:lvl4pPr marL="1600200" indent="-228600" eaLnBrk="0" hangingPunct="0">
                  <a:defRPr sz="2000" b="1">
                    <a:solidFill>
                      <a:schemeClr val="tx1"/>
                    </a:solidFill>
                    <a:latin typeface="Helvetica" pitchFamily="34" charset="0"/>
                    <a:ea typeface="MS PGothic" pitchFamily="34" charset="-128"/>
                  </a:defRPr>
                </a:lvl4pPr>
                <a:lvl5pPr marL="2057400" indent="-228600" eaLnBrk="0" hangingPunct="0">
                  <a:defRPr sz="2000" b="1">
                    <a:solidFill>
                      <a:schemeClr val="tx1"/>
                    </a:solidFill>
                    <a:latin typeface="Helvetica" pitchFamily="34" charset="0"/>
                    <a:ea typeface="MS PGothic" pitchFamily="34" charset="-128"/>
                  </a:defRPr>
                </a:lvl5pPr>
                <a:lvl6pPr marL="2514600" indent="-228600" eaLnBrk="0" fontAlgn="base" hangingPunct="0">
                  <a:spcBef>
                    <a:spcPct val="0"/>
                  </a:spcBef>
                  <a:spcAft>
                    <a:spcPct val="0"/>
                  </a:spcAft>
                  <a:defRPr sz="2000" b="1">
                    <a:solidFill>
                      <a:schemeClr val="tx1"/>
                    </a:solidFill>
                    <a:latin typeface="Helvetica" pitchFamily="34" charset="0"/>
                    <a:ea typeface="MS PGothic" pitchFamily="34" charset="-128"/>
                  </a:defRPr>
                </a:lvl6pPr>
                <a:lvl7pPr marL="2971800" indent="-228600" eaLnBrk="0" fontAlgn="base" hangingPunct="0">
                  <a:spcBef>
                    <a:spcPct val="0"/>
                  </a:spcBef>
                  <a:spcAft>
                    <a:spcPct val="0"/>
                  </a:spcAft>
                  <a:defRPr sz="2000" b="1">
                    <a:solidFill>
                      <a:schemeClr val="tx1"/>
                    </a:solidFill>
                    <a:latin typeface="Helvetica" pitchFamily="34" charset="0"/>
                    <a:ea typeface="MS PGothic" pitchFamily="34" charset="-128"/>
                  </a:defRPr>
                </a:lvl7pPr>
                <a:lvl8pPr marL="3429000" indent="-228600" eaLnBrk="0" fontAlgn="base" hangingPunct="0">
                  <a:spcBef>
                    <a:spcPct val="0"/>
                  </a:spcBef>
                  <a:spcAft>
                    <a:spcPct val="0"/>
                  </a:spcAft>
                  <a:defRPr sz="2000" b="1">
                    <a:solidFill>
                      <a:schemeClr val="tx1"/>
                    </a:solidFill>
                    <a:latin typeface="Helvetica" pitchFamily="34" charset="0"/>
                    <a:ea typeface="MS PGothic" pitchFamily="34" charset="-128"/>
                  </a:defRPr>
                </a:lvl8pPr>
                <a:lvl9pPr marL="3886200" indent="-228600" eaLnBrk="0" fontAlgn="base" hangingPunct="0">
                  <a:spcBef>
                    <a:spcPct val="0"/>
                  </a:spcBef>
                  <a:spcAft>
                    <a:spcPct val="0"/>
                  </a:spcAft>
                  <a:defRPr sz="2000" b="1">
                    <a:solidFill>
                      <a:schemeClr val="tx1"/>
                    </a:solidFill>
                    <a:latin typeface="Helvetica" pitchFamily="34" charset="0"/>
                    <a:ea typeface="MS PGothic" pitchFamily="34" charset="-128"/>
                  </a:defRPr>
                </a:lvl9pPr>
              </a:lstStyle>
              <a:p>
                <a:pPr algn="ctr" eaLnBrk="1" hangingPunct="1"/>
                <a:r>
                  <a:rPr lang="en-US" sz="818" dirty="0">
                    <a:latin typeface="Intel Clear" panose="020B0604020203020204" pitchFamily="34" charset="0"/>
                  </a:rPr>
                  <a:t>Digital</a:t>
                </a:r>
              </a:p>
              <a:p>
                <a:pPr algn="ctr" eaLnBrk="1" hangingPunct="1"/>
                <a:r>
                  <a:rPr lang="en-US" sz="818" dirty="0">
                    <a:latin typeface="Intel Clear" panose="020B0604020203020204" pitchFamily="34" charset="0"/>
                  </a:rPr>
                  <a:t>Co-simulation</a:t>
                </a:r>
              </a:p>
            </p:txBody>
          </p:sp>
          <p:sp>
            <p:nvSpPr>
              <p:cNvPr id="71" name="Left Brace 70"/>
              <p:cNvSpPr/>
              <p:nvPr/>
            </p:nvSpPr>
            <p:spPr bwMode="auto">
              <a:xfrm>
                <a:off x="4281273" y="4222077"/>
                <a:ext cx="245134" cy="912593"/>
              </a:xfrm>
              <a:prstGeom prst="leftBrace">
                <a:avLst>
                  <a:gd name="adj1" fmla="val 48784"/>
                  <a:gd name="adj2" fmla="val 49403"/>
                </a:avLst>
              </a:prstGeom>
              <a:noFill/>
              <a:ln w="19050" cap="flat" cmpd="sng" algn="ctr">
                <a:solidFill>
                  <a:schemeClr val="tx1"/>
                </a:solidFill>
                <a:prstDash val="solid"/>
                <a:round/>
                <a:headEnd type="none" w="med" len="med"/>
                <a:tailEnd type="none" w="med" len="med"/>
              </a:ln>
              <a:effectLst/>
            </p:spPr>
            <p:txBody>
              <a:bodyPr/>
              <a:lstStyle/>
              <a:p>
                <a:pPr>
                  <a:defRPr/>
                </a:pPr>
                <a:endParaRPr lang="en-US" sz="1104">
                  <a:latin typeface="Helvetica" charset="0"/>
                  <a:ea typeface="ＭＳ Ｐゴシック" charset="0"/>
                  <a:cs typeface="ＭＳ Ｐゴシック" charset="0"/>
                </a:endParaRPr>
              </a:p>
            </p:txBody>
          </p:sp>
          <p:sp>
            <p:nvSpPr>
              <p:cNvPr id="72" name="TextBox 304"/>
              <p:cNvSpPr txBox="1">
                <a:spLocks noChangeArrowheads="1"/>
              </p:cNvSpPr>
              <p:nvPr/>
            </p:nvSpPr>
            <p:spPr bwMode="auto">
              <a:xfrm>
                <a:off x="3253822" y="4494173"/>
                <a:ext cx="1076822" cy="42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pitchFamily="34" charset="0"/>
                    <a:ea typeface="MS PGothic" pitchFamily="34" charset="-128"/>
                  </a:defRPr>
                </a:lvl1pPr>
                <a:lvl2pPr marL="742950" indent="-285750" eaLnBrk="0" hangingPunct="0">
                  <a:defRPr sz="2000" b="1">
                    <a:solidFill>
                      <a:schemeClr val="tx1"/>
                    </a:solidFill>
                    <a:latin typeface="Helvetica" pitchFamily="34" charset="0"/>
                    <a:ea typeface="MS PGothic" pitchFamily="34" charset="-128"/>
                  </a:defRPr>
                </a:lvl2pPr>
                <a:lvl3pPr marL="1143000" indent="-228600" eaLnBrk="0" hangingPunct="0">
                  <a:defRPr sz="2000" b="1">
                    <a:solidFill>
                      <a:schemeClr val="tx1"/>
                    </a:solidFill>
                    <a:latin typeface="Helvetica" pitchFamily="34" charset="0"/>
                    <a:ea typeface="MS PGothic" pitchFamily="34" charset="-128"/>
                  </a:defRPr>
                </a:lvl3pPr>
                <a:lvl4pPr marL="1600200" indent="-228600" eaLnBrk="0" hangingPunct="0">
                  <a:defRPr sz="2000" b="1">
                    <a:solidFill>
                      <a:schemeClr val="tx1"/>
                    </a:solidFill>
                    <a:latin typeface="Helvetica" pitchFamily="34" charset="0"/>
                    <a:ea typeface="MS PGothic" pitchFamily="34" charset="-128"/>
                  </a:defRPr>
                </a:lvl4pPr>
                <a:lvl5pPr marL="2057400" indent="-228600" eaLnBrk="0" hangingPunct="0">
                  <a:defRPr sz="2000" b="1">
                    <a:solidFill>
                      <a:schemeClr val="tx1"/>
                    </a:solidFill>
                    <a:latin typeface="Helvetica" pitchFamily="34" charset="0"/>
                    <a:ea typeface="MS PGothic" pitchFamily="34" charset="-128"/>
                  </a:defRPr>
                </a:lvl5pPr>
                <a:lvl6pPr marL="2514600" indent="-228600" eaLnBrk="0" fontAlgn="base" hangingPunct="0">
                  <a:spcBef>
                    <a:spcPct val="0"/>
                  </a:spcBef>
                  <a:spcAft>
                    <a:spcPct val="0"/>
                  </a:spcAft>
                  <a:defRPr sz="2000" b="1">
                    <a:solidFill>
                      <a:schemeClr val="tx1"/>
                    </a:solidFill>
                    <a:latin typeface="Helvetica" pitchFamily="34" charset="0"/>
                    <a:ea typeface="MS PGothic" pitchFamily="34" charset="-128"/>
                  </a:defRPr>
                </a:lvl6pPr>
                <a:lvl7pPr marL="2971800" indent="-228600" eaLnBrk="0" fontAlgn="base" hangingPunct="0">
                  <a:spcBef>
                    <a:spcPct val="0"/>
                  </a:spcBef>
                  <a:spcAft>
                    <a:spcPct val="0"/>
                  </a:spcAft>
                  <a:defRPr sz="2000" b="1">
                    <a:solidFill>
                      <a:schemeClr val="tx1"/>
                    </a:solidFill>
                    <a:latin typeface="Helvetica" pitchFamily="34" charset="0"/>
                    <a:ea typeface="MS PGothic" pitchFamily="34" charset="-128"/>
                  </a:defRPr>
                </a:lvl7pPr>
                <a:lvl8pPr marL="3429000" indent="-228600" eaLnBrk="0" fontAlgn="base" hangingPunct="0">
                  <a:spcBef>
                    <a:spcPct val="0"/>
                  </a:spcBef>
                  <a:spcAft>
                    <a:spcPct val="0"/>
                  </a:spcAft>
                  <a:defRPr sz="2000" b="1">
                    <a:solidFill>
                      <a:schemeClr val="tx1"/>
                    </a:solidFill>
                    <a:latin typeface="Helvetica" pitchFamily="34" charset="0"/>
                    <a:ea typeface="MS PGothic" pitchFamily="34" charset="-128"/>
                  </a:defRPr>
                </a:lvl8pPr>
                <a:lvl9pPr marL="3886200" indent="-228600" eaLnBrk="0" fontAlgn="base" hangingPunct="0">
                  <a:spcBef>
                    <a:spcPct val="0"/>
                  </a:spcBef>
                  <a:spcAft>
                    <a:spcPct val="0"/>
                  </a:spcAft>
                  <a:defRPr sz="2000" b="1">
                    <a:solidFill>
                      <a:schemeClr val="tx1"/>
                    </a:solidFill>
                    <a:latin typeface="Helvetica" pitchFamily="34" charset="0"/>
                    <a:ea typeface="MS PGothic" pitchFamily="34" charset="-128"/>
                  </a:defRPr>
                </a:lvl9pPr>
              </a:lstStyle>
              <a:p>
                <a:pPr algn="ctr" eaLnBrk="1" hangingPunct="1"/>
                <a:r>
                  <a:rPr lang="en-US" sz="818" dirty="0">
                    <a:latin typeface="Intel Clear" panose="020B0604020203020204" pitchFamily="34" charset="0"/>
                  </a:rPr>
                  <a:t>Analog</a:t>
                </a:r>
              </a:p>
              <a:p>
                <a:pPr algn="ctr" eaLnBrk="1" hangingPunct="1"/>
                <a:r>
                  <a:rPr lang="en-US" sz="818" dirty="0">
                    <a:latin typeface="Intel Clear" panose="020B0604020203020204" pitchFamily="34" charset="0"/>
                  </a:rPr>
                  <a:t>Co-simulation</a:t>
                </a:r>
              </a:p>
            </p:txBody>
          </p:sp>
          <p:sp>
            <p:nvSpPr>
              <p:cNvPr id="73" name="Down Arrow 310"/>
              <p:cNvSpPr>
                <a:spLocks noChangeArrowheads="1"/>
              </p:cNvSpPr>
              <p:nvPr/>
            </p:nvSpPr>
            <p:spPr bwMode="auto">
              <a:xfrm>
                <a:off x="5118816" y="4387170"/>
                <a:ext cx="306418" cy="392858"/>
              </a:xfrm>
              <a:prstGeom prst="downArrow">
                <a:avLst>
                  <a:gd name="adj1" fmla="val 50000"/>
                  <a:gd name="adj2" fmla="val 70254"/>
                </a:avLst>
              </a:prstGeom>
              <a:gradFill rotWithShape="1">
                <a:gsLst>
                  <a:gs pos="0">
                    <a:schemeClr val="accent4">
                      <a:lumMod val="40000"/>
                      <a:lumOff val="60000"/>
                    </a:schemeClr>
                  </a:gs>
                  <a:gs pos="100000">
                    <a:srgbClr val="00B050"/>
                  </a:gs>
                </a:gsLst>
                <a:lin ang="5400000"/>
              </a:gradFill>
              <a:ln>
                <a:noFill/>
              </a:ln>
            </p:spPr>
            <p:txBody>
              <a:bodyPr/>
              <a:lstStyle/>
              <a:p>
                <a:endParaRPr lang="en-US" sz="1104"/>
              </a:p>
            </p:txBody>
          </p:sp>
          <p:sp>
            <p:nvSpPr>
              <p:cNvPr id="74" name="Rounded Rectangle 73"/>
              <p:cNvSpPr>
                <a:spLocks noChangeArrowheads="1"/>
              </p:cNvSpPr>
              <p:nvPr/>
            </p:nvSpPr>
            <p:spPr bwMode="auto">
              <a:xfrm>
                <a:off x="7147937" y="3634607"/>
                <a:ext cx="677950" cy="438718"/>
              </a:xfrm>
              <a:prstGeom prst="roundRect">
                <a:avLst>
                  <a:gd name="adj" fmla="val 16667"/>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a:solidFill>
                  <a:schemeClr val="bg1"/>
                </a:solidFill>
              </a:ln>
              <a:effectLst>
                <a:outerShdw blurRad="50800" dist="25400" dir="5400000" rotWithShape="0">
                  <a:srgbClr val="808080">
                    <a:alpha val="34999"/>
                  </a:srgbClr>
                </a:outerShdw>
              </a:effectLst>
            </p:spPr>
            <p:txBody>
              <a:bodyPr lIns="0" tIns="0" rIns="0" bIns="0" anchor="ctr"/>
              <a:lstStyle/>
              <a:p>
                <a:pPr algn="ctr">
                  <a:defRPr/>
                </a:pPr>
                <a:r>
                  <a:rPr lang="en-US" sz="981" dirty="0" err="1">
                    <a:solidFill>
                      <a:schemeClr val="bg1"/>
                    </a:solidFill>
                    <a:latin typeface="Intel Clear" panose="020B0604020203020204" pitchFamily="34" charset="0"/>
                    <a:ea typeface="ＭＳ Ｐゴシック" charset="0"/>
                    <a:cs typeface="ＭＳ Ｐゴシック" charset="0"/>
                  </a:rPr>
                  <a:t>DSim</a:t>
                </a:r>
                <a:endParaRPr lang="en-US" sz="981" dirty="0">
                  <a:solidFill>
                    <a:schemeClr val="bg1"/>
                  </a:solidFill>
                  <a:latin typeface="Intel Clear" panose="020B0604020203020204" pitchFamily="34" charset="0"/>
                  <a:ea typeface="ＭＳ Ｐゴシック" charset="0"/>
                  <a:cs typeface="ＭＳ Ｐゴシック" charset="0"/>
                </a:endParaRPr>
              </a:p>
            </p:txBody>
          </p:sp>
          <p:sp>
            <p:nvSpPr>
              <p:cNvPr id="75" name="Rounded Rectangle 74"/>
              <p:cNvSpPr>
                <a:spLocks noChangeArrowheads="1"/>
              </p:cNvSpPr>
              <p:nvPr/>
            </p:nvSpPr>
            <p:spPr bwMode="auto">
              <a:xfrm>
                <a:off x="7147937" y="4384112"/>
                <a:ext cx="677950" cy="438718"/>
              </a:xfrm>
              <a:prstGeom prst="roundRect">
                <a:avLst>
                  <a:gd name="adj" fmla="val 16667"/>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a:solidFill>
                  <a:schemeClr val="bg1"/>
                </a:solidFill>
              </a:ln>
              <a:effectLst>
                <a:outerShdw blurRad="50800" dist="25400" dir="5400000" rotWithShape="0">
                  <a:srgbClr val="808080">
                    <a:alpha val="34999"/>
                  </a:srgbClr>
                </a:outerShdw>
              </a:effectLst>
            </p:spPr>
            <p:txBody>
              <a:bodyPr lIns="0" tIns="0" rIns="0" bIns="0" anchor="ctr"/>
              <a:lstStyle/>
              <a:p>
                <a:pPr algn="ctr">
                  <a:defRPr/>
                </a:pPr>
                <a:r>
                  <a:rPr lang="en-US" sz="981" dirty="0" err="1">
                    <a:solidFill>
                      <a:schemeClr val="bg1"/>
                    </a:solidFill>
                    <a:latin typeface="Intel Clear" panose="020B0604020203020204" pitchFamily="34" charset="0"/>
                    <a:ea typeface="ＭＳ Ｐゴシック" charset="0"/>
                    <a:cs typeface="ＭＳ Ｐゴシック" charset="0"/>
                  </a:rPr>
                  <a:t>ASpice</a:t>
                </a:r>
                <a:endParaRPr lang="en-US" sz="981" dirty="0">
                  <a:solidFill>
                    <a:schemeClr val="bg1"/>
                  </a:solidFill>
                  <a:latin typeface="Intel Clear" panose="020B0604020203020204" pitchFamily="34" charset="0"/>
                  <a:ea typeface="ＭＳ Ｐゴシック" charset="0"/>
                  <a:cs typeface="ＭＳ Ｐゴシック" charset="0"/>
                </a:endParaRPr>
              </a:p>
            </p:txBody>
          </p:sp>
          <p:cxnSp>
            <p:nvCxnSpPr>
              <p:cNvPr id="76" name="Straight Connector 75"/>
              <p:cNvCxnSpPr>
                <a:stCxn id="84" idx="1"/>
              </p:cNvCxnSpPr>
              <p:nvPr/>
            </p:nvCxnSpPr>
            <p:spPr bwMode="auto">
              <a:xfrm flipV="1">
                <a:off x="5950793" y="4682395"/>
                <a:ext cx="1206645" cy="288516"/>
              </a:xfrm>
              <a:prstGeom prst="line">
                <a:avLst/>
              </a:prstGeom>
              <a:noFill/>
              <a:ln w="19050" cap="flat" cmpd="sng" algn="ctr">
                <a:solidFill>
                  <a:schemeClr val="tx1"/>
                </a:solidFill>
                <a:prstDash val="solid"/>
                <a:round/>
                <a:headEnd type="none" w="med" len="med"/>
                <a:tailEnd type="arrow" w="med" len="med"/>
              </a:ln>
              <a:effectLst/>
            </p:spPr>
          </p:cxnSp>
          <p:cxnSp>
            <p:nvCxnSpPr>
              <p:cNvPr id="77" name="Straight Connector 76"/>
              <p:cNvCxnSpPr/>
              <p:nvPr/>
            </p:nvCxnSpPr>
            <p:spPr bwMode="auto">
              <a:xfrm>
                <a:off x="5953829" y="4263258"/>
                <a:ext cx="1211224" cy="230915"/>
              </a:xfrm>
              <a:prstGeom prst="line">
                <a:avLst/>
              </a:prstGeom>
              <a:noFill/>
              <a:ln w="19050" cap="flat" cmpd="sng" algn="ctr">
                <a:solidFill>
                  <a:schemeClr val="tx1"/>
                </a:solidFill>
                <a:prstDash val="solid"/>
                <a:round/>
                <a:headEnd type="none" w="med" len="med"/>
                <a:tailEnd type="arrow" w="med" len="med"/>
              </a:ln>
              <a:effectLst/>
            </p:spPr>
          </p:cxnSp>
          <p:grpSp>
            <p:nvGrpSpPr>
              <p:cNvPr id="78" name="Group 305"/>
              <p:cNvGrpSpPr/>
              <p:nvPr/>
            </p:nvGrpSpPr>
            <p:grpSpPr>
              <a:xfrm>
                <a:off x="4593614" y="4819153"/>
                <a:ext cx="1357179" cy="303516"/>
                <a:chOff x="986410" y="2504893"/>
                <a:chExt cx="1687515" cy="315204"/>
              </a:xfrm>
              <a:solidFill>
                <a:schemeClr val="accent4"/>
              </a:solidFill>
            </p:grpSpPr>
            <p:sp>
              <p:nvSpPr>
                <p:cNvPr id="81" name="Rectangle 100"/>
                <p:cNvSpPr>
                  <a:spLocks noChangeArrowheads="1"/>
                </p:cNvSpPr>
                <p:nvPr/>
              </p:nvSpPr>
              <p:spPr bwMode="gray">
                <a:xfrm flipH="1">
                  <a:off x="986410" y="2504893"/>
                  <a:ext cx="404136" cy="315204"/>
                </a:xfrm>
                <a:prstGeom prst="rect">
                  <a:avLst/>
                </a:prstGeom>
                <a:gradFill>
                  <a:gsLst>
                    <a:gs pos="40000">
                      <a:schemeClr val="accent6"/>
                    </a:gs>
                    <a:gs pos="91000">
                      <a:schemeClr val="accent6">
                        <a:lumMod val="60000"/>
                        <a:lumOff val="40000"/>
                      </a:schemeClr>
                    </a:gs>
                    <a:gs pos="100000">
                      <a:schemeClr val="accent6"/>
                    </a:gs>
                  </a:gsLst>
                  <a:lin ang="10800000" scaled="1"/>
                </a:gradFill>
                <a:ln w="3175" cmpd="sng">
                  <a:solidFill>
                    <a:schemeClr val="bg1"/>
                  </a:solidFill>
                  <a:miter lim="800000"/>
                  <a:headEnd/>
                  <a:tailEnd/>
                </a:ln>
                <a:effectLst>
                  <a:outerShdw blurRad="50800" dist="38100" dir="2700000" algn="tl" rotWithShape="0">
                    <a:srgbClr val="000000">
                      <a:alpha val="24000"/>
                    </a:srgbClr>
                  </a:outerShdw>
                </a:effectLst>
              </p:spPr>
              <p:txBody>
                <a:bodyPr wrap="none" anchor="ctr"/>
                <a:lstStyle/>
                <a:p>
                  <a:pPr algn="ctr">
                    <a:defRPr/>
                  </a:pPr>
                  <a:r>
                    <a:rPr lang="en-US" sz="736" dirty="0">
                      <a:latin typeface="Helvetica" charset="0"/>
                      <a:ea typeface="ＭＳ Ｐゴシック" charset="-128"/>
                      <a:cs typeface="ＭＳ Ｐゴシック" charset="-128"/>
                    </a:rPr>
                    <a:t>XTOR</a:t>
                  </a:r>
                  <a:endParaRPr lang="en-US" sz="552" dirty="0">
                    <a:latin typeface="Helvetica" charset="0"/>
                    <a:ea typeface="ＭＳ Ｐゴシック" charset="-128"/>
                    <a:cs typeface="ＭＳ Ｐゴシック" charset="-128"/>
                  </a:endParaRPr>
                </a:p>
              </p:txBody>
            </p:sp>
            <p:sp>
              <p:nvSpPr>
                <p:cNvPr id="82" name="Rectangle 100"/>
                <p:cNvSpPr>
                  <a:spLocks noChangeArrowheads="1"/>
                </p:cNvSpPr>
                <p:nvPr/>
              </p:nvSpPr>
              <p:spPr bwMode="gray">
                <a:xfrm flipH="1">
                  <a:off x="1847428" y="2504893"/>
                  <a:ext cx="400062" cy="315204"/>
                </a:xfrm>
                <a:prstGeom prst="rect">
                  <a:avLst/>
                </a:prstGeom>
                <a:gradFill>
                  <a:gsLst>
                    <a:gs pos="40000">
                      <a:schemeClr val="accent6"/>
                    </a:gs>
                    <a:gs pos="91000">
                      <a:schemeClr val="accent6">
                        <a:lumMod val="60000"/>
                        <a:lumOff val="40000"/>
                      </a:schemeClr>
                    </a:gs>
                    <a:gs pos="100000">
                      <a:schemeClr val="accent6"/>
                    </a:gs>
                  </a:gsLst>
                  <a:lin ang="10800000" scaled="1"/>
                </a:gradFill>
                <a:ln w="3175" cmpd="sng">
                  <a:solidFill>
                    <a:schemeClr val="bg1"/>
                  </a:solidFill>
                  <a:miter lim="800000"/>
                  <a:headEnd/>
                  <a:tailEnd/>
                </a:ln>
                <a:effectLst>
                  <a:outerShdw blurRad="50800" dist="38100" dir="2700000" algn="tl" rotWithShape="0">
                    <a:srgbClr val="000000">
                      <a:alpha val="24000"/>
                    </a:srgbClr>
                  </a:outerShdw>
                </a:effectLst>
              </p:spPr>
              <p:txBody>
                <a:bodyPr wrap="none" anchor="ctr"/>
                <a:lstStyle/>
                <a:p>
                  <a:pPr algn="ctr">
                    <a:defRPr/>
                  </a:pPr>
                  <a:r>
                    <a:rPr lang="en-US" sz="736" dirty="0">
                      <a:latin typeface="Helvetica" charset="0"/>
                      <a:ea typeface="ＭＳ Ｐゴシック" charset="-128"/>
                      <a:cs typeface="ＭＳ Ｐゴシック" charset="-128"/>
                    </a:rPr>
                    <a:t>XTOR</a:t>
                  </a:r>
                </a:p>
              </p:txBody>
            </p:sp>
            <p:sp>
              <p:nvSpPr>
                <p:cNvPr id="83" name="Rectangle 100"/>
                <p:cNvSpPr>
                  <a:spLocks noChangeArrowheads="1"/>
                </p:cNvSpPr>
                <p:nvPr/>
              </p:nvSpPr>
              <p:spPr bwMode="gray">
                <a:xfrm flipH="1">
                  <a:off x="1416919" y="2504893"/>
                  <a:ext cx="404136" cy="315204"/>
                </a:xfrm>
                <a:prstGeom prst="rect">
                  <a:avLst/>
                </a:prstGeom>
                <a:gradFill>
                  <a:gsLst>
                    <a:gs pos="40000">
                      <a:schemeClr val="accent6"/>
                    </a:gs>
                    <a:gs pos="91000">
                      <a:schemeClr val="accent6">
                        <a:lumMod val="60000"/>
                        <a:lumOff val="40000"/>
                      </a:schemeClr>
                    </a:gs>
                    <a:gs pos="100000">
                      <a:schemeClr val="accent6"/>
                    </a:gs>
                  </a:gsLst>
                  <a:lin ang="10800000" scaled="1"/>
                </a:gradFill>
                <a:ln w="3175" cmpd="sng">
                  <a:solidFill>
                    <a:schemeClr val="bg1"/>
                  </a:solidFill>
                  <a:miter lim="800000"/>
                  <a:headEnd/>
                  <a:tailEnd/>
                </a:ln>
                <a:effectLst>
                  <a:outerShdw blurRad="50800" dist="38100" dir="2700000" algn="tl" rotWithShape="0">
                    <a:srgbClr val="000000">
                      <a:alpha val="24000"/>
                    </a:srgbClr>
                  </a:outerShdw>
                </a:effectLst>
              </p:spPr>
              <p:txBody>
                <a:bodyPr wrap="none" anchor="ctr"/>
                <a:lstStyle/>
                <a:p>
                  <a:pPr algn="ctr">
                    <a:defRPr/>
                  </a:pPr>
                  <a:r>
                    <a:rPr lang="en-US" sz="736" dirty="0">
                      <a:latin typeface="Helvetica" charset="0"/>
                      <a:ea typeface="ＭＳ Ｐゴシック" charset="-128"/>
                      <a:cs typeface="ＭＳ Ｐゴシック" charset="-128"/>
                    </a:rPr>
                    <a:t>XTOR</a:t>
                  </a:r>
                </a:p>
              </p:txBody>
            </p:sp>
            <p:sp>
              <p:nvSpPr>
                <p:cNvPr id="84" name="Rectangle 100"/>
                <p:cNvSpPr>
                  <a:spLocks noChangeArrowheads="1"/>
                </p:cNvSpPr>
                <p:nvPr/>
              </p:nvSpPr>
              <p:spPr bwMode="gray">
                <a:xfrm flipH="1">
                  <a:off x="2273863" y="2504893"/>
                  <a:ext cx="400062" cy="315204"/>
                </a:xfrm>
                <a:prstGeom prst="rect">
                  <a:avLst/>
                </a:prstGeom>
                <a:gradFill>
                  <a:gsLst>
                    <a:gs pos="40000">
                      <a:schemeClr val="accent6"/>
                    </a:gs>
                    <a:gs pos="91000">
                      <a:schemeClr val="accent6">
                        <a:lumMod val="60000"/>
                        <a:lumOff val="40000"/>
                      </a:schemeClr>
                    </a:gs>
                    <a:gs pos="100000">
                      <a:schemeClr val="accent6"/>
                    </a:gs>
                  </a:gsLst>
                  <a:lin ang="10800000" scaled="1"/>
                </a:gradFill>
                <a:ln w="3175" cmpd="sng">
                  <a:solidFill>
                    <a:schemeClr val="bg1"/>
                  </a:solidFill>
                  <a:miter lim="800000"/>
                  <a:headEnd/>
                  <a:tailEnd/>
                </a:ln>
                <a:effectLst>
                  <a:outerShdw blurRad="50800" dist="38100" dir="2700000" algn="tl" rotWithShape="0">
                    <a:srgbClr val="000000">
                      <a:alpha val="24000"/>
                    </a:srgbClr>
                  </a:outerShdw>
                </a:effectLst>
              </p:spPr>
              <p:txBody>
                <a:bodyPr wrap="none" anchor="ctr"/>
                <a:lstStyle/>
                <a:p>
                  <a:pPr algn="ctr">
                    <a:defRPr/>
                  </a:pPr>
                  <a:r>
                    <a:rPr lang="en-US" sz="736" dirty="0">
                      <a:latin typeface="Helvetica" charset="0"/>
                      <a:ea typeface="ＭＳ Ｐゴシック" charset="-128"/>
                      <a:cs typeface="ＭＳ Ｐゴシック" charset="-128"/>
                    </a:rPr>
                    <a:t>XTOR</a:t>
                  </a:r>
                  <a:endParaRPr lang="en-US" sz="552" dirty="0">
                    <a:latin typeface="Helvetica" charset="0"/>
                    <a:ea typeface="ＭＳ Ｐゴシック" charset="-128"/>
                    <a:cs typeface="ＭＳ Ｐゴシック" charset="-128"/>
                  </a:endParaRPr>
                </a:p>
              </p:txBody>
            </p:sp>
          </p:grpSp>
          <p:cxnSp>
            <p:nvCxnSpPr>
              <p:cNvPr id="79" name="Straight Connector 78"/>
              <p:cNvCxnSpPr>
                <a:stCxn id="66" idx="1"/>
              </p:cNvCxnSpPr>
              <p:nvPr/>
            </p:nvCxnSpPr>
            <p:spPr bwMode="auto">
              <a:xfrm flipV="1">
                <a:off x="5955081" y="3956913"/>
                <a:ext cx="1201979" cy="275100"/>
              </a:xfrm>
              <a:prstGeom prst="line">
                <a:avLst/>
              </a:prstGeom>
              <a:noFill/>
              <a:ln w="19050" cap="flat" cmpd="sng" algn="ctr">
                <a:solidFill>
                  <a:schemeClr val="tx1"/>
                </a:solidFill>
                <a:prstDash val="sysDash"/>
                <a:round/>
                <a:headEnd type="none" w="med" len="med"/>
                <a:tailEnd type="arrow" w="med" len="med"/>
              </a:ln>
              <a:effectLst/>
            </p:spPr>
          </p:cxnSp>
          <p:cxnSp>
            <p:nvCxnSpPr>
              <p:cNvPr id="80" name="Straight Connector 79"/>
              <p:cNvCxnSpPr>
                <a:stCxn id="88" idx="1"/>
              </p:cNvCxnSpPr>
              <p:nvPr/>
            </p:nvCxnSpPr>
            <p:spPr bwMode="auto">
              <a:xfrm>
                <a:off x="5947422" y="3502854"/>
                <a:ext cx="1209640" cy="282534"/>
              </a:xfrm>
              <a:prstGeom prst="line">
                <a:avLst/>
              </a:prstGeom>
              <a:noFill/>
              <a:ln w="19050" cap="flat" cmpd="sng" algn="ctr">
                <a:solidFill>
                  <a:schemeClr val="tx1"/>
                </a:solidFill>
                <a:prstDash val="sysDash"/>
                <a:round/>
                <a:headEnd type="none" w="med" len="med"/>
                <a:tailEnd type="arrow" w="med" len="med"/>
              </a:ln>
              <a:effectLst/>
            </p:spPr>
          </p:cxnSp>
        </p:grpSp>
      </p:grpSp>
    </p:spTree>
    <p:extLst>
      <p:ext uri="{BB962C8B-B14F-4D97-AF65-F5344CB8AC3E}">
        <p14:creationId xmlns:p14="http://schemas.microsoft.com/office/powerpoint/2010/main" val="3877675478"/>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Automated Asynchronous design flow</a:t>
            </a:r>
          </a:p>
        </p:txBody>
      </p:sp>
      <p:sp>
        <p:nvSpPr>
          <p:cNvPr id="6" name="Rounded Rectangle 5"/>
          <p:cNvSpPr>
            <a:spLocks noChangeAspect="1" noChangeArrowheads="1"/>
          </p:cNvSpPr>
          <p:nvPr/>
        </p:nvSpPr>
        <p:spPr bwMode="auto">
          <a:xfrm>
            <a:off x="2691324" y="1077361"/>
            <a:ext cx="2496761" cy="1440174"/>
          </a:xfrm>
          <a:prstGeom prst="roundRect">
            <a:avLst>
              <a:gd name="adj" fmla="val 12366"/>
            </a:avLst>
          </a:prstGeom>
          <a:solidFill>
            <a:srgbClr val="D9D9D9"/>
          </a:solidFill>
          <a:ln w="9525">
            <a:solidFill>
              <a:srgbClr val="7F7F7F"/>
            </a:solidFill>
            <a:round/>
            <a:headEnd/>
            <a:tailEnd/>
          </a:ln>
          <a:effectLst>
            <a:outerShdw blurRad="40000" dist="20000" dir="5400000" rotWithShape="0">
              <a:srgbClr val="808080">
                <a:alpha val="37999"/>
              </a:srgbClr>
            </a:outerShdw>
          </a:effectLst>
        </p:spPr>
        <p:txBody>
          <a:bodyP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472" dirty="0">
                <a:solidFill>
                  <a:prstClr val="black"/>
                </a:solidFill>
                <a:latin typeface="Intel Clear"/>
                <a:ea typeface="ＭＳ Ｐゴシック" charset="-128"/>
                <a:cs typeface="ＭＳ Ｐゴシック" charset="-128"/>
              </a:rPr>
              <a:t>Design Compiler (RDT)</a:t>
            </a:r>
          </a:p>
        </p:txBody>
      </p:sp>
      <p:sp>
        <p:nvSpPr>
          <p:cNvPr id="12" name="Rounded Rectangle 11"/>
          <p:cNvSpPr>
            <a:spLocks noChangeAspect="1" noChangeArrowheads="1"/>
          </p:cNvSpPr>
          <p:nvPr/>
        </p:nvSpPr>
        <p:spPr bwMode="auto">
          <a:xfrm>
            <a:off x="278864" y="1643810"/>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CAST/CSP</a:t>
            </a:r>
          </a:p>
          <a:p>
            <a:pPr algn="ctr">
              <a:defRPr/>
            </a:pPr>
            <a:r>
              <a:rPr lang="en-US" sz="1000" b="0" dirty="0">
                <a:solidFill>
                  <a:prstClr val="white"/>
                </a:solidFill>
                <a:latin typeface="Helvetica" charset="0"/>
                <a:ea typeface="ＭＳ Ｐゴシック" charset="0"/>
                <a:cs typeface="ＭＳ Ｐゴシック" charset="0"/>
              </a:rPr>
              <a:t>(Design Source)</a:t>
            </a:r>
          </a:p>
        </p:txBody>
      </p:sp>
      <p:sp>
        <p:nvSpPr>
          <p:cNvPr id="30" name="Rounded Rectangle 29"/>
          <p:cNvSpPr>
            <a:spLocks noChangeAspect="1" noChangeArrowheads="1"/>
          </p:cNvSpPr>
          <p:nvPr/>
        </p:nvSpPr>
        <p:spPr bwMode="auto">
          <a:xfrm>
            <a:off x="1533735" y="1647052"/>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CAST2RTL</a:t>
            </a:r>
            <a:endParaRPr lang="en-US" sz="1000" b="0" dirty="0">
              <a:solidFill>
                <a:prstClr val="white"/>
              </a:solidFill>
              <a:latin typeface="Helvetica" charset="0"/>
              <a:ea typeface="ＭＳ Ｐゴシック" charset="0"/>
              <a:cs typeface="ＭＳ Ｐゴシック" charset="0"/>
            </a:endParaRPr>
          </a:p>
        </p:txBody>
      </p:sp>
      <p:sp>
        <p:nvSpPr>
          <p:cNvPr id="31" name="Rounded Rectangle 30"/>
          <p:cNvSpPr>
            <a:spLocks noChangeAspect="1" noChangeArrowheads="1"/>
          </p:cNvSpPr>
          <p:nvPr/>
        </p:nvSpPr>
        <p:spPr bwMode="auto">
          <a:xfrm>
            <a:off x="2850207" y="1647055"/>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Compile</a:t>
            </a:r>
            <a:endParaRPr lang="en-US" sz="1000" b="0" dirty="0">
              <a:solidFill>
                <a:prstClr val="white"/>
              </a:solidFill>
              <a:latin typeface="Helvetica" charset="0"/>
              <a:ea typeface="ＭＳ Ｐゴシック" charset="0"/>
              <a:cs typeface="ＭＳ Ｐゴシック" charset="0"/>
            </a:endParaRPr>
          </a:p>
        </p:txBody>
      </p:sp>
      <p:sp>
        <p:nvSpPr>
          <p:cNvPr id="32" name="Rounded Rectangle 31"/>
          <p:cNvSpPr>
            <a:spLocks noChangeAspect="1" noChangeArrowheads="1"/>
          </p:cNvSpPr>
          <p:nvPr/>
        </p:nvSpPr>
        <p:spPr bwMode="auto">
          <a:xfrm>
            <a:off x="4105078" y="1645920"/>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Retiming</a:t>
            </a:r>
            <a:endParaRPr lang="en-US" sz="1000" b="0" dirty="0">
              <a:solidFill>
                <a:prstClr val="white"/>
              </a:solidFill>
              <a:latin typeface="Helvetica" charset="0"/>
              <a:ea typeface="ＭＳ Ｐゴシック" charset="0"/>
              <a:cs typeface="ＭＳ Ｐゴシック" charset="0"/>
            </a:endParaRPr>
          </a:p>
        </p:txBody>
      </p:sp>
      <p:sp>
        <p:nvSpPr>
          <p:cNvPr id="33" name="Rounded Rectangle 32"/>
          <p:cNvSpPr>
            <a:spLocks noChangeAspect="1" noChangeArrowheads="1"/>
          </p:cNvSpPr>
          <p:nvPr/>
        </p:nvSpPr>
        <p:spPr bwMode="auto">
          <a:xfrm>
            <a:off x="5366426" y="1647057"/>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Flop2Latch</a:t>
            </a:r>
            <a:endParaRPr lang="en-US" sz="1000" b="0" dirty="0">
              <a:solidFill>
                <a:prstClr val="white"/>
              </a:solidFill>
              <a:latin typeface="Helvetica" charset="0"/>
              <a:ea typeface="ＭＳ Ｐゴシック" charset="0"/>
              <a:cs typeface="ＭＳ Ｐゴシック" charset="0"/>
            </a:endParaRPr>
          </a:p>
        </p:txBody>
      </p:sp>
      <p:sp>
        <p:nvSpPr>
          <p:cNvPr id="34" name="Rounded Rectangle 33"/>
          <p:cNvSpPr>
            <a:spLocks noChangeAspect="1" noChangeArrowheads="1"/>
          </p:cNvSpPr>
          <p:nvPr/>
        </p:nvSpPr>
        <p:spPr bwMode="auto">
          <a:xfrm>
            <a:off x="6702362" y="1647053"/>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ASYNC2SYNC</a:t>
            </a:r>
            <a:endParaRPr lang="en-US" sz="1000" b="0" dirty="0">
              <a:solidFill>
                <a:prstClr val="white"/>
              </a:solidFill>
              <a:latin typeface="Helvetica" charset="0"/>
              <a:ea typeface="ＭＳ Ｐゴシック" charset="0"/>
              <a:cs typeface="ＭＳ Ｐゴシック" charset="0"/>
            </a:endParaRPr>
          </a:p>
        </p:txBody>
      </p:sp>
      <p:sp>
        <p:nvSpPr>
          <p:cNvPr id="35" name="Rounded Rectangle 34"/>
          <p:cNvSpPr>
            <a:spLocks noChangeAspect="1" noChangeArrowheads="1"/>
          </p:cNvSpPr>
          <p:nvPr/>
        </p:nvSpPr>
        <p:spPr bwMode="auto">
          <a:xfrm>
            <a:off x="7908591" y="1647053"/>
            <a:ext cx="931743" cy="528703"/>
          </a:xfrm>
          <a:prstGeom prst="roundRect">
            <a:avLst>
              <a:gd name="adj" fmla="val 16667"/>
            </a:avLst>
          </a:prstGeom>
          <a:solidFill>
            <a:schemeClr val="bg1">
              <a:lumMod val="5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FPGA</a:t>
            </a:r>
          </a:p>
          <a:p>
            <a:pPr algn="ctr">
              <a:defRPr/>
            </a:pPr>
            <a:r>
              <a:rPr lang="en-US" sz="1000" dirty="0">
                <a:solidFill>
                  <a:prstClr val="white"/>
                </a:solidFill>
                <a:latin typeface="Helvetica" charset="0"/>
                <a:ea typeface="ＭＳ Ｐゴシック" charset="0"/>
                <a:cs typeface="ＭＳ Ｐゴシック" charset="0"/>
              </a:rPr>
              <a:t>LEC</a:t>
            </a:r>
          </a:p>
          <a:p>
            <a:pPr algn="ctr">
              <a:defRPr/>
            </a:pPr>
            <a:r>
              <a:rPr lang="en-US" sz="1000" dirty="0">
                <a:solidFill>
                  <a:prstClr val="white"/>
                </a:solidFill>
                <a:latin typeface="Helvetica" charset="0"/>
                <a:ea typeface="ＭＳ Ｐゴシック" charset="0"/>
                <a:cs typeface="ＭＳ Ｐゴシック" charset="0"/>
              </a:rPr>
              <a:t>ATPG</a:t>
            </a:r>
          </a:p>
        </p:txBody>
      </p:sp>
      <p:cxnSp>
        <p:nvCxnSpPr>
          <p:cNvPr id="37" name="Straight Arrow Connector 36"/>
          <p:cNvCxnSpPr>
            <a:stCxn id="12" idx="3"/>
            <a:endCxn id="30" idx="1"/>
          </p:cNvCxnSpPr>
          <p:nvPr/>
        </p:nvCxnSpPr>
        <p:spPr>
          <a:xfrm>
            <a:off x="1210607" y="1908162"/>
            <a:ext cx="323128" cy="3242"/>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30" idx="3"/>
            <a:endCxn id="31" idx="1"/>
          </p:cNvCxnSpPr>
          <p:nvPr/>
        </p:nvCxnSpPr>
        <p:spPr>
          <a:xfrm>
            <a:off x="2465478" y="1911404"/>
            <a:ext cx="384729" cy="3"/>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31" idx="3"/>
            <a:endCxn id="32" idx="1"/>
          </p:cNvCxnSpPr>
          <p:nvPr/>
        </p:nvCxnSpPr>
        <p:spPr>
          <a:xfrm flipV="1">
            <a:off x="3781950" y="1910272"/>
            <a:ext cx="323128" cy="1135"/>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32" idx="3"/>
            <a:endCxn id="33" idx="1"/>
          </p:cNvCxnSpPr>
          <p:nvPr/>
        </p:nvCxnSpPr>
        <p:spPr>
          <a:xfrm>
            <a:off x="5036821" y="1910272"/>
            <a:ext cx="329605" cy="1137"/>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33" idx="3"/>
            <a:endCxn id="34" idx="1"/>
          </p:cNvCxnSpPr>
          <p:nvPr/>
        </p:nvCxnSpPr>
        <p:spPr>
          <a:xfrm flipV="1">
            <a:off x="6298169" y="1911405"/>
            <a:ext cx="404193" cy="4"/>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34" idx="3"/>
            <a:endCxn id="35" idx="1"/>
          </p:cNvCxnSpPr>
          <p:nvPr/>
        </p:nvCxnSpPr>
        <p:spPr>
          <a:xfrm>
            <a:off x="7634105" y="1911405"/>
            <a:ext cx="274486" cy="0"/>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50" name="Rounded Rectangle 49"/>
          <p:cNvSpPr>
            <a:spLocks noChangeAspect="1" noChangeArrowheads="1"/>
          </p:cNvSpPr>
          <p:nvPr/>
        </p:nvSpPr>
        <p:spPr bwMode="auto">
          <a:xfrm>
            <a:off x="625820" y="2928861"/>
            <a:ext cx="3793783" cy="1440174"/>
          </a:xfrm>
          <a:prstGeom prst="roundRect">
            <a:avLst>
              <a:gd name="adj" fmla="val 12366"/>
            </a:avLst>
          </a:prstGeom>
          <a:solidFill>
            <a:srgbClr val="D9D9D9"/>
          </a:solidFill>
          <a:ln w="9525">
            <a:solidFill>
              <a:srgbClr val="7F7F7F"/>
            </a:solidFill>
            <a:round/>
            <a:headEnd/>
            <a:tailEnd/>
          </a:ln>
          <a:effectLst>
            <a:outerShdw blurRad="40000" dist="20000" dir="5400000" rotWithShape="0">
              <a:srgbClr val="808080">
                <a:alpha val="37999"/>
              </a:srgbClr>
            </a:outerShdw>
          </a:effectLst>
        </p:spPr>
        <p:txBody>
          <a:bodyP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472" dirty="0">
                <a:solidFill>
                  <a:prstClr val="black"/>
                </a:solidFill>
                <a:latin typeface="Intel Clear"/>
                <a:ea typeface="ＭＳ Ｐゴシック" charset="-128"/>
                <a:cs typeface="ＭＳ Ｐゴシック" charset="-128"/>
              </a:rPr>
              <a:t>FC Compiler (Cheetah 2)</a:t>
            </a:r>
          </a:p>
        </p:txBody>
      </p:sp>
      <p:sp>
        <p:nvSpPr>
          <p:cNvPr id="51" name="Rounded Rectangle 50"/>
          <p:cNvSpPr>
            <a:spLocks noChangeAspect="1" noChangeArrowheads="1"/>
          </p:cNvSpPr>
          <p:nvPr/>
        </p:nvSpPr>
        <p:spPr bwMode="auto">
          <a:xfrm>
            <a:off x="784703" y="3472615"/>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Place</a:t>
            </a:r>
            <a:endParaRPr lang="en-US" sz="1000" b="0" dirty="0">
              <a:solidFill>
                <a:prstClr val="white"/>
              </a:solidFill>
              <a:latin typeface="Helvetica" charset="0"/>
              <a:ea typeface="ＭＳ Ｐゴシック" charset="0"/>
              <a:cs typeface="ＭＳ Ｐゴシック" charset="0"/>
            </a:endParaRPr>
          </a:p>
        </p:txBody>
      </p:sp>
      <p:sp>
        <p:nvSpPr>
          <p:cNvPr id="52" name="Rounded Rectangle 51"/>
          <p:cNvSpPr>
            <a:spLocks noChangeAspect="1" noChangeArrowheads="1"/>
          </p:cNvSpPr>
          <p:nvPr/>
        </p:nvSpPr>
        <p:spPr bwMode="auto">
          <a:xfrm>
            <a:off x="2039574" y="3471351"/>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CTS + </a:t>
            </a:r>
            <a:r>
              <a:rPr lang="en-US" sz="1000" dirty="0" err="1">
                <a:solidFill>
                  <a:prstClr val="white"/>
                </a:solidFill>
                <a:latin typeface="Helvetica" charset="0"/>
                <a:ea typeface="ＭＳ Ｐゴシック" charset="0"/>
                <a:cs typeface="ＭＳ Ｐゴシック" charset="0"/>
              </a:rPr>
              <a:t>Delayline</a:t>
            </a:r>
            <a:endParaRPr lang="en-US" sz="1000" b="0" dirty="0">
              <a:solidFill>
                <a:prstClr val="white"/>
              </a:solidFill>
              <a:latin typeface="Helvetica" charset="0"/>
              <a:ea typeface="ＭＳ Ｐゴシック" charset="0"/>
              <a:cs typeface="ＭＳ Ｐゴシック" charset="0"/>
            </a:endParaRPr>
          </a:p>
        </p:txBody>
      </p:sp>
      <p:sp>
        <p:nvSpPr>
          <p:cNvPr id="53" name="Rounded Rectangle 52"/>
          <p:cNvSpPr>
            <a:spLocks noChangeAspect="1" noChangeArrowheads="1"/>
          </p:cNvSpPr>
          <p:nvPr/>
        </p:nvSpPr>
        <p:spPr bwMode="auto">
          <a:xfrm>
            <a:off x="3300922" y="3472617"/>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Route + Fill</a:t>
            </a:r>
            <a:endParaRPr lang="en-US" sz="1000" b="0" dirty="0">
              <a:solidFill>
                <a:prstClr val="white"/>
              </a:solidFill>
              <a:latin typeface="Helvetica" charset="0"/>
              <a:ea typeface="ＭＳ Ｐゴシック" charset="0"/>
              <a:cs typeface="ＭＳ Ｐゴシック" charset="0"/>
            </a:endParaRPr>
          </a:p>
        </p:txBody>
      </p:sp>
      <p:cxnSp>
        <p:nvCxnSpPr>
          <p:cNvPr id="55" name="Elbow Connector 54"/>
          <p:cNvCxnSpPr>
            <a:stCxn id="33" idx="3"/>
            <a:endCxn id="51" idx="1"/>
          </p:cNvCxnSpPr>
          <p:nvPr/>
        </p:nvCxnSpPr>
        <p:spPr>
          <a:xfrm flipH="1">
            <a:off x="784703" y="1911409"/>
            <a:ext cx="5513466" cy="1825558"/>
          </a:xfrm>
          <a:prstGeom prst="bentConnector5">
            <a:avLst>
              <a:gd name="adj1" fmla="val -4146"/>
              <a:gd name="adj2" fmla="val 42895"/>
              <a:gd name="adj3" fmla="val 108499"/>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a:stCxn id="51" idx="3"/>
            <a:endCxn id="52" idx="1"/>
          </p:cNvCxnSpPr>
          <p:nvPr/>
        </p:nvCxnSpPr>
        <p:spPr>
          <a:xfrm flipV="1">
            <a:off x="1716446" y="3735703"/>
            <a:ext cx="323128" cy="1264"/>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stCxn id="52" idx="3"/>
            <a:endCxn id="53" idx="1"/>
          </p:cNvCxnSpPr>
          <p:nvPr/>
        </p:nvCxnSpPr>
        <p:spPr>
          <a:xfrm>
            <a:off x="2971317" y="3735703"/>
            <a:ext cx="329605" cy="126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62" name="Rounded Rectangle 61"/>
          <p:cNvSpPr>
            <a:spLocks noChangeAspect="1" noChangeArrowheads="1"/>
          </p:cNvSpPr>
          <p:nvPr/>
        </p:nvSpPr>
        <p:spPr bwMode="auto">
          <a:xfrm>
            <a:off x="4734136" y="2931855"/>
            <a:ext cx="2548641" cy="1440174"/>
          </a:xfrm>
          <a:prstGeom prst="roundRect">
            <a:avLst>
              <a:gd name="adj" fmla="val 12366"/>
            </a:avLst>
          </a:prstGeom>
          <a:solidFill>
            <a:srgbClr val="D9D9D9"/>
          </a:solidFill>
          <a:ln w="9525">
            <a:solidFill>
              <a:srgbClr val="7F7F7F"/>
            </a:solidFill>
            <a:round/>
            <a:headEnd/>
            <a:tailEnd/>
          </a:ln>
          <a:effectLst>
            <a:outerShdw blurRad="40000" dist="20000" dir="5400000" rotWithShape="0">
              <a:srgbClr val="808080">
                <a:alpha val="37999"/>
              </a:srgbClr>
            </a:outerShdw>
          </a:effectLst>
        </p:spPr>
        <p:txBody>
          <a:bodyP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472" dirty="0">
                <a:solidFill>
                  <a:prstClr val="black"/>
                </a:solidFill>
                <a:latin typeface="Intel Clear"/>
                <a:ea typeface="ＭＳ Ｐゴシック" charset="-128"/>
                <a:cs typeface="ＭＳ Ｐゴシック" charset="-128"/>
              </a:rPr>
              <a:t>ECO Loop</a:t>
            </a:r>
          </a:p>
        </p:txBody>
      </p:sp>
      <p:sp>
        <p:nvSpPr>
          <p:cNvPr id="63" name="Rounded Rectangle 62"/>
          <p:cNvSpPr>
            <a:spLocks noChangeAspect="1" noChangeArrowheads="1"/>
          </p:cNvSpPr>
          <p:nvPr/>
        </p:nvSpPr>
        <p:spPr bwMode="auto">
          <a:xfrm>
            <a:off x="4893019" y="3471351"/>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Extract</a:t>
            </a:r>
            <a:endParaRPr lang="en-US" sz="1000" b="0" dirty="0">
              <a:solidFill>
                <a:prstClr val="white"/>
              </a:solidFill>
              <a:latin typeface="Helvetica" charset="0"/>
              <a:ea typeface="ＭＳ Ｐゴシック" charset="0"/>
              <a:cs typeface="ＭＳ Ｐゴシック" charset="0"/>
            </a:endParaRPr>
          </a:p>
        </p:txBody>
      </p:sp>
      <p:sp>
        <p:nvSpPr>
          <p:cNvPr id="64" name="Rounded Rectangle 63"/>
          <p:cNvSpPr>
            <a:spLocks noChangeAspect="1" noChangeArrowheads="1"/>
          </p:cNvSpPr>
          <p:nvPr/>
        </p:nvSpPr>
        <p:spPr bwMode="auto">
          <a:xfrm>
            <a:off x="6147890" y="3471351"/>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PT ECO</a:t>
            </a:r>
            <a:endParaRPr lang="en-US" sz="1000" b="0" dirty="0">
              <a:solidFill>
                <a:prstClr val="white"/>
              </a:solidFill>
              <a:latin typeface="Helvetica" charset="0"/>
              <a:ea typeface="ＭＳ Ｐゴシック" charset="0"/>
              <a:cs typeface="ＭＳ Ｐゴシック" charset="0"/>
            </a:endParaRPr>
          </a:p>
        </p:txBody>
      </p:sp>
      <p:cxnSp>
        <p:nvCxnSpPr>
          <p:cNvPr id="66" name="Straight Arrow Connector 65"/>
          <p:cNvCxnSpPr>
            <a:stCxn id="63" idx="3"/>
            <a:endCxn id="64" idx="1"/>
          </p:cNvCxnSpPr>
          <p:nvPr/>
        </p:nvCxnSpPr>
        <p:spPr>
          <a:xfrm>
            <a:off x="5824762" y="3735703"/>
            <a:ext cx="323128" cy="0"/>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a:stCxn id="64" idx="3"/>
            <a:endCxn id="68" idx="1"/>
          </p:cNvCxnSpPr>
          <p:nvPr/>
        </p:nvCxnSpPr>
        <p:spPr>
          <a:xfrm>
            <a:off x="7079633" y="3735703"/>
            <a:ext cx="507940" cy="0"/>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68" name="Rounded Rectangle 67"/>
          <p:cNvSpPr>
            <a:spLocks noChangeAspect="1" noChangeArrowheads="1"/>
          </p:cNvSpPr>
          <p:nvPr/>
        </p:nvSpPr>
        <p:spPr bwMode="auto">
          <a:xfrm>
            <a:off x="7587573" y="3471351"/>
            <a:ext cx="931743" cy="528703"/>
          </a:xfrm>
          <a:prstGeom prst="roundRect">
            <a:avLst>
              <a:gd name="adj" fmla="val 16667"/>
            </a:avLst>
          </a:prstGeom>
          <a:solidFill>
            <a:schemeClr val="bg1">
              <a:lumMod val="5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LV/RV Cleanup</a:t>
            </a:r>
          </a:p>
        </p:txBody>
      </p:sp>
      <p:cxnSp>
        <p:nvCxnSpPr>
          <p:cNvPr id="72" name="Straight Arrow Connector 71"/>
          <p:cNvCxnSpPr>
            <a:stCxn id="53" idx="3"/>
            <a:endCxn id="63" idx="1"/>
          </p:cNvCxnSpPr>
          <p:nvPr/>
        </p:nvCxnSpPr>
        <p:spPr>
          <a:xfrm flipV="1">
            <a:off x="4232665" y="3735703"/>
            <a:ext cx="660354" cy="126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8" name="Elbow Connector 77"/>
          <p:cNvCxnSpPr>
            <a:stCxn id="64" idx="2"/>
            <a:endCxn id="53" idx="2"/>
          </p:cNvCxnSpPr>
          <p:nvPr/>
        </p:nvCxnSpPr>
        <p:spPr>
          <a:xfrm rot="5400000">
            <a:off x="5189645" y="2577203"/>
            <a:ext cx="1266" cy="2846968"/>
          </a:xfrm>
          <a:prstGeom prst="bentConnector3">
            <a:avLst>
              <a:gd name="adj1" fmla="val 18156872"/>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100" name="Slide Number Placeholder 99"/>
          <p:cNvSpPr>
            <a:spLocks noGrp="1"/>
          </p:cNvSpPr>
          <p:nvPr>
            <p:ph type="sldNum" sz="quarter" idx="12"/>
          </p:nvPr>
        </p:nvSpPr>
        <p:spPr/>
        <p:txBody>
          <a:bodyPr/>
          <a:lstStyle/>
          <a:p>
            <a:fld id="{EE2556C5-CE8C-6547-B838-EA80C61A4AF7}" type="slidenum">
              <a:rPr lang="en-US" smtClean="0">
                <a:solidFill>
                  <a:srgbClr val="003C71"/>
                </a:solidFill>
              </a:rPr>
              <a:pPr/>
              <a:t>10</a:t>
            </a:fld>
            <a:endParaRPr lang="en-US" dirty="0">
              <a:solidFill>
                <a:srgbClr val="003C71"/>
              </a:solidFill>
            </a:endParaRPr>
          </a:p>
        </p:txBody>
      </p:sp>
      <p:graphicFrame>
        <p:nvGraphicFramePr>
          <p:cNvPr id="36" name="Table 35"/>
          <p:cNvGraphicFramePr>
            <a:graphicFrameLocks noGrp="1"/>
          </p:cNvGraphicFramePr>
          <p:nvPr/>
        </p:nvGraphicFramePr>
        <p:xfrm>
          <a:off x="7996137" y="142673"/>
          <a:ext cx="992222" cy="731520"/>
        </p:xfrm>
        <a:graphic>
          <a:graphicData uri="http://schemas.openxmlformats.org/drawingml/2006/table">
            <a:tbl>
              <a:tblPr firstRow="1" bandRow="1">
                <a:tableStyleId>{5C22544A-7EE6-4342-B048-85BDC9FD1C3A}</a:tableStyleId>
              </a:tblPr>
              <a:tblGrid>
                <a:gridCol w="992222">
                  <a:extLst>
                    <a:ext uri="{9D8B030D-6E8A-4147-A177-3AD203B41FA5}">
                      <a16:colId xmlns:a16="http://schemas.microsoft.com/office/drawing/2014/main" val="20000"/>
                    </a:ext>
                  </a:extLst>
                </a:gridCol>
              </a:tblGrid>
              <a:tr h="232692">
                <a:tc>
                  <a:txBody>
                    <a:bodyPr/>
                    <a:lstStyle/>
                    <a:p>
                      <a:pPr algn="ctr"/>
                      <a:r>
                        <a:rPr lang="en-US" sz="1000" dirty="0"/>
                        <a:t>Legend</a:t>
                      </a:r>
                    </a:p>
                  </a:txBody>
                  <a:tcPr>
                    <a:solidFill>
                      <a:schemeClr val="accent3"/>
                    </a:solidFill>
                  </a:tcPr>
                </a:tc>
                <a:extLst>
                  <a:ext uri="{0D108BD9-81ED-4DB2-BD59-A6C34878D82A}">
                    <a16:rowId xmlns:a16="http://schemas.microsoft.com/office/drawing/2014/main" val="10000"/>
                  </a:ext>
                </a:extLst>
              </a:tr>
              <a:tr h="191696">
                <a:tc>
                  <a:txBody>
                    <a:bodyPr/>
                    <a:lstStyle/>
                    <a:p>
                      <a:pPr algn="ctr"/>
                      <a:r>
                        <a:rPr lang="en-US" sz="1000" dirty="0">
                          <a:solidFill>
                            <a:schemeClr val="bg1"/>
                          </a:solidFill>
                        </a:rPr>
                        <a:t>Synopsys</a:t>
                      </a:r>
                    </a:p>
                  </a:txBody>
                  <a:tcPr>
                    <a:solidFill>
                      <a:srgbClr val="7030A0"/>
                    </a:solidFill>
                  </a:tcPr>
                </a:tc>
                <a:extLst>
                  <a:ext uri="{0D108BD9-81ED-4DB2-BD59-A6C34878D82A}">
                    <a16:rowId xmlns:a16="http://schemas.microsoft.com/office/drawing/2014/main" val="10001"/>
                  </a:ext>
                </a:extLst>
              </a:tr>
              <a:tr h="191696">
                <a:tc>
                  <a:txBody>
                    <a:bodyPr/>
                    <a:lstStyle/>
                    <a:p>
                      <a:pPr algn="ctr"/>
                      <a:r>
                        <a:rPr lang="en-US" sz="1000" dirty="0">
                          <a:solidFill>
                            <a:schemeClr val="bg1"/>
                          </a:solidFill>
                        </a:rPr>
                        <a:t>Intel</a:t>
                      </a:r>
                    </a:p>
                  </a:txBody>
                  <a:tcPr>
                    <a:solidFill>
                      <a:schemeClr val="tx2">
                        <a:lumMod val="60000"/>
                        <a:lumOff val="40000"/>
                      </a:schemeClr>
                    </a:solidFill>
                  </a:tcPr>
                </a:tc>
                <a:extLst>
                  <a:ext uri="{0D108BD9-81ED-4DB2-BD59-A6C34878D82A}">
                    <a16:rowId xmlns:a16="http://schemas.microsoft.com/office/drawing/2014/main" val="10002"/>
                  </a:ext>
                </a:extLst>
              </a:tr>
            </a:tbl>
          </a:graphicData>
        </a:graphic>
      </p:graphicFrame>
      <p:sp>
        <p:nvSpPr>
          <p:cNvPr id="70" name="TextBox 69"/>
          <p:cNvSpPr txBox="1"/>
          <p:nvPr/>
        </p:nvSpPr>
        <p:spPr>
          <a:xfrm>
            <a:off x="1861224" y="4760068"/>
            <a:ext cx="5473431" cy="169277"/>
          </a:xfrm>
          <a:prstGeom prst="rect">
            <a:avLst/>
          </a:prstGeom>
          <a:noFill/>
          <a:ln>
            <a:noFill/>
          </a:ln>
        </p:spPr>
        <p:txBody>
          <a:bodyPr vert="horz" wrap="square" lIns="0" tIns="0" rIns="0" bIns="0" rtlCol="0">
            <a:spAutoFit/>
          </a:bodyPr>
          <a:lstStyle/>
          <a:p>
            <a:pPr>
              <a:spcBef>
                <a:spcPts val="600"/>
              </a:spcBef>
              <a:spcAft>
                <a:spcPts val="600"/>
              </a:spcAft>
            </a:pPr>
            <a:r>
              <a:rPr lang="en-US" sz="1100" dirty="0" err="1">
                <a:solidFill>
                  <a:srgbClr val="003C71"/>
                </a:solidFill>
              </a:rPr>
              <a:t>proteus</a:t>
            </a:r>
            <a:r>
              <a:rPr lang="en-US" sz="1100" dirty="0">
                <a:solidFill>
                  <a:srgbClr val="003C71"/>
                </a:solidFill>
              </a:rPr>
              <a:t> --include=</a:t>
            </a:r>
            <a:r>
              <a:rPr lang="en-US" sz="1100" dirty="0" err="1">
                <a:solidFill>
                  <a:srgbClr val="003C71"/>
                </a:solidFill>
              </a:rPr>
              <a:t>design.config</a:t>
            </a:r>
            <a:r>
              <a:rPr lang="en-US" sz="1100" dirty="0">
                <a:solidFill>
                  <a:srgbClr val="003C71"/>
                </a:solidFill>
              </a:rPr>
              <a:t> --task=</a:t>
            </a:r>
            <a:r>
              <a:rPr lang="en-US" sz="1100" dirty="0" err="1">
                <a:solidFill>
                  <a:srgbClr val="003C71"/>
                </a:solidFill>
              </a:rPr>
              <a:t>spr,extract,pv</a:t>
            </a:r>
            <a:r>
              <a:rPr lang="en-US" sz="1100" dirty="0">
                <a:solidFill>
                  <a:srgbClr val="003C71"/>
                </a:solidFill>
              </a:rPr>
              <a:t> --eco-</a:t>
            </a:r>
            <a:r>
              <a:rPr lang="en-US" sz="1100" dirty="0" err="1">
                <a:solidFill>
                  <a:srgbClr val="003C71"/>
                </a:solidFill>
              </a:rPr>
              <a:t>iter</a:t>
            </a:r>
            <a:r>
              <a:rPr lang="en-US" sz="1100" dirty="0">
                <a:solidFill>
                  <a:srgbClr val="003C71"/>
                </a:solidFill>
              </a:rPr>
              <a:t>=2 --</a:t>
            </a:r>
            <a:r>
              <a:rPr lang="en-US" sz="1100" dirty="0" err="1">
                <a:solidFill>
                  <a:srgbClr val="003C71"/>
                </a:solidFill>
              </a:rPr>
              <a:t>lefdef-dir</a:t>
            </a:r>
            <a:r>
              <a:rPr lang="en-US" sz="1100" dirty="0">
                <a:solidFill>
                  <a:srgbClr val="003C71"/>
                </a:solidFill>
              </a:rPr>
              <a:t>=./</a:t>
            </a:r>
            <a:r>
              <a:rPr lang="en-US" sz="1100" dirty="0" err="1">
                <a:solidFill>
                  <a:srgbClr val="003C71"/>
                </a:solidFill>
              </a:rPr>
              <a:t>lefdef</a:t>
            </a:r>
            <a:endParaRPr lang="en-US" sz="1100" dirty="0">
              <a:solidFill>
                <a:srgbClr val="003C71"/>
              </a:solidFill>
            </a:endParaRPr>
          </a:p>
        </p:txBody>
      </p:sp>
      <p:sp>
        <p:nvSpPr>
          <p:cNvPr id="71" name="Rectangle 70"/>
          <p:cNvSpPr/>
          <p:nvPr/>
        </p:nvSpPr>
        <p:spPr>
          <a:xfrm>
            <a:off x="1776919" y="4721157"/>
            <a:ext cx="5635558" cy="252920"/>
          </a:xfrm>
          <a:prstGeom prst="rect">
            <a:avLst/>
          </a:prstGeom>
          <a:no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507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ounded Rectangle 82"/>
          <p:cNvSpPr>
            <a:spLocks noChangeAspect="1" noChangeArrowheads="1"/>
          </p:cNvSpPr>
          <p:nvPr/>
        </p:nvSpPr>
        <p:spPr bwMode="auto">
          <a:xfrm>
            <a:off x="6534663" y="1178718"/>
            <a:ext cx="1153331" cy="1100137"/>
          </a:xfrm>
          <a:prstGeom prst="roundRect">
            <a:avLst>
              <a:gd name="adj" fmla="val 12366"/>
            </a:avLst>
          </a:prstGeom>
          <a:solidFill>
            <a:srgbClr val="D9D9D9"/>
          </a:solidFill>
          <a:ln w="9525">
            <a:solidFill>
              <a:srgbClr val="7F7F7F"/>
            </a:solidFill>
            <a:round/>
            <a:headEnd/>
            <a:tailEnd/>
          </a:ln>
          <a:effectLst>
            <a:outerShdw blurRad="40000" dist="20000" dir="5400000" rotWithShape="0">
              <a:srgbClr val="808080">
                <a:alpha val="37999"/>
              </a:srgbClr>
            </a:outerShdw>
          </a:effectLst>
        </p:spPr>
        <p:txBody>
          <a:bodyP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endParaRPr lang="en-US" sz="1472" dirty="0">
              <a:solidFill>
                <a:prstClr val="black"/>
              </a:solidFill>
              <a:latin typeface="Intel Clear"/>
              <a:ea typeface="ＭＳ Ｐゴシック" charset="-128"/>
              <a:cs typeface="ＭＳ Ｐゴシック" charset="-128"/>
            </a:endParaRPr>
          </a:p>
          <a:p>
            <a:pPr algn="ctr">
              <a:defRPr/>
            </a:pPr>
            <a:endParaRPr lang="en-US" sz="1472" dirty="0">
              <a:solidFill>
                <a:prstClr val="black"/>
              </a:solidFill>
              <a:latin typeface="Intel Clear"/>
              <a:ea typeface="ＭＳ Ｐゴシック" charset="-128"/>
              <a:cs typeface="ＭＳ Ｐゴシック" charset="-128"/>
            </a:endParaRPr>
          </a:p>
          <a:p>
            <a:pPr algn="ctr">
              <a:defRPr/>
            </a:pPr>
            <a:endParaRPr lang="en-US" sz="1800" dirty="0">
              <a:solidFill>
                <a:prstClr val="black"/>
              </a:solidFill>
              <a:latin typeface="Intel Clear"/>
              <a:ea typeface="ＭＳ Ｐゴシック" charset="-128"/>
              <a:cs typeface="ＭＳ Ｐゴシック" charset="-128"/>
            </a:endParaRPr>
          </a:p>
          <a:p>
            <a:pPr algn="ctr">
              <a:defRPr/>
            </a:pPr>
            <a:r>
              <a:rPr lang="en-US" sz="1472" dirty="0">
                <a:solidFill>
                  <a:srgbClr val="7030A0"/>
                </a:solidFill>
                <a:latin typeface="Intel Clear"/>
                <a:ea typeface="ＭＳ Ｐゴシック" charset="-128"/>
                <a:cs typeface="ＭＳ Ｐゴシック" charset="-128"/>
              </a:rPr>
              <a:t>Virtuoso</a:t>
            </a:r>
          </a:p>
        </p:txBody>
      </p:sp>
      <p:sp>
        <p:nvSpPr>
          <p:cNvPr id="2" name="Slide Number Placeholder 1"/>
          <p:cNvSpPr>
            <a:spLocks noGrp="1"/>
          </p:cNvSpPr>
          <p:nvPr>
            <p:ph type="sldNum" sz="quarter" idx="12"/>
          </p:nvPr>
        </p:nvSpPr>
        <p:spPr/>
        <p:txBody>
          <a:bodyPr/>
          <a:lstStyle/>
          <a:p>
            <a:fld id="{EE2556C5-CE8C-6547-B838-EA80C61A4AF7}" type="slidenum">
              <a:rPr lang="en-US" smtClean="0">
                <a:solidFill>
                  <a:srgbClr val="003C71"/>
                </a:solidFill>
              </a:rPr>
              <a:pPr/>
              <a:t>11</a:t>
            </a:fld>
            <a:endParaRPr lang="en-US">
              <a:solidFill>
                <a:srgbClr val="003C71"/>
              </a:solidFill>
            </a:endParaRPr>
          </a:p>
        </p:txBody>
      </p:sp>
      <p:sp>
        <p:nvSpPr>
          <p:cNvPr id="3" name="Title 2"/>
          <p:cNvSpPr>
            <a:spLocks noGrp="1"/>
          </p:cNvSpPr>
          <p:nvPr>
            <p:ph type="title"/>
          </p:nvPr>
        </p:nvSpPr>
        <p:spPr/>
        <p:txBody>
          <a:bodyPr/>
          <a:lstStyle/>
          <a:p>
            <a:r>
              <a:rPr lang="en-US" dirty="0" err="1"/>
              <a:t>Async</a:t>
            </a:r>
            <a:r>
              <a:rPr lang="en-US" dirty="0"/>
              <a:t> custom-library flows</a:t>
            </a:r>
          </a:p>
        </p:txBody>
      </p:sp>
      <p:grpSp>
        <p:nvGrpSpPr>
          <p:cNvPr id="81" name="Group 80"/>
          <p:cNvGrpSpPr/>
          <p:nvPr/>
        </p:nvGrpSpPr>
        <p:grpSpPr>
          <a:xfrm>
            <a:off x="129701" y="1095984"/>
            <a:ext cx="8884597" cy="1653704"/>
            <a:chOff x="129701" y="1095984"/>
            <a:chExt cx="8884597" cy="1653704"/>
          </a:xfrm>
        </p:grpSpPr>
        <p:sp>
          <p:nvSpPr>
            <p:cNvPr id="4" name="Rounded Rectangle 3"/>
            <p:cNvSpPr>
              <a:spLocks noChangeAspect="1" noChangeArrowheads="1"/>
            </p:cNvSpPr>
            <p:nvPr/>
          </p:nvSpPr>
          <p:spPr bwMode="auto">
            <a:xfrm>
              <a:off x="278864" y="1371440"/>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CAST/PRS</a:t>
              </a:r>
            </a:p>
            <a:p>
              <a:pPr algn="ctr">
                <a:defRPr/>
              </a:pPr>
              <a:r>
                <a:rPr lang="en-US" sz="1000" b="0" dirty="0">
                  <a:solidFill>
                    <a:prstClr val="white"/>
                  </a:solidFill>
                  <a:latin typeface="Helvetica" charset="0"/>
                  <a:ea typeface="ＭＳ Ｐゴシック" charset="0"/>
                  <a:cs typeface="ＭＳ Ｐゴシック" charset="0"/>
                </a:rPr>
                <a:t>(Design Source)</a:t>
              </a:r>
            </a:p>
          </p:txBody>
        </p:sp>
        <p:sp>
          <p:nvSpPr>
            <p:cNvPr id="5" name="Rounded Rectangle 4"/>
            <p:cNvSpPr>
              <a:spLocks noChangeAspect="1" noChangeArrowheads="1"/>
            </p:cNvSpPr>
            <p:nvPr/>
          </p:nvSpPr>
          <p:spPr bwMode="auto">
            <a:xfrm>
              <a:off x="1533735" y="1374682"/>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err="1">
                  <a:solidFill>
                    <a:prstClr val="white"/>
                  </a:solidFill>
                  <a:latin typeface="Helvetica" charset="0"/>
                  <a:ea typeface="ＭＳ Ｐゴシック" charset="0"/>
                  <a:cs typeface="ＭＳ Ｐゴシック" charset="0"/>
                </a:rPr>
                <a:t>Jauto</a:t>
              </a:r>
              <a:r>
                <a:rPr lang="en-US" sz="1000" dirty="0">
                  <a:solidFill>
                    <a:prstClr val="white"/>
                  </a:solidFill>
                  <a:latin typeface="Helvetica" charset="0"/>
                  <a:ea typeface="ＭＳ Ｐゴシック" charset="0"/>
                  <a:cs typeface="ＭＳ Ｐゴシック" charset="0"/>
                </a:rPr>
                <a:t> Transistor sizing </a:t>
              </a:r>
              <a:endParaRPr lang="en-US" sz="1000" b="0" dirty="0">
                <a:solidFill>
                  <a:prstClr val="white"/>
                </a:solidFill>
                <a:latin typeface="Helvetica" charset="0"/>
                <a:ea typeface="ＭＳ Ｐゴシック" charset="0"/>
                <a:cs typeface="ＭＳ Ｐゴシック" charset="0"/>
              </a:endParaRPr>
            </a:p>
          </p:txBody>
        </p:sp>
        <p:sp>
          <p:nvSpPr>
            <p:cNvPr id="6" name="Rounded Rectangle 5"/>
            <p:cNvSpPr>
              <a:spLocks noChangeAspect="1" noChangeArrowheads="1"/>
            </p:cNvSpPr>
            <p:nvPr/>
          </p:nvSpPr>
          <p:spPr bwMode="auto">
            <a:xfrm>
              <a:off x="2850207" y="1374685"/>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cdl2lgf</a:t>
              </a:r>
              <a:endParaRPr lang="en-US" sz="1000" b="0" dirty="0">
                <a:solidFill>
                  <a:prstClr val="white"/>
                </a:solidFill>
                <a:latin typeface="Helvetica" charset="0"/>
                <a:ea typeface="ＭＳ Ｐゴシック" charset="0"/>
                <a:cs typeface="ＭＳ Ｐゴシック" charset="0"/>
              </a:endParaRPr>
            </a:p>
          </p:txBody>
        </p:sp>
        <p:sp>
          <p:nvSpPr>
            <p:cNvPr id="7" name="Rounded Rectangle 6"/>
            <p:cNvSpPr>
              <a:spLocks noChangeAspect="1" noChangeArrowheads="1"/>
            </p:cNvSpPr>
            <p:nvPr/>
          </p:nvSpPr>
          <p:spPr bwMode="auto">
            <a:xfrm>
              <a:off x="4105078" y="1373550"/>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err="1">
                  <a:solidFill>
                    <a:prstClr val="white"/>
                  </a:solidFill>
                  <a:latin typeface="Helvetica" charset="0"/>
                  <a:ea typeface="ＭＳ Ｐゴシック" charset="0"/>
                  <a:cs typeface="ＭＳ Ｐゴシック" charset="0"/>
                </a:rPr>
                <a:t>Laygen</a:t>
              </a:r>
              <a:endParaRPr lang="en-US" sz="1000" b="0" dirty="0">
                <a:solidFill>
                  <a:prstClr val="white"/>
                </a:solidFill>
                <a:latin typeface="Helvetica" charset="0"/>
                <a:ea typeface="ＭＳ Ｐゴシック" charset="0"/>
                <a:cs typeface="ＭＳ Ｐゴシック" charset="0"/>
              </a:endParaRPr>
            </a:p>
          </p:txBody>
        </p:sp>
        <p:sp>
          <p:nvSpPr>
            <p:cNvPr id="8" name="Rounded Rectangle 7"/>
            <p:cNvSpPr>
              <a:spLocks noChangeAspect="1" noChangeArrowheads="1"/>
            </p:cNvSpPr>
            <p:nvPr/>
          </p:nvSpPr>
          <p:spPr bwMode="auto">
            <a:xfrm>
              <a:off x="5366426" y="1374687"/>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lgf2gds</a:t>
              </a:r>
              <a:endParaRPr lang="en-US" sz="1000" b="0" dirty="0">
                <a:solidFill>
                  <a:prstClr val="white"/>
                </a:solidFill>
                <a:latin typeface="Helvetica" charset="0"/>
                <a:ea typeface="ＭＳ Ｐゴシック" charset="0"/>
                <a:cs typeface="ＭＳ Ｐゴシック" charset="0"/>
              </a:endParaRPr>
            </a:p>
          </p:txBody>
        </p:sp>
        <p:sp>
          <p:nvSpPr>
            <p:cNvPr id="10" name="Rounded Rectangle 9"/>
            <p:cNvSpPr>
              <a:spLocks noChangeAspect="1" noChangeArrowheads="1"/>
            </p:cNvSpPr>
            <p:nvPr/>
          </p:nvSpPr>
          <p:spPr bwMode="auto">
            <a:xfrm>
              <a:off x="6676421" y="1382313"/>
              <a:ext cx="931743" cy="528703"/>
            </a:xfrm>
            <a:prstGeom prst="roundRect">
              <a:avLst>
                <a:gd name="adj" fmla="val 16667"/>
              </a:avLst>
            </a:prstGeom>
            <a:solidFill>
              <a:schemeClr val="tx1">
                <a:lumMod val="50000"/>
                <a:lumOff val="5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LV/RV Cleanup</a:t>
              </a:r>
            </a:p>
          </p:txBody>
        </p:sp>
        <p:cxnSp>
          <p:nvCxnSpPr>
            <p:cNvPr id="11" name="Straight Arrow Connector 10"/>
            <p:cNvCxnSpPr>
              <a:stCxn id="4" idx="3"/>
              <a:endCxn id="5" idx="1"/>
            </p:cNvCxnSpPr>
            <p:nvPr/>
          </p:nvCxnSpPr>
          <p:spPr>
            <a:xfrm>
              <a:off x="1210607" y="1635792"/>
              <a:ext cx="323128" cy="3242"/>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5" idx="3"/>
              <a:endCxn id="6" idx="1"/>
            </p:cNvCxnSpPr>
            <p:nvPr/>
          </p:nvCxnSpPr>
          <p:spPr>
            <a:xfrm>
              <a:off x="2465478" y="1639034"/>
              <a:ext cx="384729" cy="3"/>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6" idx="3"/>
              <a:endCxn id="7" idx="1"/>
            </p:cNvCxnSpPr>
            <p:nvPr/>
          </p:nvCxnSpPr>
          <p:spPr>
            <a:xfrm flipV="1">
              <a:off x="3781950" y="1637902"/>
              <a:ext cx="323128" cy="1135"/>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7" idx="3"/>
              <a:endCxn id="8" idx="1"/>
            </p:cNvCxnSpPr>
            <p:nvPr/>
          </p:nvCxnSpPr>
          <p:spPr>
            <a:xfrm>
              <a:off x="5036821" y="1637902"/>
              <a:ext cx="329605" cy="1137"/>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cxnSpLocks/>
              <a:stCxn id="8" idx="3"/>
            </p:cNvCxnSpPr>
            <p:nvPr/>
          </p:nvCxnSpPr>
          <p:spPr>
            <a:xfrm flipV="1">
              <a:off x="6298169" y="1639035"/>
              <a:ext cx="404193" cy="4"/>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29701" y="1095984"/>
              <a:ext cx="8884597" cy="1653704"/>
            </a:xfrm>
            <a:prstGeom prst="rect">
              <a:avLst/>
            </a:prstGeom>
            <a:noFill/>
            <a:ln w="1905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Arrow Connector 33"/>
            <p:cNvCxnSpPr>
              <a:stCxn id="37" idx="3"/>
              <a:endCxn id="5" idx="2"/>
            </p:cNvCxnSpPr>
            <p:nvPr/>
          </p:nvCxnSpPr>
          <p:spPr>
            <a:xfrm flipV="1">
              <a:off x="1207364" y="1903385"/>
              <a:ext cx="792243" cy="332279"/>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a:spLocks noChangeAspect="1" noChangeArrowheads="1"/>
            </p:cNvSpPr>
            <p:nvPr/>
          </p:nvSpPr>
          <p:spPr bwMode="auto">
            <a:xfrm>
              <a:off x="275621" y="1971312"/>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PDK</a:t>
              </a:r>
              <a:endParaRPr lang="en-US" sz="1000" b="0" dirty="0">
                <a:solidFill>
                  <a:prstClr val="white"/>
                </a:solidFill>
                <a:latin typeface="Helvetica" charset="0"/>
                <a:ea typeface="ＭＳ Ｐゴシック" charset="0"/>
                <a:cs typeface="ＭＳ Ｐゴシック" charset="0"/>
              </a:endParaRPr>
            </a:p>
          </p:txBody>
        </p:sp>
        <p:sp>
          <p:nvSpPr>
            <p:cNvPr id="39" name="TextBox 38"/>
            <p:cNvSpPr txBox="1"/>
            <p:nvPr/>
          </p:nvSpPr>
          <p:spPr>
            <a:xfrm>
              <a:off x="2555132" y="1686132"/>
              <a:ext cx="194553" cy="169277"/>
            </a:xfrm>
            <a:prstGeom prst="rect">
              <a:avLst/>
            </a:prstGeom>
            <a:noFill/>
          </p:spPr>
          <p:txBody>
            <a:bodyPr vert="horz" wrap="square" lIns="0" tIns="0" rIns="0" bIns="0" rtlCol="0">
              <a:spAutoFit/>
            </a:bodyPr>
            <a:lstStyle/>
            <a:p>
              <a:r>
                <a:rPr lang="en-US" sz="1100" dirty="0">
                  <a:solidFill>
                    <a:srgbClr val="003C71"/>
                  </a:solidFill>
                </a:rPr>
                <a:t>.</a:t>
              </a:r>
              <a:r>
                <a:rPr lang="en-US" sz="1100" dirty="0" err="1">
                  <a:solidFill>
                    <a:srgbClr val="003C71"/>
                  </a:solidFill>
                </a:rPr>
                <a:t>sp</a:t>
              </a:r>
              <a:endParaRPr lang="en-US" sz="1100" dirty="0">
                <a:solidFill>
                  <a:srgbClr val="003C71"/>
                </a:solidFill>
              </a:endParaRPr>
            </a:p>
          </p:txBody>
        </p:sp>
        <p:sp>
          <p:nvSpPr>
            <p:cNvPr id="41" name="TextBox 40"/>
            <p:cNvSpPr txBox="1"/>
            <p:nvPr/>
          </p:nvSpPr>
          <p:spPr>
            <a:xfrm>
              <a:off x="3816485" y="1682889"/>
              <a:ext cx="275617" cy="169277"/>
            </a:xfrm>
            <a:prstGeom prst="rect">
              <a:avLst/>
            </a:prstGeom>
            <a:noFill/>
          </p:spPr>
          <p:txBody>
            <a:bodyPr vert="horz" wrap="square" lIns="0" tIns="0" rIns="0" bIns="0" rtlCol="0">
              <a:spAutoFit/>
            </a:bodyPr>
            <a:lstStyle/>
            <a:p>
              <a:r>
                <a:rPr lang="en-US" sz="1100" dirty="0">
                  <a:solidFill>
                    <a:srgbClr val="003C71"/>
                  </a:solidFill>
                </a:rPr>
                <a:t>.</a:t>
              </a:r>
              <a:r>
                <a:rPr lang="en-US" sz="1100" dirty="0" err="1">
                  <a:solidFill>
                    <a:srgbClr val="003C71"/>
                  </a:solidFill>
                </a:rPr>
                <a:t>lgf</a:t>
              </a:r>
              <a:endParaRPr lang="en-US" sz="1100" dirty="0">
                <a:solidFill>
                  <a:srgbClr val="003C71"/>
                </a:solidFill>
              </a:endParaRPr>
            </a:p>
          </p:txBody>
        </p:sp>
        <p:cxnSp>
          <p:nvCxnSpPr>
            <p:cNvPr id="43" name="Straight Arrow Connector 42"/>
            <p:cNvCxnSpPr>
              <a:stCxn id="7" idx="2"/>
            </p:cNvCxnSpPr>
            <p:nvPr/>
          </p:nvCxnSpPr>
          <p:spPr>
            <a:xfrm>
              <a:off x="4570950" y="1902253"/>
              <a:ext cx="1050" cy="380509"/>
            </a:xfrm>
            <a:prstGeom prst="straightConnector1">
              <a:avLst/>
            </a:prstGeom>
            <a:ln>
              <a:solidFill>
                <a:schemeClr val="tx2"/>
              </a:solidFill>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131013" y="2308702"/>
              <a:ext cx="862519" cy="169277"/>
            </a:xfrm>
            <a:prstGeom prst="rect">
              <a:avLst/>
            </a:prstGeom>
            <a:noFill/>
          </p:spPr>
          <p:txBody>
            <a:bodyPr vert="horz" wrap="square" lIns="0" tIns="0" rIns="0" bIns="0" rtlCol="0">
              <a:spAutoFit/>
            </a:bodyPr>
            <a:lstStyle/>
            <a:p>
              <a:pPr algn="ctr"/>
              <a:r>
                <a:rPr lang="en-US" sz="1100" dirty="0">
                  <a:solidFill>
                    <a:srgbClr val="003C71"/>
                  </a:solidFill>
                </a:rPr>
                <a:t>.place</a:t>
              </a:r>
            </a:p>
          </p:txBody>
        </p:sp>
        <p:sp>
          <p:nvSpPr>
            <p:cNvPr id="45" name="TextBox 44"/>
            <p:cNvSpPr txBox="1"/>
            <p:nvPr/>
          </p:nvSpPr>
          <p:spPr>
            <a:xfrm>
              <a:off x="5084323" y="1679646"/>
              <a:ext cx="275617" cy="169277"/>
            </a:xfrm>
            <a:prstGeom prst="rect">
              <a:avLst/>
            </a:prstGeom>
            <a:noFill/>
          </p:spPr>
          <p:txBody>
            <a:bodyPr vert="horz" wrap="square" lIns="0" tIns="0" rIns="0" bIns="0" rtlCol="0">
              <a:spAutoFit/>
            </a:bodyPr>
            <a:lstStyle/>
            <a:p>
              <a:r>
                <a:rPr lang="en-US" sz="1100" dirty="0">
                  <a:solidFill>
                    <a:srgbClr val="003C71"/>
                  </a:solidFill>
                </a:rPr>
                <a:t>.</a:t>
              </a:r>
              <a:r>
                <a:rPr lang="en-US" sz="1100" dirty="0" err="1">
                  <a:solidFill>
                    <a:srgbClr val="003C71"/>
                  </a:solidFill>
                </a:rPr>
                <a:t>lgf</a:t>
              </a:r>
              <a:endParaRPr lang="en-US" sz="1100" dirty="0">
                <a:solidFill>
                  <a:srgbClr val="003C71"/>
                </a:solidFill>
              </a:endParaRPr>
            </a:p>
          </p:txBody>
        </p:sp>
        <p:sp>
          <p:nvSpPr>
            <p:cNvPr id="47" name="TextBox 46"/>
            <p:cNvSpPr txBox="1"/>
            <p:nvPr/>
          </p:nvSpPr>
          <p:spPr>
            <a:xfrm>
              <a:off x="6352162" y="1676404"/>
              <a:ext cx="275617" cy="169277"/>
            </a:xfrm>
            <a:prstGeom prst="rect">
              <a:avLst/>
            </a:prstGeom>
            <a:noFill/>
          </p:spPr>
          <p:txBody>
            <a:bodyPr vert="horz" wrap="square" lIns="0" tIns="0" rIns="0" bIns="0" rtlCol="0">
              <a:spAutoFit/>
            </a:bodyPr>
            <a:lstStyle/>
            <a:p>
              <a:r>
                <a:rPr lang="en-US" sz="1100" dirty="0">
                  <a:solidFill>
                    <a:srgbClr val="003C71"/>
                  </a:solidFill>
                </a:rPr>
                <a:t>.</a:t>
              </a:r>
              <a:r>
                <a:rPr lang="en-US" sz="1100" dirty="0" err="1">
                  <a:solidFill>
                    <a:srgbClr val="003C71"/>
                  </a:solidFill>
                </a:rPr>
                <a:t>gds</a:t>
              </a:r>
              <a:endParaRPr lang="en-US" sz="1100" dirty="0">
                <a:solidFill>
                  <a:srgbClr val="003C71"/>
                </a:solidFill>
              </a:endParaRPr>
            </a:p>
          </p:txBody>
        </p:sp>
        <p:sp>
          <p:nvSpPr>
            <p:cNvPr id="50" name="TextBox 49"/>
            <p:cNvSpPr txBox="1"/>
            <p:nvPr/>
          </p:nvSpPr>
          <p:spPr>
            <a:xfrm>
              <a:off x="6796391" y="2483800"/>
              <a:ext cx="2166026" cy="169277"/>
            </a:xfrm>
            <a:prstGeom prst="rect">
              <a:avLst/>
            </a:prstGeom>
            <a:noFill/>
            <a:ln>
              <a:solidFill>
                <a:schemeClr val="tx2"/>
              </a:solidFill>
            </a:ln>
          </p:spPr>
          <p:txBody>
            <a:bodyPr vert="horz" wrap="square" lIns="0" tIns="0" rIns="0" bIns="0" rtlCol="0">
              <a:spAutoFit/>
            </a:bodyPr>
            <a:lstStyle/>
            <a:p>
              <a:pPr algn="ctr"/>
              <a:r>
                <a:rPr lang="en-US" sz="1100" dirty="0">
                  <a:solidFill>
                    <a:srgbClr val="003C71"/>
                  </a:solidFill>
                </a:rPr>
                <a:t>Leaf cell flow</a:t>
              </a:r>
            </a:p>
          </p:txBody>
        </p:sp>
      </p:grpSp>
      <p:grpSp>
        <p:nvGrpSpPr>
          <p:cNvPr id="82" name="Group 81"/>
          <p:cNvGrpSpPr/>
          <p:nvPr/>
        </p:nvGrpSpPr>
        <p:grpSpPr>
          <a:xfrm>
            <a:off x="126461" y="3190671"/>
            <a:ext cx="8884597" cy="1520759"/>
            <a:chOff x="126461" y="3190671"/>
            <a:chExt cx="8884597" cy="1520759"/>
          </a:xfrm>
        </p:grpSpPr>
        <p:sp>
          <p:nvSpPr>
            <p:cNvPr id="67" name="Rounded Rectangle 66"/>
            <p:cNvSpPr>
              <a:spLocks noChangeAspect="1" noChangeArrowheads="1"/>
            </p:cNvSpPr>
            <p:nvPr/>
          </p:nvSpPr>
          <p:spPr bwMode="auto">
            <a:xfrm>
              <a:off x="2198459" y="3498553"/>
              <a:ext cx="931743" cy="528703"/>
            </a:xfrm>
            <a:prstGeom prst="roundRect">
              <a:avLst>
                <a:gd name="adj" fmla="val 16667"/>
              </a:avLst>
            </a:prstGeom>
            <a:solidFill>
              <a:schemeClr val="tx2">
                <a:lumMod val="60000"/>
                <a:lumOff val="4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Virtuoso</a:t>
              </a:r>
              <a:endParaRPr lang="en-US" sz="1000" b="0" dirty="0">
                <a:solidFill>
                  <a:prstClr val="white"/>
                </a:solidFill>
                <a:latin typeface="Helvetica" charset="0"/>
                <a:ea typeface="ＭＳ Ｐゴシック" charset="0"/>
                <a:cs typeface="ＭＳ Ｐゴシック" charset="0"/>
              </a:endParaRPr>
            </a:p>
          </p:txBody>
        </p:sp>
        <p:sp>
          <p:nvSpPr>
            <p:cNvPr id="68" name="Rounded Rectangle 67"/>
            <p:cNvSpPr>
              <a:spLocks noChangeAspect="1" noChangeArrowheads="1"/>
            </p:cNvSpPr>
            <p:nvPr/>
          </p:nvSpPr>
          <p:spPr bwMode="auto">
            <a:xfrm>
              <a:off x="3965648" y="3497418"/>
              <a:ext cx="931743" cy="528703"/>
            </a:xfrm>
            <a:prstGeom prst="roundRect">
              <a:avLst>
                <a:gd name="adj" fmla="val 16667"/>
              </a:avLst>
            </a:prstGeom>
            <a:solidFill>
              <a:srgbClr val="7030A0"/>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FC</a:t>
              </a:r>
              <a:endParaRPr lang="en-US" sz="1000" b="0" dirty="0">
                <a:solidFill>
                  <a:prstClr val="white"/>
                </a:solidFill>
                <a:latin typeface="Helvetica" charset="0"/>
                <a:ea typeface="ＭＳ Ｐゴシック" charset="0"/>
                <a:cs typeface="ＭＳ Ｐゴシック" charset="0"/>
              </a:endParaRPr>
            </a:p>
          </p:txBody>
        </p:sp>
        <p:sp>
          <p:nvSpPr>
            <p:cNvPr id="69" name="Rounded Rectangle 68"/>
            <p:cNvSpPr>
              <a:spLocks noChangeAspect="1" noChangeArrowheads="1"/>
            </p:cNvSpPr>
            <p:nvPr/>
          </p:nvSpPr>
          <p:spPr bwMode="auto">
            <a:xfrm>
              <a:off x="5758770" y="3498555"/>
              <a:ext cx="931743" cy="528703"/>
            </a:xfrm>
            <a:prstGeom prst="roundRect">
              <a:avLst>
                <a:gd name="adj" fmla="val 16667"/>
              </a:avLst>
            </a:prstGeom>
            <a:solidFill>
              <a:schemeClr val="tx1">
                <a:lumMod val="50000"/>
                <a:lumOff val="50000"/>
              </a:schemeClr>
            </a:solidFill>
            <a:ln>
              <a:noFill/>
            </a:ln>
            <a:effectLst>
              <a:outerShdw blurRad="50800" dist="25400" dir="5400000" rotWithShape="0">
                <a:srgbClr val="808080">
                  <a:alpha val="34999"/>
                </a:srgbClr>
              </a:outerShdw>
            </a:effectLst>
          </p:spPr>
          <p:txBody>
            <a:bodyPr lIns="0" tIns="0" rIns="0" bIns="0" anchor="ctr"/>
            <a:lstStyle>
              <a:defPPr>
                <a:defRPr lang="en-US"/>
              </a:defPPr>
              <a:lvl1pPr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1pPr>
              <a:lvl2pPr marL="4572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2pPr>
              <a:lvl3pPr marL="9144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3pPr>
              <a:lvl4pPr marL="13716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4pPr>
              <a:lvl5pPr marL="1828800" algn="l" rtl="0" fontAlgn="base">
                <a:spcBef>
                  <a:spcPct val="0"/>
                </a:spcBef>
                <a:spcAft>
                  <a:spcPct val="0"/>
                </a:spcAft>
                <a:defRPr sz="2000" b="1"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2000" b="1"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2000" b="1"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2000" b="1"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2000" b="1" kern="1200">
                  <a:solidFill>
                    <a:schemeClr val="tx1"/>
                  </a:solidFill>
                  <a:latin typeface="Helvetica" pitchFamily="34" charset="0"/>
                  <a:ea typeface="ＭＳ Ｐゴシック" pitchFamily="34" charset="-128"/>
                  <a:cs typeface="+mn-cs"/>
                </a:defRPr>
              </a:lvl9pPr>
            </a:lstStyle>
            <a:p>
              <a:pPr algn="ctr">
                <a:defRPr/>
              </a:pPr>
              <a:r>
                <a:rPr lang="en-US" sz="1000" dirty="0">
                  <a:solidFill>
                    <a:prstClr val="white"/>
                  </a:solidFill>
                  <a:latin typeface="Helvetica" charset="0"/>
                  <a:ea typeface="ＭＳ Ｐゴシック" charset="0"/>
                  <a:cs typeface="ＭＳ Ｐゴシック" charset="0"/>
                </a:rPr>
                <a:t>LV/RV Cleanup</a:t>
              </a:r>
              <a:endParaRPr lang="en-US" sz="1000" b="0" dirty="0">
                <a:solidFill>
                  <a:prstClr val="white"/>
                </a:solidFill>
                <a:latin typeface="Helvetica" charset="0"/>
                <a:ea typeface="ＭＳ Ｐゴシック" charset="0"/>
                <a:cs typeface="ＭＳ Ｐゴシック" charset="0"/>
              </a:endParaRPr>
            </a:p>
          </p:txBody>
        </p:sp>
        <p:cxnSp>
          <p:nvCxnSpPr>
            <p:cNvPr id="70" name="Straight Arrow Connector 69"/>
            <p:cNvCxnSpPr>
              <a:stCxn id="67" idx="3"/>
              <a:endCxn id="68" idx="1"/>
            </p:cNvCxnSpPr>
            <p:nvPr/>
          </p:nvCxnSpPr>
          <p:spPr>
            <a:xfrm flipV="1">
              <a:off x="3130202" y="3761770"/>
              <a:ext cx="835446" cy="1135"/>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a:stCxn id="68" idx="3"/>
              <a:endCxn id="69" idx="1"/>
            </p:cNvCxnSpPr>
            <p:nvPr/>
          </p:nvCxnSpPr>
          <p:spPr>
            <a:xfrm>
              <a:off x="4897391" y="3761770"/>
              <a:ext cx="861379" cy="1137"/>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3262009" y="3790548"/>
              <a:ext cx="505839" cy="169277"/>
            </a:xfrm>
            <a:prstGeom prst="rect">
              <a:avLst/>
            </a:prstGeom>
            <a:noFill/>
          </p:spPr>
          <p:txBody>
            <a:bodyPr vert="horz" wrap="square" lIns="0" tIns="0" rIns="0" bIns="0" rtlCol="0">
              <a:spAutoFit/>
            </a:bodyPr>
            <a:lstStyle/>
            <a:p>
              <a:r>
                <a:rPr lang="en-US" sz="1100" dirty="0">
                  <a:solidFill>
                    <a:srgbClr val="003C71"/>
                  </a:solidFill>
                </a:rPr>
                <a:t>.lef,.def</a:t>
              </a:r>
            </a:p>
          </p:txBody>
        </p:sp>
        <p:sp>
          <p:nvSpPr>
            <p:cNvPr id="78" name="TextBox 77"/>
            <p:cNvSpPr txBox="1"/>
            <p:nvPr/>
          </p:nvSpPr>
          <p:spPr>
            <a:xfrm>
              <a:off x="5110266" y="3787305"/>
              <a:ext cx="424774" cy="169277"/>
            </a:xfrm>
            <a:prstGeom prst="rect">
              <a:avLst/>
            </a:prstGeom>
            <a:noFill/>
          </p:spPr>
          <p:txBody>
            <a:bodyPr vert="horz" wrap="square" lIns="0" tIns="0" rIns="0" bIns="0" rtlCol="0">
              <a:spAutoFit/>
            </a:bodyPr>
            <a:lstStyle/>
            <a:p>
              <a:pPr algn="ctr"/>
              <a:r>
                <a:rPr lang="en-US" sz="1100" dirty="0">
                  <a:solidFill>
                    <a:srgbClr val="003C71"/>
                  </a:solidFill>
                </a:rPr>
                <a:t>.</a:t>
              </a:r>
              <a:r>
                <a:rPr lang="en-US" sz="1100" dirty="0" err="1">
                  <a:solidFill>
                    <a:srgbClr val="003C71"/>
                  </a:solidFill>
                </a:rPr>
                <a:t>gds</a:t>
              </a:r>
              <a:endParaRPr lang="en-US" sz="1100" dirty="0">
                <a:solidFill>
                  <a:srgbClr val="003C71"/>
                </a:solidFill>
              </a:endParaRPr>
            </a:p>
          </p:txBody>
        </p:sp>
        <p:sp>
          <p:nvSpPr>
            <p:cNvPr id="79" name="Rectangle 78"/>
            <p:cNvSpPr/>
            <p:nvPr/>
          </p:nvSpPr>
          <p:spPr>
            <a:xfrm>
              <a:off x="126461" y="3190671"/>
              <a:ext cx="8884597" cy="1520759"/>
            </a:xfrm>
            <a:prstGeom prst="rect">
              <a:avLst/>
            </a:prstGeom>
            <a:noFill/>
            <a:ln w="1905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p:cNvSpPr txBox="1"/>
            <p:nvPr/>
          </p:nvSpPr>
          <p:spPr>
            <a:xfrm>
              <a:off x="6793151" y="4445543"/>
              <a:ext cx="2166026" cy="169277"/>
            </a:xfrm>
            <a:prstGeom prst="rect">
              <a:avLst/>
            </a:prstGeom>
            <a:noFill/>
            <a:ln>
              <a:solidFill>
                <a:schemeClr val="tx2"/>
              </a:solidFill>
            </a:ln>
          </p:spPr>
          <p:txBody>
            <a:bodyPr vert="horz" wrap="square" lIns="0" tIns="0" rIns="0" bIns="0" rtlCol="0">
              <a:spAutoFit/>
            </a:bodyPr>
            <a:lstStyle/>
            <a:p>
              <a:pPr algn="ctr"/>
              <a:r>
                <a:rPr lang="en-US" sz="1100" dirty="0">
                  <a:solidFill>
                    <a:srgbClr val="003C71"/>
                  </a:solidFill>
                </a:rPr>
                <a:t>Mid-level “routing” flow</a:t>
              </a:r>
            </a:p>
          </p:txBody>
        </p:sp>
      </p:grpSp>
    </p:spTree>
    <p:extLst>
      <p:ext uri="{BB962C8B-B14F-4D97-AF65-F5344CB8AC3E}">
        <p14:creationId xmlns:p14="http://schemas.microsoft.com/office/powerpoint/2010/main" val="20578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49232" y="2244965"/>
            <a:ext cx="3321339" cy="943818"/>
          </a:xfrm>
        </p:spPr>
        <p:txBody>
          <a:bodyPr/>
          <a:lstStyle/>
          <a:p>
            <a:r>
              <a:rPr lang="en-US" dirty="0"/>
              <a:t>Diving into CAST SYNTAX</a:t>
            </a:r>
          </a:p>
        </p:txBody>
      </p:sp>
      <p:sp>
        <p:nvSpPr>
          <p:cNvPr id="2" name="Slide Number Placeholder 1"/>
          <p:cNvSpPr>
            <a:spLocks noGrp="1"/>
          </p:cNvSpPr>
          <p:nvPr>
            <p:ph type="sldNum" sz="quarter" idx="4294967295"/>
          </p:nvPr>
        </p:nvSpPr>
        <p:spPr>
          <a:xfrm>
            <a:off x="7010400" y="4824413"/>
            <a:ext cx="2133600" cy="273050"/>
          </a:xfrm>
        </p:spPr>
        <p:txBody>
          <a:bodyPr/>
          <a:lstStyle/>
          <a:p>
            <a:fld id="{EE2556C5-CE8C-6547-B838-EA80C61A4AF7}" type="slidenum">
              <a:rPr lang="en-US" smtClean="0"/>
              <a:pPr/>
              <a:t>12</a:t>
            </a:fld>
            <a:endParaRPr lang="en-US" dirty="0"/>
          </a:p>
        </p:txBody>
      </p:sp>
    </p:spTree>
    <p:extLst>
      <p:ext uri="{BB962C8B-B14F-4D97-AF65-F5344CB8AC3E}">
        <p14:creationId xmlns:p14="http://schemas.microsoft.com/office/powerpoint/2010/main" val="423395222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Structure of a CAST file</a:t>
            </a:r>
          </a:p>
        </p:txBody>
      </p:sp>
      <p:sp>
        <p:nvSpPr>
          <p:cNvPr id="26627" name="Rectangle 3"/>
          <p:cNvSpPr>
            <a:spLocks noGrp="1" noChangeArrowheads="1"/>
          </p:cNvSpPr>
          <p:nvPr>
            <p:ph idx="1"/>
          </p:nvPr>
        </p:nvSpPr>
        <p:spPr>
          <a:xfrm>
            <a:off x="758757" y="995363"/>
            <a:ext cx="6976734" cy="3650456"/>
          </a:xfrm>
        </p:spPr>
        <p:txBody>
          <a:bodyPr/>
          <a:lstStyle/>
          <a:p>
            <a:pPr marL="285750" indent="-285750" eaLnBrk="1" hangingPunct="1">
              <a:buFont typeface="Arial" panose="020B0604020202020204" pitchFamily="34" charset="0"/>
              <a:buChar char="•"/>
            </a:pPr>
            <a:r>
              <a:rPr lang="en-US" altLang="en-US" sz="1600" dirty="0"/>
              <a:t>Module name</a:t>
            </a:r>
          </a:p>
          <a:p>
            <a:pPr lvl="2"/>
            <a:r>
              <a:rPr lang="en-US" altLang="en-US" sz="1400" dirty="0"/>
              <a:t>Corresponds to location in directory structure</a:t>
            </a:r>
          </a:p>
          <a:p>
            <a:pPr marL="285750" indent="-285750" eaLnBrk="1" hangingPunct="1">
              <a:buFont typeface="Arial" panose="020B0604020202020204" pitchFamily="34" charset="0"/>
              <a:buChar char="•"/>
            </a:pPr>
            <a:r>
              <a:rPr lang="en-US" altLang="en-US" sz="1600" dirty="0"/>
              <a:t>Import list</a:t>
            </a:r>
          </a:p>
          <a:p>
            <a:pPr lvl="2"/>
            <a:r>
              <a:rPr lang="en-US" altLang="en-US" sz="1400" dirty="0"/>
              <a:t>Specify a list of other cast definitions to import</a:t>
            </a:r>
          </a:p>
          <a:p>
            <a:pPr lvl="2"/>
            <a:r>
              <a:rPr lang="en-US" altLang="en-US" sz="1400" dirty="0"/>
              <a:t>Everything in standard.* is imported by default</a:t>
            </a:r>
          </a:p>
          <a:p>
            <a:pPr marL="285750" indent="-285750" eaLnBrk="1" hangingPunct="1">
              <a:buFont typeface="Arial" panose="020B0604020202020204" pitchFamily="34" charset="0"/>
              <a:buChar char="•"/>
            </a:pPr>
            <a:r>
              <a:rPr lang="en-US" altLang="en-US" sz="1600" dirty="0"/>
              <a:t>Cell  (aka circuit) definitions</a:t>
            </a:r>
          </a:p>
          <a:p>
            <a:pPr lvl="2"/>
            <a:r>
              <a:rPr lang="en-US" altLang="en-US" sz="1400" dirty="0"/>
              <a:t>Defines the behavior of a cell and its environment</a:t>
            </a:r>
          </a:p>
          <a:p>
            <a:pPr lvl="2"/>
            <a:r>
              <a:rPr lang="en-US" altLang="en-US" sz="1400" dirty="0"/>
              <a:t>Behavior can have many levels of abstraction</a:t>
            </a:r>
          </a:p>
          <a:p>
            <a:pPr lvl="2"/>
            <a:r>
              <a:rPr lang="en-US" altLang="en-US" sz="1400" dirty="0"/>
              <a:t>Also includes directives for synthesis and simulation</a:t>
            </a:r>
          </a:p>
          <a:p>
            <a:pPr marL="285750" indent="-285750" eaLnBrk="1" hangingPunct="1">
              <a:buFont typeface="Arial" panose="020B0604020202020204" pitchFamily="34" charset="0"/>
              <a:buChar char="•"/>
            </a:pPr>
            <a:r>
              <a:rPr lang="en-US" altLang="en-US" sz="1600" dirty="0"/>
              <a:t>Channel definitions</a:t>
            </a:r>
          </a:p>
          <a:p>
            <a:pPr marL="511175" lvl="1" indent="-285750">
              <a:buFont typeface="Arial" panose="020B0604020202020204" pitchFamily="34" charset="0"/>
              <a:buChar char="•"/>
            </a:pPr>
            <a:r>
              <a:rPr lang="en-US" altLang="en-US" sz="1400" dirty="0"/>
              <a:t>Names a bundle of wires</a:t>
            </a:r>
          </a:p>
        </p:txBody>
      </p:sp>
      <p:sp>
        <p:nvSpPr>
          <p:cNvPr id="26628"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00" b="1">
                <a:solidFill>
                  <a:schemeClr val="tx1"/>
                </a:solidFill>
                <a:latin typeface="Helvetica" panose="020B0604020202020204" pitchFamily="34" charset="0"/>
              </a:defRPr>
            </a:lvl1pPr>
            <a:lvl2pPr marL="557213" indent="-214313">
              <a:defRPr sz="1800" b="1">
                <a:solidFill>
                  <a:schemeClr val="tx1"/>
                </a:solidFill>
                <a:latin typeface="Helvetica" panose="020B0604020202020204" pitchFamily="34" charset="0"/>
              </a:defRPr>
            </a:lvl2pPr>
            <a:lvl3pPr marL="857250" indent="-171450">
              <a:defRPr sz="1800" b="1">
                <a:solidFill>
                  <a:schemeClr val="tx1"/>
                </a:solidFill>
                <a:latin typeface="Helvetica" panose="020B0604020202020204" pitchFamily="34" charset="0"/>
              </a:defRPr>
            </a:lvl3pPr>
            <a:lvl4pPr marL="1200150" indent="-171450">
              <a:defRPr sz="1800" b="1">
                <a:solidFill>
                  <a:schemeClr val="tx1"/>
                </a:solidFill>
                <a:latin typeface="Helvetica" panose="020B0604020202020204" pitchFamily="34" charset="0"/>
              </a:defRPr>
            </a:lvl4pPr>
            <a:lvl5pPr marL="1543050" indent="-171450">
              <a:defRPr sz="1800" b="1">
                <a:solidFill>
                  <a:schemeClr val="tx1"/>
                </a:solidFill>
                <a:latin typeface="Helvetica" panose="020B0604020202020204" pitchFamily="34" charset="0"/>
              </a:defRPr>
            </a:lvl5pPr>
            <a:lvl6pPr marL="1885950" indent="-171450" eaLnBrk="0" fontAlgn="base" hangingPunct="0">
              <a:spcBef>
                <a:spcPct val="0"/>
              </a:spcBef>
              <a:spcAft>
                <a:spcPct val="0"/>
              </a:spcAft>
              <a:defRPr sz="1800" b="1">
                <a:solidFill>
                  <a:schemeClr val="tx1"/>
                </a:solidFill>
                <a:latin typeface="Helvetica" panose="020B0604020202020204" pitchFamily="34" charset="0"/>
              </a:defRPr>
            </a:lvl6pPr>
            <a:lvl7pPr marL="2228850" indent="-171450" eaLnBrk="0" fontAlgn="base" hangingPunct="0">
              <a:spcBef>
                <a:spcPct val="0"/>
              </a:spcBef>
              <a:spcAft>
                <a:spcPct val="0"/>
              </a:spcAft>
              <a:defRPr sz="1800" b="1">
                <a:solidFill>
                  <a:schemeClr val="tx1"/>
                </a:solidFill>
                <a:latin typeface="Helvetica" panose="020B0604020202020204" pitchFamily="34" charset="0"/>
              </a:defRPr>
            </a:lvl7pPr>
            <a:lvl8pPr marL="2571750" indent="-171450" eaLnBrk="0" fontAlgn="base" hangingPunct="0">
              <a:spcBef>
                <a:spcPct val="0"/>
              </a:spcBef>
              <a:spcAft>
                <a:spcPct val="0"/>
              </a:spcAft>
              <a:defRPr sz="1800" b="1">
                <a:solidFill>
                  <a:schemeClr val="tx1"/>
                </a:solidFill>
                <a:latin typeface="Helvetica" panose="020B0604020202020204" pitchFamily="34" charset="0"/>
              </a:defRPr>
            </a:lvl8pPr>
            <a:lvl9pPr marL="2914650" indent="-171450" eaLnBrk="0" fontAlgn="base" hangingPunct="0">
              <a:spcBef>
                <a:spcPct val="0"/>
              </a:spcBef>
              <a:spcAft>
                <a:spcPct val="0"/>
              </a:spcAft>
              <a:defRPr sz="1800" b="1">
                <a:solidFill>
                  <a:schemeClr val="tx1"/>
                </a:solidFill>
                <a:latin typeface="Helvetica" panose="020B0604020202020204" pitchFamily="34" charset="0"/>
              </a:defRPr>
            </a:lvl9pPr>
          </a:lstStyle>
          <a:p>
            <a:fld id="{46173F6F-BCEE-46A1-AF66-8203F926D675}" type="slidenum">
              <a:rPr lang="en-US" altLang="en-US" sz="600">
                <a:solidFill>
                  <a:srgbClr val="FFFFFF"/>
                </a:solidFill>
                <a:latin typeface="Verdana" panose="020B0604030504040204" pitchFamily="34" charset="0"/>
              </a:rPr>
              <a:pPr/>
              <a:t>13</a:t>
            </a:fld>
            <a:endParaRPr lang="en-US" altLang="en-US" sz="600">
              <a:solidFill>
                <a:srgbClr val="FFFFFF"/>
              </a:solidFill>
              <a:latin typeface="Verdana" panose="020B0604030504040204" pitchFamily="34" charset="0"/>
            </a:endParaRPr>
          </a:p>
        </p:txBody>
      </p:sp>
    </p:spTree>
    <p:extLst>
      <p:ext uri="{BB962C8B-B14F-4D97-AF65-F5344CB8AC3E}">
        <p14:creationId xmlns:p14="http://schemas.microsoft.com/office/powerpoint/2010/main" val="801405984"/>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ntent Placeholder 5"/>
          <p:cNvSpPr txBox="1">
            <a:spLocks/>
          </p:cNvSpPr>
          <p:nvPr/>
        </p:nvSpPr>
        <p:spPr>
          <a:xfrm>
            <a:off x="5642708" y="1203324"/>
            <a:ext cx="3040918" cy="3425825"/>
          </a:xfrm>
          <a:prstGeom prst="rect">
            <a:avLst/>
          </a:prstGeom>
        </p:spPr>
        <p:txBody>
          <a:bodyPr vert="horz" lIns="0" tIns="0" rIns="0" bIns="0" rtlCol="0">
            <a:noAutofit/>
          </a:bodyPr>
          <a:lst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Synchronous adder **/</a:t>
            </a:r>
          </a:p>
          <a:p>
            <a:pPr>
              <a:spcBef>
                <a:spcPts val="0"/>
              </a:spcBef>
            </a:pPr>
            <a:endParaRPr lang="en-US" sz="1000" b="1" dirty="0">
              <a:solidFill>
                <a:srgbClr val="0000FF"/>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module</a:t>
            </a:r>
            <a:r>
              <a:rPr lang="en-US" sz="1000" dirty="0">
                <a:solidFill>
                  <a:srgbClr val="000000"/>
                </a:solidFill>
                <a:highlight>
                  <a:srgbClr val="FFFFFF"/>
                </a:highlight>
                <a:latin typeface="Consolas" panose="020B0609020204030204" pitchFamily="49" charset="0"/>
                <a:cs typeface="Consolas" panose="020B0609020204030204" pitchFamily="49" charset="0"/>
              </a:rPr>
              <a:t> ADD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32</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WS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33</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output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WS</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S</a:t>
            </a: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always</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b="1" dirty="0" err="1">
                <a:solidFill>
                  <a:srgbClr val="0000FF"/>
                </a:solidFill>
                <a:highlight>
                  <a:srgbClr val="FFFFFF"/>
                </a:highlight>
                <a:latin typeface="Consolas" panose="020B0609020204030204" pitchFamily="49" charset="0"/>
                <a:cs typeface="Consolas" panose="020B0609020204030204" pitchFamily="49" charset="0"/>
              </a:rPr>
              <a:t>posedge</a:t>
            </a:r>
            <a:r>
              <a:rPr lang="en-US" sz="1000" b="1"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begin</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b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S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end</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endmodule</a:t>
            </a:r>
            <a:endParaRPr lang="en-US" sz="1000" dirty="0">
              <a:latin typeface="Consolas" panose="020B0609020204030204" pitchFamily="49" charset="0"/>
              <a:cs typeface="Consolas" panose="020B0609020204030204" pitchFamily="49" charset="0"/>
            </a:endParaRPr>
          </a:p>
        </p:txBody>
      </p:sp>
      <p:sp>
        <p:nvSpPr>
          <p:cNvPr id="27" name="Content Placeholder 5"/>
          <p:cNvSpPr txBox="1">
            <a:spLocks/>
          </p:cNvSpPr>
          <p:nvPr/>
        </p:nvSpPr>
        <p:spPr>
          <a:xfrm>
            <a:off x="5642708" y="580686"/>
            <a:ext cx="3501292" cy="4176585"/>
          </a:xfrm>
          <a:prstGeom prst="rect">
            <a:avLst/>
          </a:prstGeom>
        </p:spPr>
        <p:txBody>
          <a:bodyPr vert="horz" lIns="0" tIns="0" rIns="0" bIns="0" rtlCol="0">
            <a:noAutofit/>
          </a:bodyPr>
          <a:lst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module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err="1">
                <a:solidFill>
                  <a:srgbClr val="000000"/>
                </a:solidFill>
                <a:highlight>
                  <a:srgbClr val="FFFFFF"/>
                </a:highlight>
                <a:latin typeface="Consolas" panose="020B0609020204030204" pitchFamily="49" charset="0"/>
                <a:cs typeface="Consolas" panose="020B0609020204030204" pitchFamily="49" charset="0"/>
              </a:rPr>
              <a:t>ADD_env_digital</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 </a:t>
            </a:r>
            <a:r>
              <a:rPr lang="en-US" sz="1000"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32</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b="1"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chemeClr val="tx1"/>
                </a:solidFill>
                <a:highlight>
                  <a:srgbClr val="FFFFFF"/>
                </a:highlight>
                <a:latin typeface="Consolas" panose="020B0609020204030204" pitchFamily="49" charset="0"/>
                <a:cs typeface="Consolas" panose="020B0609020204030204" pitchFamily="49" charset="0"/>
              </a:rPr>
              <a:t>WS</a:t>
            </a:r>
            <a:r>
              <a:rPr lang="en-US" sz="1000"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chemeClr val="tx1"/>
                </a:solidFill>
                <a:highlight>
                  <a:srgbClr val="FFFFFF"/>
                </a:highlight>
                <a:latin typeface="Consolas" panose="020B0609020204030204" pitchFamily="49" charset="0"/>
                <a:cs typeface="Consolas" panose="020B0609020204030204" pitchFamily="49" charset="0"/>
              </a:rPr>
              <a:t>=</a:t>
            </a:r>
            <a:r>
              <a:rPr lang="en-US" sz="1000"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33</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[WS-1:0] S</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ADD</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dirty="0">
                <a:solidFill>
                  <a:srgbClr val="000000"/>
                </a:solidFill>
                <a:highlight>
                  <a:srgbClr val="FFFFFF"/>
                </a:highlight>
                <a:latin typeface="Consolas" panose="020B0609020204030204" pitchFamily="49" charset="0"/>
                <a:cs typeface="Consolas" panose="020B0609020204030204" pitchFamily="49" charset="0"/>
              </a:rPr>
              <a:t>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err="1">
                <a:solidFill>
                  <a:srgbClr val="000000"/>
                </a:solidFill>
                <a:highlight>
                  <a:srgbClr val="FFFFFF"/>
                </a:highlight>
                <a:latin typeface="Consolas" panose="020B0609020204030204" pitchFamily="49" charset="0"/>
                <a:cs typeface="Consolas" panose="020B0609020204030204" pitchFamily="49" charset="0"/>
              </a:rPr>
              <a:t>dut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b="1" dirty="0">
              <a:solidFill>
                <a:srgbClr val="00008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A</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A</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B</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B</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b="1" dirty="0">
              <a:solidFill>
                <a:srgbClr val="000080"/>
              </a:solidFill>
              <a:highlight>
                <a:srgbClr val="FFFFFF"/>
              </a:highlight>
              <a:latin typeface="Consolas" panose="020B0609020204030204" pitchFamily="49" charset="0"/>
              <a:cs typeface="Consolas" panose="020B0609020204030204" pitchFamily="49" charset="0"/>
            </a:endParaRPr>
          </a:p>
          <a:p>
            <a:pPr>
              <a:spcBef>
                <a:spcPts val="0"/>
              </a:spcBef>
            </a:pPr>
            <a:r>
              <a:rPr lang="pl-PL" sz="1000" b="1" dirty="0">
                <a:solidFill>
                  <a:srgbClr val="000080"/>
                </a:solidFill>
                <a:highlight>
                  <a:srgbClr val="FFFFFF"/>
                </a:highlight>
                <a:latin typeface="Consolas" panose="020B0609020204030204" pitchFamily="49" charset="0"/>
                <a:cs typeface="Consolas" panose="020B0609020204030204" pitchFamily="49" charset="0"/>
              </a:rPr>
              <a:t>);</a:t>
            </a:r>
            <a:endParaRPr lang="pl-PL"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initial</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begin</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CLK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$monitor</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808080"/>
                </a:solidFill>
                <a:highlight>
                  <a:srgbClr val="FFFFFF"/>
                </a:highlight>
                <a:latin typeface="Consolas" panose="020B0609020204030204" pitchFamily="49" charset="0"/>
                <a:cs typeface="Consolas" panose="020B0609020204030204" pitchFamily="49" charset="0"/>
              </a:rPr>
              <a:t>"%0t:  S: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$time</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S</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end</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always</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5</a:t>
            </a:r>
            <a:r>
              <a:rPr lang="en-US" sz="1000" dirty="0">
                <a:solidFill>
                  <a:srgbClr val="000000"/>
                </a:solidFill>
                <a:highlight>
                  <a:srgbClr val="FFFFFF"/>
                </a:highlight>
                <a:latin typeface="Consolas" panose="020B0609020204030204" pitchFamily="49" charset="0"/>
                <a:cs typeface="Consolas" panose="020B0609020204030204" pitchFamily="49" charset="0"/>
              </a:rPr>
              <a:t> CLK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always</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b="1" dirty="0" err="1">
                <a:solidFill>
                  <a:srgbClr val="0000FF"/>
                </a:solidFill>
                <a:highlight>
                  <a:srgbClr val="FFFFFF"/>
                </a:highlight>
                <a:latin typeface="Consolas" panose="020B0609020204030204" pitchFamily="49" charset="0"/>
                <a:cs typeface="Consolas" panose="020B0609020204030204" pitchFamily="49" charset="0"/>
              </a:rPr>
              <a:t>negedge</a:t>
            </a:r>
            <a:r>
              <a:rPr lang="en-US" sz="1000" dirty="0">
                <a:solidFill>
                  <a:srgbClr val="000000"/>
                </a:solidFill>
                <a:highlight>
                  <a:srgbClr val="FFFFFF"/>
                </a:highlight>
                <a:latin typeface="Consolas" panose="020B0609020204030204" pitchFamily="49" charset="0"/>
                <a:cs typeface="Consolas" panose="020B0609020204030204" pitchFamily="49" charset="0"/>
              </a:rPr>
              <a:t> 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begin</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$random</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B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$random</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end</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endmodule</a:t>
            </a:r>
            <a:endParaRPr lang="en-US" sz="1000" dirty="0">
              <a:latin typeface="Consolas" panose="020B0609020204030204" pitchFamily="49" charset="0"/>
              <a:cs typeface="Consolas" panose="020B0609020204030204" pitchFamily="49" charset="0"/>
            </a:endParaRPr>
          </a:p>
        </p:txBody>
      </p:sp>
      <p:grpSp>
        <p:nvGrpSpPr>
          <p:cNvPr id="6" name="Group 5"/>
          <p:cNvGrpSpPr/>
          <p:nvPr/>
        </p:nvGrpSpPr>
        <p:grpSpPr>
          <a:xfrm>
            <a:off x="5877908" y="1753388"/>
            <a:ext cx="1917552" cy="2043979"/>
            <a:chOff x="5877908" y="1753388"/>
            <a:chExt cx="1917552" cy="2043979"/>
          </a:xfrm>
        </p:grpSpPr>
        <p:sp>
          <p:nvSpPr>
            <p:cNvPr id="9" name="Rounded Rectangle 8"/>
            <p:cNvSpPr/>
            <p:nvPr/>
          </p:nvSpPr>
          <p:spPr bwMode="auto">
            <a:xfrm>
              <a:off x="6494927" y="1753388"/>
              <a:ext cx="754849" cy="2043979"/>
            </a:xfrm>
            <a:prstGeom prst="round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12700" algn="ctr">
              <a:solidFill>
                <a:schemeClr val="bg1"/>
              </a:solidFill>
              <a:round/>
              <a:headEnd type="none" w="sm" len="sm"/>
              <a:tailEnd type="none" w="sm" len="sm"/>
            </a:ln>
            <a:effectLst>
              <a:outerShdw blurRad="50800" dist="38100" dir="5400000" algn="t" rotWithShape="0">
                <a:prstClr val="black">
                  <a:alpha val="40000"/>
                </a:prstClr>
              </a:outerShdw>
            </a:effectLst>
          </p:spPr>
          <p:txBody>
            <a:bodyPr wrap="square" lIns="0" tIns="0" rIns="0" bIns="0" rtlCol="0" anchor="ctr"/>
            <a:lstStyle/>
            <a:p>
              <a:pPr algn="ctr" eaLnBrk="0" hangingPunct="0"/>
              <a:r>
                <a:rPr lang="en-US" dirty="0">
                  <a:solidFill>
                    <a:schemeClr val="bg1"/>
                  </a:solidFill>
                </a:rPr>
                <a:t>ADD</a:t>
              </a:r>
              <a:endParaRPr lang="en-US" sz="1050" dirty="0">
                <a:solidFill>
                  <a:schemeClr val="bg1"/>
                </a:solidFill>
              </a:endParaRPr>
            </a:p>
          </p:txBody>
        </p:sp>
        <p:cxnSp>
          <p:nvCxnSpPr>
            <p:cNvPr id="13" name="Straight Arrow Connector 12"/>
            <p:cNvCxnSpPr/>
            <p:nvPr/>
          </p:nvCxnSpPr>
          <p:spPr>
            <a:xfrm flipV="1">
              <a:off x="6127931" y="2435484"/>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7249776" y="2770253"/>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6127931" y="3201749"/>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77908" y="2312373"/>
              <a:ext cx="133050" cy="246221"/>
            </a:xfrm>
            <a:prstGeom prst="rect">
              <a:avLst/>
            </a:prstGeom>
            <a:noFill/>
          </p:spPr>
          <p:txBody>
            <a:bodyPr vert="horz" wrap="none" lIns="0" tIns="0" rIns="0" bIns="0" rtlCol="0">
              <a:spAutoFit/>
            </a:bodyPr>
            <a:lstStyle/>
            <a:p>
              <a:r>
                <a:rPr lang="en-US" sz="1600" dirty="0">
                  <a:solidFill>
                    <a:srgbClr val="003C71"/>
                  </a:solidFill>
                </a:rPr>
                <a:t>A</a:t>
              </a:r>
              <a:endParaRPr lang="en-US" sz="1100" dirty="0">
                <a:solidFill>
                  <a:srgbClr val="003C71"/>
                </a:solidFill>
              </a:endParaRPr>
            </a:p>
          </p:txBody>
        </p:sp>
        <p:sp>
          <p:nvSpPr>
            <p:cNvPr id="17" name="TextBox 16"/>
            <p:cNvSpPr txBox="1"/>
            <p:nvPr/>
          </p:nvSpPr>
          <p:spPr>
            <a:xfrm>
              <a:off x="5877908" y="3078638"/>
              <a:ext cx="126638" cy="246221"/>
            </a:xfrm>
            <a:prstGeom prst="rect">
              <a:avLst/>
            </a:prstGeom>
            <a:noFill/>
          </p:spPr>
          <p:txBody>
            <a:bodyPr vert="horz" wrap="none" lIns="0" tIns="0" rIns="0" bIns="0" rtlCol="0">
              <a:spAutoFit/>
            </a:bodyPr>
            <a:lstStyle/>
            <a:p>
              <a:r>
                <a:rPr lang="en-US" sz="1600" dirty="0">
                  <a:solidFill>
                    <a:srgbClr val="003C71"/>
                  </a:solidFill>
                </a:rPr>
                <a:t>B</a:t>
              </a:r>
              <a:endParaRPr lang="en-US" sz="1100" dirty="0">
                <a:solidFill>
                  <a:srgbClr val="003C71"/>
                </a:solidFill>
              </a:endParaRPr>
            </a:p>
          </p:txBody>
        </p:sp>
        <p:sp>
          <p:nvSpPr>
            <p:cNvPr id="18" name="TextBox 17"/>
            <p:cNvSpPr txBox="1"/>
            <p:nvPr/>
          </p:nvSpPr>
          <p:spPr>
            <a:xfrm>
              <a:off x="7673632" y="2645005"/>
              <a:ext cx="121828" cy="246221"/>
            </a:xfrm>
            <a:prstGeom prst="rect">
              <a:avLst/>
            </a:prstGeom>
            <a:noFill/>
          </p:spPr>
          <p:txBody>
            <a:bodyPr vert="horz" wrap="none" lIns="0" tIns="0" rIns="0" bIns="0" rtlCol="0">
              <a:spAutoFit/>
            </a:bodyPr>
            <a:lstStyle/>
            <a:p>
              <a:r>
                <a:rPr lang="en-US" sz="1600" dirty="0">
                  <a:solidFill>
                    <a:srgbClr val="003C71"/>
                  </a:solidFill>
                </a:rPr>
                <a:t>S</a:t>
              </a:r>
              <a:endParaRPr lang="en-US" sz="1100" dirty="0">
                <a:solidFill>
                  <a:srgbClr val="003C71"/>
                </a:solidFill>
              </a:endParaRPr>
            </a:p>
          </p:txBody>
        </p:sp>
      </p:grpSp>
      <p:sp>
        <p:nvSpPr>
          <p:cNvPr id="2" name="Slide Number Placeholder 1"/>
          <p:cNvSpPr>
            <a:spLocks noGrp="1"/>
          </p:cNvSpPr>
          <p:nvPr>
            <p:ph type="sldNum" sz="quarter" idx="12"/>
          </p:nvPr>
        </p:nvSpPr>
        <p:spPr/>
        <p:txBody>
          <a:bodyPr/>
          <a:lstStyle/>
          <a:p>
            <a:fld id="{EE2556C5-CE8C-6547-B838-EA80C61A4AF7}" type="slidenum">
              <a:rPr lang="en-US" smtClean="0"/>
              <a:pPr/>
              <a:t>14</a:t>
            </a:fld>
            <a:endParaRPr lang="en-US" dirty="0"/>
          </a:p>
        </p:txBody>
      </p:sp>
      <p:sp>
        <p:nvSpPr>
          <p:cNvPr id="3" name="Title 2"/>
          <p:cNvSpPr>
            <a:spLocks noGrp="1"/>
          </p:cNvSpPr>
          <p:nvPr>
            <p:ph type="title"/>
          </p:nvPr>
        </p:nvSpPr>
        <p:spPr/>
        <p:txBody>
          <a:bodyPr/>
          <a:lstStyle/>
          <a:p>
            <a:r>
              <a:rPr lang="en-US" dirty="0"/>
              <a:t>Example: lib/</a:t>
            </a:r>
            <a:r>
              <a:rPr lang="en-US" dirty="0" err="1"/>
              <a:t>bd</a:t>
            </a:r>
            <a:r>
              <a:rPr lang="en-US" dirty="0"/>
              <a:t>/math/</a:t>
            </a:r>
            <a:r>
              <a:rPr lang="en-US" dirty="0" err="1"/>
              <a:t>add.cast</a:t>
            </a:r>
            <a:r>
              <a:rPr lang="en-US" dirty="0"/>
              <a:t> </a:t>
            </a:r>
            <a:br>
              <a:rPr lang="en-US" dirty="0"/>
            </a:br>
            <a:endParaRPr lang="en-US" dirty="0"/>
          </a:p>
        </p:txBody>
      </p:sp>
      <p:sp>
        <p:nvSpPr>
          <p:cNvPr id="4" name="Content Placeholder 3"/>
          <p:cNvSpPr>
            <a:spLocks noGrp="1"/>
          </p:cNvSpPr>
          <p:nvPr>
            <p:ph sz="quarter" idx="13"/>
          </p:nvPr>
        </p:nvSpPr>
        <p:spPr>
          <a:xfrm>
            <a:off x="228507" y="1153785"/>
            <a:ext cx="4247869" cy="3425825"/>
          </a:xfrm>
        </p:spPr>
        <p:txBody>
          <a:bodyPr/>
          <a:lstStyle/>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BD adder **/</a:t>
            </a:r>
          </a:p>
          <a:p>
            <a:pPr>
              <a:spcBef>
                <a:spcPts val="0"/>
              </a:spcBef>
            </a:pP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module</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lib.bd.math.add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define</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ABSTRACT_ADD(</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W, WS)(</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-A, -B;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(WS) +S)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a,b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A?a</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S!a+b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env</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digital</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subcells</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_(A);</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_(B);</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sink_bd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(WS)  _(S);</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directives</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ntpc_spec</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S.C.q</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rgbClr val="FF8000"/>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36;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endParaRPr lang="en-US" sz="1000" dirty="0">
              <a:latin typeface="Consolas" panose="020B0609020204030204" pitchFamily="49" charset="0"/>
              <a:ea typeface="Verdana" panose="020B0604030504040204" pitchFamily="34" charset="0"/>
              <a:cs typeface="Consolas" panose="020B0609020204030204" pitchFamily="49" charset="0"/>
            </a:endParaRPr>
          </a:p>
        </p:txBody>
      </p:sp>
    </p:spTree>
    <p:extLst>
      <p:ext uri="{BB962C8B-B14F-4D97-AF65-F5344CB8AC3E}">
        <p14:creationId xmlns:p14="http://schemas.microsoft.com/office/powerpoint/2010/main" val="3669247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26"/>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15</a:t>
            </a:fld>
            <a:endParaRPr lang="en-US" dirty="0"/>
          </a:p>
        </p:txBody>
      </p:sp>
      <p:sp>
        <p:nvSpPr>
          <p:cNvPr id="5" name="Title 4"/>
          <p:cNvSpPr>
            <a:spLocks noGrp="1"/>
          </p:cNvSpPr>
          <p:nvPr>
            <p:ph type="title"/>
          </p:nvPr>
        </p:nvSpPr>
        <p:spPr/>
        <p:txBody>
          <a:bodyPr/>
          <a:lstStyle/>
          <a:p>
            <a:r>
              <a:rPr lang="en-US" dirty="0"/>
              <a:t>Synchronous adder circuit</a:t>
            </a:r>
          </a:p>
        </p:txBody>
      </p:sp>
      <p:sp>
        <p:nvSpPr>
          <p:cNvPr id="14" name="Content Placeholder 5"/>
          <p:cNvSpPr txBox="1">
            <a:spLocks/>
          </p:cNvSpPr>
          <p:nvPr/>
        </p:nvSpPr>
        <p:spPr>
          <a:xfrm>
            <a:off x="633377" y="1302793"/>
            <a:ext cx="3040918" cy="3425825"/>
          </a:xfrm>
          <a:prstGeom prst="rect">
            <a:avLst/>
          </a:prstGeom>
        </p:spPr>
        <p:txBody>
          <a:bodyPr vert="horz" lIns="0" tIns="0" rIns="0" bIns="0" rtlCol="0">
            <a:noAutofit/>
          </a:bodyPr>
          <a:lst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Synchronous adder **/</a:t>
            </a:r>
          </a:p>
          <a:p>
            <a:pPr>
              <a:spcBef>
                <a:spcPts val="0"/>
              </a:spcBef>
            </a:pPr>
            <a:endParaRPr lang="en-US" sz="1000" b="1" dirty="0">
              <a:solidFill>
                <a:srgbClr val="0000FF"/>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module</a:t>
            </a:r>
            <a:r>
              <a:rPr lang="en-US" sz="1000" dirty="0">
                <a:solidFill>
                  <a:srgbClr val="000000"/>
                </a:solidFill>
                <a:highlight>
                  <a:srgbClr val="FFFFFF"/>
                </a:highlight>
                <a:latin typeface="Consolas" panose="020B0609020204030204" pitchFamily="49" charset="0"/>
                <a:cs typeface="Consolas" panose="020B0609020204030204" pitchFamily="49" charset="0"/>
              </a:rPr>
              <a:t> ADD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16</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WS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16</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output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WS</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S</a:t>
            </a: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always</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b="1" dirty="0" err="1">
                <a:solidFill>
                  <a:srgbClr val="0000FF"/>
                </a:solidFill>
                <a:highlight>
                  <a:srgbClr val="FFFFFF"/>
                </a:highlight>
                <a:latin typeface="Consolas" panose="020B0609020204030204" pitchFamily="49" charset="0"/>
                <a:cs typeface="Consolas" panose="020B0609020204030204" pitchFamily="49" charset="0"/>
              </a:rPr>
              <a:t>posedge</a:t>
            </a:r>
            <a:r>
              <a:rPr lang="en-US" sz="1000" b="1"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begin</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b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S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end</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endmodule</a:t>
            </a:r>
            <a:endParaRPr lang="en-US" sz="1000" dirty="0">
              <a:latin typeface="Consolas" panose="020B0609020204030204" pitchFamily="49" charset="0"/>
              <a:cs typeface="Consolas" panose="020B0609020204030204" pitchFamily="49" charset="0"/>
            </a:endParaRPr>
          </a:p>
        </p:txBody>
      </p:sp>
      <p:grpSp>
        <p:nvGrpSpPr>
          <p:cNvPr id="15" name="Group 14"/>
          <p:cNvGrpSpPr/>
          <p:nvPr/>
        </p:nvGrpSpPr>
        <p:grpSpPr>
          <a:xfrm>
            <a:off x="4110521" y="1059871"/>
            <a:ext cx="711200" cy="1524000"/>
            <a:chOff x="1249680" y="995680"/>
            <a:chExt cx="711200" cy="1524000"/>
          </a:xfrm>
        </p:grpSpPr>
        <p:sp>
          <p:nvSpPr>
            <p:cNvPr id="16" name="Rounded Rectangle 15"/>
            <p:cNvSpPr/>
            <p:nvPr/>
          </p:nvSpPr>
          <p:spPr>
            <a:xfrm>
              <a:off x="1249680" y="995680"/>
              <a:ext cx="711200" cy="1524000"/>
            </a:xfrm>
            <a:prstGeom prst="round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7" name="Group 16"/>
            <p:cNvGrpSpPr/>
            <p:nvPr/>
          </p:nvGrpSpPr>
          <p:grpSpPr>
            <a:xfrm>
              <a:off x="1424902" y="1255566"/>
              <a:ext cx="186359" cy="484533"/>
              <a:chOff x="5950226" y="1470990"/>
              <a:chExt cx="556591" cy="1086679"/>
            </a:xfrm>
            <a:solidFill>
              <a:schemeClr val="accent5">
                <a:lumMod val="40000"/>
                <a:lumOff val="60000"/>
              </a:schemeClr>
            </a:solidFill>
          </p:grpSpPr>
          <p:sp>
            <p:nvSpPr>
              <p:cNvPr id="34" name="Rectangle 33"/>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35" name="Group 34"/>
              <p:cNvGrpSpPr/>
              <p:nvPr/>
            </p:nvGrpSpPr>
            <p:grpSpPr>
              <a:xfrm>
                <a:off x="6042990" y="2226364"/>
                <a:ext cx="371061" cy="331305"/>
                <a:chOff x="2358887" y="2385391"/>
                <a:chExt cx="437322" cy="503583"/>
              </a:xfrm>
              <a:grpFill/>
            </p:grpSpPr>
            <p:cxnSp>
              <p:nvCxnSpPr>
                <p:cNvPr id="36" name="Straight Connector 35"/>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8" name="Group 17"/>
            <p:cNvGrpSpPr/>
            <p:nvPr/>
          </p:nvGrpSpPr>
          <p:grpSpPr>
            <a:xfrm>
              <a:off x="1518081" y="1155478"/>
              <a:ext cx="186359" cy="484533"/>
              <a:chOff x="5950226" y="1470990"/>
              <a:chExt cx="556591" cy="1086679"/>
            </a:xfrm>
            <a:solidFill>
              <a:schemeClr val="accent5">
                <a:lumMod val="40000"/>
                <a:lumOff val="60000"/>
              </a:schemeClr>
            </a:solidFill>
          </p:grpSpPr>
          <p:sp>
            <p:nvSpPr>
              <p:cNvPr id="30" name="Rectangle 29"/>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31" name="Group 30"/>
              <p:cNvGrpSpPr/>
              <p:nvPr/>
            </p:nvGrpSpPr>
            <p:grpSpPr>
              <a:xfrm>
                <a:off x="6042990" y="2226364"/>
                <a:ext cx="371061" cy="331305"/>
                <a:chOff x="2358887" y="2385391"/>
                <a:chExt cx="437322" cy="503583"/>
              </a:xfrm>
              <a:grpFill/>
            </p:grpSpPr>
            <p:cxnSp>
              <p:nvCxnSpPr>
                <p:cNvPr id="32" name="Straight Connector 31"/>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9" name="Group 18"/>
            <p:cNvGrpSpPr/>
            <p:nvPr/>
          </p:nvGrpSpPr>
          <p:grpSpPr>
            <a:xfrm>
              <a:off x="1606596" y="1031217"/>
              <a:ext cx="186359" cy="484533"/>
              <a:chOff x="5950226" y="1470990"/>
              <a:chExt cx="556591" cy="1086679"/>
            </a:xfrm>
            <a:solidFill>
              <a:schemeClr val="accent5">
                <a:lumMod val="40000"/>
                <a:lumOff val="60000"/>
              </a:schemeClr>
            </a:solidFill>
          </p:grpSpPr>
          <p:sp>
            <p:nvSpPr>
              <p:cNvPr id="26" name="Rectangle 25"/>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27" name="Group 26"/>
              <p:cNvGrpSpPr/>
              <p:nvPr/>
            </p:nvGrpSpPr>
            <p:grpSpPr>
              <a:xfrm>
                <a:off x="6042990" y="2226364"/>
                <a:ext cx="371061" cy="331305"/>
                <a:chOff x="2358887" y="2385391"/>
                <a:chExt cx="437322" cy="503583"/>
              </a:xfrm>
              <a:grpFill/>
            </p:grpSpPr>
            <p:cxnSp>
              <p:nvCxnSpPr>
                <p:cNvPr id="28" name="Straight Connector 27"/>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0" name="Straight Connector 19"/>
            <p:cNvCxnSpPr>
              <a:stCxn id="34" idx="2"/>
            </p:cNvCxnSpPr>
            <p:nvPr/>
          </p:nvCxnSpPr>
          <p:spPr>
            <a:xfrm>
              <a:off x="1518082" y="1740099"/>
              <a:ext cx="2783" cy="11752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a:stCxn id="26" idx="2"/>
            </p:cNvCxnSpPr>
            <p:nvPr/>
          </p:nvCxnSpPr>
          <p:spPr>
            <a:xfrm>
              <a:off x="1699776" y="1515750"/>
              <a:ext cx="1880" cy="34861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30" idx="2"/>
            </p:cNvCxnSpPr>
            <p:nvPr/>
          </p:nvCxnSpPr>
          <p:spPr>
            <a:xfrm>
              <a:off x="1611261" y="1640011"/>
              <a:ext cx="1880" cy="22434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1518081" y="1857622"/>
              <a:ext cx="18169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flipH="1">
              <a:off x="1611261" y="1850885"/>
              <a:ext cx="1880" cy="28498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37655" y="1880821"/>
              <a:ext cx="261105" cy="138499"/>
            </a:xfrm>
            <a:prstGeom prst="rect">
              <a:avLst/>
            </a:prstGeom>
            <a:noFill/>
          </p:spPr>
          <p:txBody>
            <a:bodyPr vert="horz" wrap="square" lIns="0" tIns="0" rIns="0" bIns="0" rtlCol="0">
              <a:spAutoFit/>
            </a:bodyPr>
            <a:lstStyle/>
            <a:p>
              <a:r>
                <a:rPr lang="en-US" sz="900" dirty="0"/>
                <a:t>CLK</a:t>
              </a:r>
            </a:p>
          </p:txBody>
        </p:sp>
      </p:grpSp>
      <p:sp>
        <p:nvSpPr>
          <p:cNvPr id="38" name="Right Arrow 37"/>
          <p:cNvSpPr/>
          <p:nvPr/>
        </p:nvSpPr>
        <p:spPr>
          <a:xfrm>
            <a:off x="3540778" y="1660816"/>
            <a:ext cx="573682" cy="260015"/>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TextBox 38"/>
          <p:cNvSpPr txBox="1"/>
          <p:nvPr/>
        </p:nvSpPr>
        <p:spPr>
          <a:xfrm>
            <a:off x="3055574" y="1704202"/>
            <a:ext cx="454143" cy="153888"/>
          </a:xfrm>
          <a:prstGeom prst="rect">
            <a:avLst/>
          </a:prstGeom>
          <a:noFill/>
        </p:spPr>
        <p:txBody>
          <a:bodyPr vert="horz" wrap="square" lIns="0" tIns="0" rIns="0" bIns="0" rtlCol="0">
            <a:spAutoFit/>
          </a:bodyPr>
          <a:lstStyle/>
          <a:p>
            <a:r>
              <a:rPr lang="en-US" sz="1000" dirty="0">
                <a:solidFill>
                  <a:srgbClr val="003C71"/>
                </a:solidFill>
              </a:rPr>
              <a:t>A[15:0]</a:t>
            </a:r>
          </a:p>
        </p:txBody>
      </p:sp>
      <p:grpSp>
        <p:nvGrpSpPr>
          <p:cNvPr id="40" name="Group 39"/>
          <p:cNvGrpSpPr/>
          <p:nvPr/>
        </p:nvGrpSpPr>
        <p:grpSpPr>
          <a:xfrm>
            <a:off x="3068200" y="2886217"/>
            <a:ext cx="1766147" cy="1831118"/>
            <a:chOff x="194733" y="975846"/>
            <a:chExt cx="1766147" cy="1831118"/>
          </a:xfrm>
        </p:grpSpPr>
        <p:grpSp>
          <p:nvGrpSpPr>
            <p:cNvPr id="41" name="Group 40"/>
            <p:cNvGrpSpPr/>
            <p:nvPr/>
          </p:nvGrpSpPr>
          <p:grpSpPr>
            <a:xfrm>
              <a:off x="1249680" y="975846"/>
              <a:ext cx="711200" cy="1831118"/>
              <a:chOff x="1249680" y="995680"/>
              <a:chExt cx="711200" cy="1831118"/>
            </a:xfrm>
          </p:grpSpPr>
          <p:sp>
            <p:nvSpPr>
              <p:cNvPr id="44" name="Rounded Rectangle 43"/>
              <p:cNvSpPr/>
              <p:nvPr/>
            </p:nvSpPr>
            <p:spPr>
              <a:xfrm>
                <a:off x="1249680" y="995680"/>
                <a:ext cx="711200" cy="1524000"/>
              </a:xfrm>
              <a:prstGeom prst="round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5" name="Group 44"/>
              <p:cNvGrpSpPr/>
              <p:nvPr/>
            </p:nvGrpSpPr>
            <p:grpSpPr>
              <a:xfrm>
                <a:off x="1424902" y="1255566"/>
                <a:ext cx="186359" cy="484533"/>
                <a:chOff x="5950226" y="1470990"/>
                <a:chExt cx="556591" cy="1086679"/>
              </a:xfrm>
              <a:solidFill>
                <a:schemeClr val="accent5">
                  <a:lumMod val="40000"/>
                  <a:lumOff val="60000"/>
                </a:schemeClr>
              </a:solidFill>
            </p:grpSpPr>
            <p:sp>
              <p:nvSpPr>
                <p:cNvPr id="62" name="Rectangle 61"/>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63" name="Group 62"/>
                <p:cNvGrpSpPr/>
                <p:nvPr/>
              </p:nvGrpSpPr>
              <p:grpSpPr>
                <a:xfrm>
                  <a:off x="6042990" y="2226364"/>
                  <a:ext cx="371061" cy="331305"/>
                  <a:chOff x="2358887" y="2385391"/>
                  <a:chExt cx="437322" cy="503583"/>
                </a:xfrm>
                <a:grpFill/>
              </p:grpSpPr>
              <p:cxnSp>
                <p:nvCxnSpPr>
                  <p:cNvPr id="64" name="Straight Connector 63"/>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 name="Group 45"/>
              <p:cNvGrpSpPr/>
              <p:nvPr/>
            </p:nvGrpSpPr>
            <p:grpSpPr>
              <a:xfrm>
                <a:off x="1518081" y="1155478"/>
                <a:ext cx="186359" cy="484533"/>
                <a:chOff x="5950226" y="1470990"/>
                <a:chExt cx="556591" cy="1086679"/>
              </a:xfrm>
              <a:solidFill>
                <a:schemeClr val="accent5">
                  <a:lumMod val="40000"/>
                  <a:lumOff val="60000"/>
                </a:schemeClr>
              </a:solidFill>
            </p:grpSpPr>
            <p:sp>
              <p:nvSpPr>
                <p:cNvPr id="58" name="Rectangle 57"/>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59" name="Group 58"/>
                <p:cNvGrpSpPr/>
                <p:nvPr/>
              </p:nvGrpSpPr>
              <p:grpSpPr>
                <a:xfrm>
                  <a:off x="6042990" y="2226364"/>
                  <a:ext cx="371061" cy="331305"/>
                  <a:chOff x="2358887" y="2385391"/>
                  <a:chExt cx="437322" cy="503583"/>
                </a:xfrm>
                <a:grpFill/>
              </p:grpSpPr>
              <p:cxnSp>
                <p:nvCxnSpPr>
                  <p:cNvPr id="60" name="Straight Connector 59"/>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7" name="Group 46"/>
              <p:cNvGrpSpPr/>
              <p:nvPr/>
            </p:nvGrpSpPr>
            <p:grpSpPr>
              <a:xfrm>
                <a:off x="1606596" y="1031217"/>
                <a:ext cx="186359" cy="484533"/>
                <a:chOff x="5950226" y="1470990"/>
                <a:chExt cx="556591" cy="1086679"/>
              </a:xfrm>
              <a:solidFill>
                <a:schemeClr val="accent5">
                  <a:lumMod val="40000"/>
                  <a:lumOff val="60000"/>
                </a:schemeClr>
              </a:solidFill>
            </p:grpSpPr>
            <p:sp>
              <p:nvSpPr>
                <p:cNvPr id="54" name="Rectangle 53"/>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55" name="Group 54"/>
                <p:cNvGrpSpPr/>
                <p:nvPr/>
              </p:nvGrpSpPr>
              <p:grpSpPr>
                <a:xfrm>
                  <a:off x="6042990" y="2226364"/>
                  <a:ext cx="371061" cy="331305"/>
                  <a:chOff x="2358887" y="2385391"/>
                  <a:chExt cx="437322" cy="503583"/>
                </a:xfrm>
                <a:grpFill/>
              </p:grpSpPr>
              <p:cxnSp>
                <p:nvCxnSpPr>
                  <p:cNvPr id="56" name="Straight Connector 55"/>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8" name="Straight Connector 47"/>
              <p:cNvCxnSpPr>
                <a:stCxn id="62" idx="2"/>
              </p:cNvCxnSpPr>
              <p:nvPr/>
            </p:nvCxnSpPr>
            <p:spPr>
              <a:xfrm>
                <a:off x="1518082" y="1740099"/>
                <a:ext cx="2783" cy="11752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a:stCxn id="54" idx="2"/>
              </p:cNvCxnSpPr>
              <p:nvPr/>
            </p:nvCxnSpPr>
            <p:spPr>
              <a:xfrm>
                <a:off x="1699776" y="1515750"/>
                <a:ext cx="1880" cy="34861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a:stCxn id="58" idx="2"/>
              </p:cNvCxnSpPr>
              <p:nvPr/>
            </p:nvCxnSpPr>
            <p:spPr>
              <a:xfrm>
                <a:off x="1611261" y="1640011"/>
                <a:ext cx="1880" cy="22434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a:off x="1518081" y="1857622"/>
                <a:ext cx="18169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1613141" y="1850885"/>
                <a:ext cx="613" cy="97591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637655" y="1880821"/>
                <a:ext cx="261105" cy="138499"/>
              </a:xfrm>
              <a:prstGeom prst="rect">
                <a:avLst/>
              </a:prstGeom>
              <a:noFill/>
            </p:spPr>
            <p:txBody>
              <a:bodyPr vert="horz" wrap="square" lIns="0" tIns="0" rIns="0" bIns="0" rtlCol="0">
                <a:spAutoFit/>
              </a:bodyPr>
              <a:lstStyle/>
              <a:p>
                <a:r>
                  <a:rPr lang="en-US" sz="900" dirty="0"/>
                  <a:t>CLK</a:t>
                </a:r>
              </a:p>
            </p:txBody>
          </p:sp>
        </p:grpSp>
        <p:sp>
          <p:nvSpPr>
            <p:cNvPr id="42" name="Right Arrow 41"/>
            <p:cNvSpPr/>
            <p:nvPr/>
          </p:nvSpPr>
          <p:spPr>
            <a:xfrm>
              <a:off x="679937" y="1576791"/>
              <a:ext cx="573682" cy="260015"/>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TextBox 42"/>
            <p:cNvSpPr txBox="1"/>
            <p:nvPr/>
          </p:nvSpPr>
          <p:spPr>
            <a:xfrm>
              <a:off x="194733" y="1620177"/>
              <a:ext cx="454143" cy="153888"/>
            </a:xfrm>
            <a:prstGeom prst="rect">
              <a:avLst/>
            </a:prstGeom>
            <a:noFill/>
          </p:spPr>
          <p:txBody>
            <a:bodyPr vert="horz" wrap="square" lIns="0" tIns="0" rIns="0" bIns="0" rtlCol="0">
              <a:spAutoFit/>
            </a:bodyPr>
            <a:lstStyle/>
            <a:p>
              <a:r>
                <a:rPr lang="en-US" sz="1000" dirty="0">
                  <a:solidFill>
                    <a:srgbClr val="003C71"/>
                  </a:solidFill>
                </a:rPr>
                <a:t>B[15:0]</a:t>
              </a:r>
            </a:p>
          </p:txBody>
        </p:sp>
      </p:grpSp>
      <p:cxnSp>
        <p:nvCxnSpPr>
          <p:cNvPr id="67" name="Straight Connector 66"/>
          <p:cNvCxnSpPr>
            <a:stCxn id="44" idx="0"/>
          </p:cNvCxnSpPr>
          <p:nvPr/>
        </p:nvCxnSpPr>
        <p:spPr>
          <a:xfrm flipH="1" flipV="1">
            <a:off x="4472559" y="2152543"/>
            <a:ext cx="6188" cy="733674"/>
          </a:xfrm>
          <a:prstGeom prst="line">
            <a:avLst/>
          </a:prstGeom>
          <a:ln>
            <a:solidFill>
              <a:schemeClr val="tx1"/>
            </a:solidFill>
            <a:prstDash val="sysDot"/>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581991" y="4634988"/>
            <a:ext cx="454143" cy="153888"/>
          </a:xfrm>
          <a:prstGeom prst="rect">
            <a:avLst/>
          </a:prstGeom>
          <a:noFill/>
        </p:spPr>
        <p:txBody>
          <a:bodyPr vert="horz" wrap="square" lIns="0" tIns="0" rIns="0" bIns="0" rtlCol="0">
            <a:spAutoFit/>
          </a:bodyPr>
          <a:lstStyle/>
          <a:p>
            <a:r>
              <a:rPr lang="en-US" sz="1000" dirty="0"/>
              <a:t>CLK</a:t>
            </a:r>
          </a:p>
        </p:txBody>
      </p:sp>
      <p:grpSp>
        <p:nvGrpSpPr>
          <p:cNvPr id="69" name="Group 68"/>
          <p:cNvGrpSpPr/>
          <p:nvPr/>
        </p:nvGrpSpPr>
        <p:grpSpPr>
          <a:xfrm>
            <a:off x="7183705" y="1788944"/>
            <a:ext cx="1790069" cy="1524000"/>
            <a:chOff x="6729524" y="2097782"/>
            <a:chExt cx="1790069" cy="1524000"/>
          </a:xfrm>
        </p:grpSpPr>
        <p:grpSp>
          <p:nvGrpSpPr>
            <p:cNvPr id="70" name="Group 69"/>
            <p:cNvGrpSpPr/>
            <p:nvPr/>
          </p:nvGrpSpPr>
          <p:grpSpPr>
            <a:xfrm>
              <a:off x="6729524" y="2097782"/>
              <a:ext cx="711200" cy="1524000"/>
              <a:chOff x="1249680" y="995680"/>
              <a:chExt cx="711200" cy="1524000"/>
            </a:xfrm>
          </p:grpSpPr>
          <p:sp>
            <p:nvSpPr>
              <p:cNvPr id="73" name="Rounded Rectangle 72"/>
              <p:cNvSpPr/>
              <p:nvPr/>
            </p:nvSpPr>
            <p:spPr>
              <a:xfrm>
                <a:off x="1249680" y="995680"/>
                <a:ext cx="711200" cy="1524000"/>
              </a:xfrm>
              <a:prstGeom prst="round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4" name="Group 73"/>
              <p:cNvGrpSpPr/>
              <p:nvPr/>
            </p:nvGrpSpPr>
            <p:grpSpPr>
              <a:xfrm>
                <a:off x="1424902" y="1255566"/>
                <a:ext cx="186359" cy="484533"/>
                <a:chOff x="5950226" y="1470990"/>
                <a:chExt cx="556591" cy="1086679"/>
              </a:xfrm>
              <a:solidFill>
                <a:schemeClr val="accent5">
                  <a:lumMod val="40000"/>
                  <a:lumOff val="60000"/>
                </a:schemeClr>
              </a:solidFill>
            </p:grpSpPr>
            <p:sp>
              <p:nvSpPr>
                <p:cNvPr id="91" name="Rectangle 90"/>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92" name="Group 91"/>
                <p:cNvGrpSpPr/>
                <p:nvPr/>
              </p:nvGrpSpPr>
              <p:grpSpPr>
                <a:xfrm>
                  <a:off x="6042990" y="2226364"/>
                  <a:ext cx="371061" cy="331305"/>
                  <a:chOff x="2358887" y="2385391"/>
                  <a:chExt cx="437322" cy="503583"/>
                </a:xfrm>
                <a:grpFill/>
              </p:grpSpPr>
              <p:cxnSp>
                <p:nvCxnSpPr>
                  <p:cNvPr id="93" name="Straight Connector 92"/>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5" name="Group 74"/>
              <p:cNvGrpSpPr/>
              <p:nvPr/>
            </p:nvGrpSpPr>
            <p:grpSpPr>
              <a:xfrm>
                <a:off x="1518081" y="1155478"/>
                <a:ext cx="186359" cy="484533"/>
                <a:chOff x="5950226" y="1470990"/>
                <a:chExt cx="556591" cy="1086679"/>
              </a:xfrm>
              <a:solidFill>
                <a:schemeClr val="accent5">
                  <a:lumMod val="40000"/>
                  <a:lumOff val="60000"/>
                </a:schemeClr>
              </a:solidFill>
            </p:grpSpPr>
            <p:sp>
              <p:nvSpPr>
                <p:cNvPr id="87" name="Rectangle 86"/>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88" name="Group 87"/>
                <p:cNvGrpSpPr/>
                <p:nvPr/>
              </p:nvGrpSpPr>
              <p:grpSpPr>
                <a:xfrm>
                  <a:off x="6042990" y="2226364"/>
                  <a:ext cx="371061" cy="331305"/>
                  <a:chOff x="2358887" y="2385391"/>
                  <a:chExt cx="437322" cy="503583"/>
                </a:xfrm>
                <a:grpFill/>
              </p:grpSpPr>
              <p:cxnSp>
                <p:nvCxnSpPr>
                  <p:cNvPr id="89" name="Straight Connector 88"/>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6" name="Group 75"/>
              <p:cNvGrpSpPr/>
              <p:nvPr/>
            </p:nvGrpSpPr>
            <p:grpSpPr>
              <a:xfrm>
                <a:off x="1606596" y="1031217"/>
                <a:ext cx="186359" cy="484533"/>
                <a:chOff x="5950226" y="1470990"/>
                <a:chExt cx="556591" cy="1086679"/>
              </a:xfrm>
              <a:solidFill>
                <a:schemeClr val="accent5">
                  <a:lumMod val="40000"/>
                  <a:lumOff val="60000"/>
                </a:schemeClr>
              </a:solidFill>
            </p:grpSpPr>
            <p:sp>
              <p:nvSpPr>
                <p:cNvPr id="83" name="Rectangle 82"/>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84" name="Group 83"/>
                <p:cNvGrpSpPr/>
                <p:nvPr/>
              </p:nvGrpSpPr>
              <p:grpSpPr>
                <a:xfrm>
                  <a:off x="6042990" y="2226364"/>
                  <a:ext cx="371061" cy="331305"/>
                  <a:chOff x="2358887" y="2385391"/>
                  <a:chExt cx="437322" cy="503583"/>
                </a:xfrm>
                <a:grpFill/>
              </p:grpSpPr>
              <p:cxnSp>
                <p:nvCxnSpPr>
                  <p:cNvPr id="85" name="Straight Connector 84"/>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77" name="Straight Connector 76"/>
              <p:cNvCxnSpPr>
                <a:stCxn id="91" idx="2"/>
              </p:cNvCxnSpPr>
              <p:nvPr/>
            </p:nvCxnSpPr>
            <p:spPr>
              <a:xfrm>
                <a:off x="1518082" y="1740099"/>
                <a:ext cx="2783" cy="11752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p:cNvCxnSpPr>
                <a:stCxn id="83" idx="2"/>
              </p:cNvCxnSpPr>
              <p:nvPr/>
            </p:nvCxnSpPr>
            <p:spPr>
              <a:xfrm>
                <a:off x="1699776" y="1515750"/>
                <a:ext cx="1880" cy="34861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p:cNvCxnSpPr>
                <a:stCxn id="87" idx="2"/>
              </p:cNvCxnSpPr>
              <p:nvPr/>
            </p:nvCxnSpPr>
            <p:spPr>
              <a:xfrm>
                <a:off x="1611261" y="1640011"/>
                <a:ext cx="1880" cy="22434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1518081" y="1857622"/>
                <a:ext cx="18169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flipH="1">
                <a:off x="1611261" y="1850885"/>
                <a:ext cx="1880" cy="28498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637655" y="1880821"/>
                <a:ext cx="261105" cy="138499"/>
              </a:xfrm>
              <a:prstGeom prst="rect">
                <a:avLst/>
              </a:prstGeom>
              <a:noFill/>
            </p:spPr>
            <p:txBody>
              <a:bodyPr vert="horz" wrap="square" lIns="0" tIns="0" rIns="0" bIns="0" rtlCol="0">
                <a:spAutoFit/>
              </a:bodyPr>
              <a:lstStyle/>
              <a:p>
                <a:r>
                  <a:rPr lang="en-US" sz="900" dirty="0"/>
                  <a:t>CLK</a:t>
                </a:r>
              </a:p>
            </p:txBody>
          </p:sp>
        </p:grpSp>
        <p:sp>
          <p:nvSpPr>
            <p:cNvPr id="71" name="Right Arrow 70"/>
            <p:cNvSpPr/>
            <p:nvPr/>
          </p:nvSpPr>
          <p:spPr>
            <a:xfrm>
              <a:off x="7421626" y="2771951"/>
              <a:ext cx="600802" cy="260015"/>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TextBox 71"/>
            <p:cNvSpPr txBox="1"/>
            <p:nvPr/>
          </p:nvSpPr>
          <p:spPr>
            <a:xfrm>
              <a:off x="8065450" y="2802421"/>
              <a:ext cx="454143" cy="153888"/>
            </a:xfrm>
            <a:prstGeom prst="rect">
              <a:avLst/>
            </a:prstGeom>
            <a:noFill/>
          </p:spPr>
          <p:txBody>
            <a:bodyPr vert="horz" wrap="square" lIns="0" tIns="0" rIns="0" bIns="0" rtlCol="0">
              <a:spAutoFit/>
            </a:bodyPr>
            <a:lstStyle/>
            <a:p>
              <a:r>
                <a:rPr lang="en-US" sz="1000" dirty="0">
                  <a:solidFill>
                    <a:srgbClr val="003C71"/>
                  </a:solidFill>
                </a:rPr>
                <a:t>S[15:0]</a:t>
              </a:r>
            </a:p>
          </p:txBody>
        </p:sp>
      </p:grpSp>
      <p:sp>
        <p:nvSpPr>
          <p:cNvPr id="95" name="TextBox 94"/>
          <p:cNvSpPr txBox="1"/>
          <p:nvPr/>
        </p:nvSpPr>
        <p:spPr>
          <a:xfrm>
            <a:off x="4948153" y="1391099"/>
            <a:ext cx="483109" cy="153888"/>
          </a:xfrm>
          <a:prstGeom prst="rect">
            <a:avLst/>
          </a:prstGeom>
          <a:noFill/>
        </p:spPr>
        <p:txBody>
          <a:bodyPr vert="horz" wrap="square" lIns="0" tIns="0" rIns="0" bIns="0" rtlCol="0">
            <a:spAutoFit/>
          </a:bodyPr>
          <a:lstStyle/>
          <a:p>
            <a:r>
              <a:rPr lang="en-US" sz="1000" dirty="0" err="1">
                <a:solidFill>
                  <a:srgbClr val="003C71"/>
                </a:solidFill>
              </a:rPr>
              <a:t>valueA</a:t>
            </a:r>
            <a:endParaRPr lang="en-US" sz="1000" dirty="0">
              <a:solidFill>
                <a:srgbClr val="003C71"/>
              </a:solidFill>
            </a:endParaRPr>
          </a:p>
        </p:txBody>
      </p:sp>
      <p:sp>
        <p:nvSpPr>
          <p:cNvPr id="96" name="TextBox 95"/>
          <p:cNvSpPr txBox="1"/>
          <p:nvPr/>
        </p:nvSpPr>
        <p:spPr>
          <a:xfrm>
            <a:off x="4909020" y="3079668"/>
            <a:ext cx="483109" cy="153888"/>
          </a:xfrm>
          <a:prstGeom prst="rect">
            <a:avLst/>
          </a:prstGeom>
          <a:noFill/>
        </p:spPr>
        <p:txBody>
          <a:bodyPr vert="horz" wrap="square" lIns="0" tIns="0" rIns="0" bIns="0" rtlCol="0">
            <a:spAutoFit/>
          </a:bodyPr>
          <a:lstStyle/>
          <a:p>
            <a:r>
              <a:rPr lang="en-US" sz="1000" dirty="0" err="1">
                <a:solidFill>
                  <a:srgbClr val="003C71"/>
                </a:solidFill>
              </a:rPr>
              <a:t>valueB</a:t>
            </a:r>
            <a:endParaRPr lang="en-US" sz="1000" dirty="0">
              <a:solidFill>
                <a:srgbClr val="003C71"/>
              </a:solidFill>
            </a:endParaRPr>
          </a:p>
        </p:txBody>
      </p:sp>
      <p:sp>
        <p:nvSpPr>
          <p:cNvPr id="97" name="TextBox 96"/>
          <p:cNvSpPr txBox="1"/>
          <p:nvPr/>
        </p:nvSpPr>
        <p:spPr>
          <a:xfrm>
            <a:off x="6620828" y="2420488"/>
            <a:ext cx="483109" cy="153888"/>
          </a:xfrm>
          <a:prstGeom prst="rect">
            <a:avLst/>
          </a:prstGeom>
          <a:noFill/>
        </p:spPr>
        <p:txBody>
          <a:bodyPr vert="horz" wrap="square" lIns="0" tIns="0" rIns="0" bIns="0" rtlCol="0">
            <a:spAutoFit/>
          </a:bodyPr>
          <a:lstStyle/>
          <a:p>
            <a:r>
              <a:rPr lang="en-US" sz="1000" dirty="0" err="1">
                <a:solidFill>
                  <a:srgbClr val="003C71"/>
                </a:solidFill>
              </a:rPr>
              <a:t>valueS</a:t>
            </a:r>
            <a:endParaRPr lang="en-US" sz="1000" dirty="0">
              <a:solidFill>
                <a:srgbClr val="003C71"/>
              </a:solidFill>
            </a:endParaRPr>
          </a:p>
        </p:txBody>
      </p:sp>
      <p:cxnSp>
        <p:nvCxnSpPr>
          <p:cNvPr id="98" name="Straight Connector 128"/>
          <p:cNvCxnSpPr/>
          <p:nvPr/>
        </p:nvCxnSpPr>
        <p:spPr>
          <a:xfrm flipV="1">
            <a:off x="3863136" y="2918813"/>
            <a:ext cx="3682171" cy="1798409"/>
          </a:xfrm>
          <a:prstGeom prst="bentConnector3">
            <a:avLst>
              <a:gd name="adj1" fmla="val 99995"/>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256296" y="1737965"/>
            <a:ext cx="1295904" cy="1289849"/>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LOGIC</a:t>
            </a:r>
          </a:p>
        </p:txBody>
      </p:sp>
      <p:cxnSp>
        <p:nvCxnSpPr>
          <p:cNvPr id="100" name="Straight Arrow Connector 99"/>
          <p:cNvCxnSpPr>
            <a:stCxn id="26" idx="3"/>
            <a:endCxn id="99" idx="1"/>
          </p:cNvCxnSpPr>
          <p:nvPr/>
        </p:nvCxnSpPr>
        <p:spPr>
          <a:xfrm>
            <a:off x="4653796" y="1337675"/>
            <a:ext cx="792281" cy="589184"/>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54" idx="3"/>
            <a:endCxn id="99" idx="3"/>
          </p:cNvCxnSpPr>
          <p:nvPr/>
        </p:nvCxnSpPr>
        <p:spPr>
          <a:xfrm flipV="1">
            <a:off x="4666422" y="2838920"/>
            <a:ext cx="779655" cy="325101"/>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99" idx="6"/>
          </p:cNvCxnSpPr>
          <p:nvPr/>
        </p:nvCxnSpPr>
        <p:spPr>
          <a:xfrm>
            <a:off x="6552200" y="2382890"/>
            <a:ext cx="775111" cy="3028"/>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191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DC390641-911A-B2D4-F2B0-658B5E43FB99}"/>
              </a:ext>
            </a:extLst>
          </p:cNvPr>
          <p:cNvSpPr/>
          <p:nvPr/>
        </p:nvSpPr>
        <p:spPr>
          <a:xfrm>
            <a:off x="478275" y="2681591"/>
            <a:ext cx="2683214" cy="917643"/>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A09B5E4-C93D-C8B1-A7FA-D4EC6D2C5C10}"/>
              </a:ext>
            </a:extLst>
          </p:cNvPr>
          <p:cNvSpPr/>
          <p:nvPr/>
        </p:nvSpPr>
        <p:spPr>
          <a:xfrm>
            <a:off x="734437" y="3750013"/>
            <a:ext cx="2436779" cy="651753"/>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EE2556C5-CE8C-6547-B838-EA80C61A4AF7}" type="slidenum">
              <a:rPr lang="en-US" smtClean="0"/>
              <a:pPr/>
              <a:t>16</a:t>
            </a:fld>
            <a:endParaRPr lang="en-US"/>
          </a:p>
        </p:txBody>
      </p:sp>
      <p:sp>
        <p:nvSpPr>
          <p:cNvPr id="5" name="Title 4"/>
          <p:cNvSpPr>
            <a:spLocks noGrp="1"/>
          </p:cNvSpPr>
          <p:nvPr>
            <p:ph type="title"/>
          </p:nvPr>
        </p:nvSpPr>
        <p:spPr/>
        <p:txBody>
          <a:bodyPr/>
          <a:lstStyle/>
          <a:p>
            <a:r>
              <a:rPr lang="en-US" dirty="0"/>
              <a:t>Asynchronous adder circuit</a:t>
            </a:r>
          </a:p>
        </p:txBody>
      </p:sp>
      <p:sp>
        <p:nvSpPr>
          <p:cNvPr id="6" name="Content Placeholder 3"/>
          <p:cNvSpPr>
            <a:spLocks noGrp="1"/>
          </p:cNvSpPr>
          <p:nvPr>
            <p:ph sz="quarter" idx="13"/>
          </p:nvPr>
        </p:nvSpPr>
        <p:spPr>
          <a:xfrm>
            <a:off x="228507" y="1153785"/>
            <a:ext cx="2841697" cy="3425825"/>
          </a:xfrm>
        </p:spPr>
        <p:txBody>
          <a:bodyPr/>
          <a:lstStyle/>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BD adder **/</a:t>
            </a:r>
          </a:p>
          <a:p>
            <a:pPr>
              <a:spcBef>
                <a:spcPts val="0"/>
              </a:spcBef>
            </a:pP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module</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lib.bd.math.add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define</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ABSTRACT_ADD(</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W, WS)(</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-A, -B;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(WS) +S)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a,b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A?a</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S!a+b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env</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digital</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subcells</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_(A);</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_(B);</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sink_bd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(WS)  _(S);</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directives</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b="1"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csp_time_inputs</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r>
              <a:rPr lang="en-US" sz="1000" dirty="0">
                <a:solidFill>
                  <a:srgbClr val="FF8000"/>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0;</a:t>
            </a:r>
            <a:r>
              <a:rPr lang="en-US" sz="1000" b="1"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csp_time_outputs</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r>
              <a:rPr lang="en-US" sz="1000" dirty="0">
                <a:solidFill>
                  <a:srgbClr val="FF8000"/>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6; </a:t>
            </a:r>
            <a:r>
              <a:rPr lang="en-US" sz="1000" b="1"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cycle_time</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r>
              <a:rPr lang="en-US" sz="1000" dirty="0">
                <a:solidFill>
                  <a:srgbClr val="FF8000"/>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10;</a:t>
            </a: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internal_slack</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r>
              <a:rPr lang="en-US" sz="1000" dirty="0">
                <a:solidFill>
                  <a:srgbClr val="FF8000"/>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1; </a:t>
            </a:r>
            <a:r>
              <a:rPr lang="en-US" sz="1000">
                <a:solidFill>
                  <a:schemeClr val="tx1"/>
                </a:solidFill>
                <a:latin typeface="Consolas" panose="020B0609020204030204" pitchFamily="49" charset="0"/>
                <a:ea typeface="Verdana" panose="020B0604030504040204" pitchFamily="34" charset="0"/>
                <a:cs typeface="Consolas" panose="020B0609020204030204" pitchFamily="49" charset="0"/>
              </a:rPr>
              <a:t>//Retiming</a:t>
            </a: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endParaRPr lang="en-US" sz="1000" dirty="0">
              <a:latin typeface="Consolas" panose="020B0609020204030204" pitchFamily="49" charset="0"/>
              <a:ea typeface="Verdana" panose="020B0604030504040204" pitchFamily="34" charset="0"/>
              <a:cs typeface="Consolas" panose="020B0609020204030204" pitchFamily="49" charset="0"/>
            </a:endParaRPr>
          </a:p>
        </p:txBody>
      </p:sp>
      <p:grpSp>
        <p:nvGrpSpPr>
          <p:cNvPr id="3" name="Group 2">
            <a:extLst>
              <a:ext uri="{FF2B5EF4-FFF2-40B4-BE49-F238E27FC236}">
                <a16:creationId xmlns:a16="http://schemas.microsoft.com/office/drawing/2014/main" id="{BAB4988C-1E9B-0DF9-F7E7-4FEB06C834D3}"/>
              </a:ext>
            </a:extLst>
          </p:cNvPr>
          <p:cNvGrpSpPr/>
          <p:nvPr/>
        </p:nvGrpSpPr>
        <p:grpSpPr>
          <a:xfrm>
            <a:off x="3336587" y="1065927"/>
            <a:ext cx="5797972" cy="3340703"/>
            <a:chOff x="3145801" y="1065927"/>
            <a:chExt cx="5988758" cy="3350346"/>
          </a:xfrm>
        </p:grpSpPr>
        <p:grpSp>
          <p:nvGrpSpPr>
            <p:cNvPr id="7" name="Group 6"/>
            <p:cNvGrpSpPr/>
            <p:nvPr/>
          </p:nvGrpSpPr>
          <p:grpSpPr>
            <a:xfrm>
              <a:off x="3145801" y="1065927"/>
              <a:ext cx="1766147" cy="1524000"/>
              <a:chOff x="194733" y="975846"/>
              <a:chExt cx="1766147" cy="1524000"/>
            </a:xfrm>
          </p:grpSpPr>
          <p:grpSp>
            <p:nvGrpSpPr>
              <p:cNvPr id="8" name="Group 7"/>
              <p:cNvGrpSpPr/>
              <p:nvPr/>
            </p:nvGrpSpPr>
            <p:grpSpPr>
              <a:xfrm>
                <a:off x="1249680" y="975846"/>
                <a:ext cx="711200" cy="1524000"/>
                <a:chOff x="1249680" y="995680"/>
                <a:chExt cx="711200" cy="1524000"/>
              </a:xfrm>
            </p:grpSpPr>
            <p:sp>
              <p:nvSpPr>
                <p:cNvPr id="16" name="Rounded Rectangle 15"/>
                <p:cNvSpPr/>
                <p:nvPr/>
              </p:nvSpPr>
              <p:spPr>
                <a:xfrm>
                  <a:off x="1249680" y="995680"/>
                  <a:ext cx="711200" cy="1524000"/>
                </a:xfrm>
                <a:prstGeom prst="round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ounded Rectangle 16"/>
                <p:cNvSpPr/>
                <p:nvPr/>
              </p:nvSpPr>
              <p:spPr>
                <a:xfrm>
                  <a:off x="1349477" y="2135869"/>
                  <a:ext cx="523568" cy="260743"/>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a:t>CTRL</a:t>
                  </a:r>
                </a:p>
              </p:txBody>
            </p:sp>
            <p:grpSp>
              <p:nvGrpSpPr>
                <p:cNvPr id="18" name="Group 17"/>
                <p:cNvGrpSpPr/>
                <p:nvPr/>
              </p:nvGrpSpPr>
              <p:grpSpPr>
                <a:xfrm>
                  <a:off x="1424902" y="1255566"/>
                  <a:ext cx="186359" cy="484533"/>
                  <a:chOff x="5950226" y="1470990"/>
                  <a:chExt cx="556591" cy="1086679"/>
                </a:xfrm>
                <a:solidFill>
                  <a:schemeClr val="accent5">
                    <a:lumMod val="40000"/>
                    <a:lumOff val="60000"/>
                  </a:schemeClr>
                </a:solidFill>
              </p:grpSpPr>
              <p:sp>
                <p:nvSpPr>
                  <p:cNvPr id="35" name="Rectangle 34"/>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36" name="Group 35"/>
                  <p:cNvGrpSpPr/>
                  <p:nvPr/>
                </p:nvGrpSpPr>
                <p:grpSpPr>
                  <a:xfrm>
                    <a:off x="6042990" y="2226364"/>
                    <a:ext cx="371061" cy="331305"/>
                    <a:chOff x="2358887" y="2385391"/>
                    <a:chExt cx="437322" cy="503583"/>
                  </a:xfrm>
                  <a:grpFill/>
                </p:grpSpPr>
                <p:cxnSp>
                  <p:nvCxnSpPr>
                    <p:cNvPr id="37" name="Straight Connector 36"/>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9" name="Group 18"/>
                <p:cNvGrpSpPr/>
                <p:nvPr/>
              </p:nvGrpSpPr>
              <p:grpSpPr>
                <a:xfrm>
                  <a:off x="1518081" y="1155478"/>
                  <a:ext cx="186359" cy="484533"/>
                  <a:chOff x="5950226" y="1470990"/>
                  <a:chExt cx="556591" cy="1086679"/>
                </a:xfrm>
                <a:solidFill>
                  <a:schemeClr val="accent5">
                    <a:lumMod val="40000"/>
                    <a:lumOff val="60000"/>
                  </a:schemeClr>
                </a:solidFill>
              </p:grpSpPr>
              <p:sp>
                <p:nvSpPr>
                  <p:cNvPr id="31" name="Rectangle 30"/>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32" name="Group 31"/>
                  <p:cNvGrpSpPr/>
                  <p:nvPr/>
                </p:nvGrpSpPr>
                <p:grpSpPr>
                  <a:xfrm>
                    <a:off x="6042990" y="2226364"/>
                    <a:ext cx="371061" cy="331305"/>
                    <a:chOff x="2358887" y="2385391"/>
                    <a:chExt cx="437322" cy="503583"/>
                  </a:xfrm>
                  <a:grpFill/>
                </p:grpSpPr>
                <p:cxnSp>
                  <p:nvCxnSpPr>
                    <p:cNvPr id="33" name="Straight Connector 32"/>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 name="Group 19"/>
                <p:cNvGrpSpPr/>
                <p:nvPr/>
              </p:nvGrpSpPr>
              <p:grpSpPr>
                <a:xfrm>
                  <a:off x="1606596" y="1031217"/>
                  <a:ext cx="186359" cy="484533"/>
                  <a:chOff x="5950226" y="1470990"/>
                  <a:chExt cx="556591" cy="1086679"/>
                </a:xfrm>
                <a:solidFill>
                  <a:schemeClr val="accent5">
                    <a:lumMod val="40000"/>
                    <a:lumOff val="60000"/>
                  </a:schemeClr>
                </a:solidFill>
              </p:grpSpPr>
              <p:sp>
                <p:nvSpPr>
                  <p:cNvPr id="27" name="Rectangle 26"/>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28" name="Group 27"/>
                  <p:cNvGrpSpPr/>
                  <p:nvPr/>
                </p:nvGrpSpPr>
                <p:grpSpPr>
                  <a:xfrm>
                    <a:off x="6042990" y="2226364"/>
                    <a:ext cx="371061" cy="331305"/>
                    <a:chOff x="2358887" y="2385391"/>
                    <a:chExt cx="437322" cy="503583"/>
                  </a:xfrm>
                  <a:grpFill/>
                </p:grpSpPr>
                <p:cxnSp>
                  <p:nvCxnSpPr>
                    <p:cNvPr id="29" name="Straight Connector 28"/>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1" name="Straight Connector 20"/>
                <p:cNvCxnSpPr>
                  <a:stCxn id="35" idx="2"/>
                </p:cNvCxnSpPr>
                <p:nvPr/>
              </p:nvCxnSpPr>
              <p:spPr>
                <a:xfrm>
                  <a:off x="1518082" y="1740099"/>
                  <a:ext cx="2783" cy="11752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27" idx="2"/>
                </p:cNvCxnSpPr>
                <p:nvPr/>
              </p:nvCxnSpPr>
              <p:spPr>
                <a:xfrm>
                  <a:off x="1699776" y="1515750"/>
                  <a:ext cx="1880" cy="34861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31" idx="2"/>
                </p:cNvCxnSpPr>
                <p:nvPr/>
              </p:nvCxnSpPr>
              <p:spPr>
                <a:xfrm>
                  <a:off x="1611261" y="1640011"/>
                  <a:ext cx="1880" cy="22434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1518081" y="1857622"/>
                  <a:ext cx="18169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a:endCxn id="17" idx="0"/>
                </p:cNvCxnSpPr>
                <p:nvPr/>
              </p:nvCxnSpPr>
              <p:spPr>
                <a:xfrm flipH="1">
                  <a:off x="1611261" y="1850885"/>
                  <a:ext cx="1880" cy="28498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637655" y="1880821"/>
                  <a:ext cx="261105" cy="138499"/>
                </a:xfrm>
                <a:prstGeom prst="rect">
                  <a:avLst/>
                </a:prstGeom>
                <a:noFill/>
              </p:spPr>
              <p:txBody>
                <a:bodyPr vert="horz" wrap="square" lIns="0" tIns="0" rIns="0" bIns="0" rtlCol="0">
                  <a:spAutoFit/>
                </a:bodyPr>
                <a:lstStyle/>
                <a:p>
                  <a:r>
                    <a:rPr lang="en-US" sz="900" dirty="0"/>
                    <a:t>CLK</a:t>
                  </a:r>
                </a:p>
              </p:txBody>
            </p:sp>
          </p:grpSp>
          <p:sp>
            <p:nvSpPr>
              <p:cNvPr id="10" name="Right Arrow 9"/>
              <p:cNvSpPr/>
              <p:nvPr/>
            </p:nvSpPr>
            <p:spPr>
              <a:xfrm>
                <a:off x="679937" y="1576791"/>
                <a:ext cx="573682" cy="260015"/>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a:off x="679938" y="2188308"/>
                <a:ext cx="669539" cy="0"/>
              </a:xfrm>
              <a:prstGeom prst="straightConnector1">
                <a:avLst/>
              </a:prstGeom>
              <a:ln>
                <a:solidFill>
                  <a:srgbClr val="7030A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679937" y="2313432"/>
                <a:ext cx="669539" cy="0"/>
              </a:xfrm>
              <a:prstGeom prst="straightConnector1">
                <a:avLst/>
              </a:prstGeom>
              <a:ln>
                <a:solidFill>
                  <a:srgbClr val="7030A0"/>
                </a:solidFill>
                <a:prstDash val="sysDot"/>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4733" y="1620177"/>
                <a:ext cx="454143" cy="153888"/>
              </a:xfrm>
              <a:prstGeom prst="rect">
                <a:avLst/>
              </a:prstGeom>
              <a:noFill/>
            </p:spPr>
            <p:txBody>
              <a:bodyPr vert="horz" wrap="square" lIns="0" tIns="0" rIns="0" bIns="0" rtlCol="0">
                <a:spAutoFit/>
              </a:bodyPr>
              <a:lstStyle/>
              <a:p>
                <a:r>
                  <a:rPr lang="en-US" sz="1000" dirty="0">
                    <a:solidFill>
                      <a:srgbClr val="003C71"/>
                    </a:solidFill>
                  </a:rPr>
                  <a:t>A[16:0]</a:t>
                </a:r>
              </a:p>
            </p:txBody>
          </p:sp>
          <p:sp>
            <p:nvSpPr>
              <p:cNvPr id="14" name="TextBox 13"/>
              <p:cNvSpPr txBox="1"/>
              <p:nvPr/>
            </p:nvSpPr>
            <p:spPr>
              <a:xfrm>
                <a:off x="328281" y="2103692"/>
                <a:ext cx="454143" cy="153888"/>
              </a:xfrm>
              <a:prstGeom prst="rect">
                <a:avLst/>
              </a:prstGeom>
              <a:noFill/>
            </p:spPr>
            <p:txBody>
              <a:bodyPr vert="horz" wrap="square" lIns="0" tIns="0" rIns="0" bIns="0" rtlCol="0">
                <a:spAutoFit/>
              </a:bodyPr>
              <a:lstStyle/>
              <a:p>
                <a:r>
                  <a:rPr lang="en-US" sz="1000" dirty="0" err="1">
                    <a:solidFill>
                      <a:srgbClr val="7030A0"/>
                    </a:solidFill>
                  </a:rPr>
                  <a:t>Areq</a:t>
                </a:r>
                <a:endParaRPr lang="en-US" sz="1000" dirty="0">
                  <a:solidFill>
                    <a:srgbClr val="7030A0"/>
                  </a:solidFill>
                </a:endParaRPr>
              </a:p>
            </p:txBody>
          </p:sp>
          <p:sp>
            <p:nvSpPr>
              <p:cNvPr id="15" name="TextBox 14"/>
              <p:cNvSpPr txBox="1"/>
              <p:nvPr/>
            </p:nvSpPr>
            <p:spPr>
              <a:xfrm>
                <a:off x="328281" y="2243198"/>
                <a:ext cx="454143" cy="153888"/>
              </a:xfrm>
              <a:prstGeom prst="rect">
                <a:avLst/>
              </a:prstGeom>
              <a:noFill/>
            </p:spPr>
            <p:txBody>
              <a:bodyPr vert="horz" wrap="square" lIns="0" tIns="0" rIns="0" bIns="0" rtlCol="0">
                <a:spAutoFit/>
              </a:bodyPr>
              <a:lstStyle/>
              <a:p>
                <a:r>
                  <a:rPr lang="en-US" sz="1000" dirty="0" err="1">
                    <a:solidFill>
                      <a:srgbClr val="7030A0"/>
                    </a:solidFill>
                  </a:rPr>
                  <a:t>Aack</a:t>
                </a:r>
                <a:endParaRPr lang="en-US" sz="1000" dirty="0">
                  <a:solidFill>
                    <a:srgbClr val="7030A0"/>
                  </a:solidFill>
                </a:endParaRPr>
              </a:p>
            </p:txBody>
          </p:sp>
        </p:grpSp>
        <p:grpSp>
          <p:nvGrpSpPr>
            <p:cNvPr id="39" name="Group 38"/>
            <p:cNvGrpSpPr/>
            <p:nvPr/>
          </p:nvGrpSpPr>
          <p:grpSpPr>
            <a:xfrm>
              <a:off x="3158427" y="2892273"/>
              <a:ext cx="1766147" cy="1524000"/>
              <a:chOff x="194733" y="975846"/>
              <a:chExt cx="1766147" cy="1524000"/>
            </a:xfrm>
          </p:grpSpPr>
          <p:grpSp>
            <p:nvGrpSpPr>
              <p:cNvPr id="40" name="Group 39"/>
              <p:cNvGrpSpPr/>
              <p:nvPr/>
            </p:nvGrpSpPr>
            <p:grpSpPr>
              <a:xfrm>
                <a:off x="1249680" y="975846"/>
                <a:ext cx="711200" cy="1524000"/>
                <a:chOff x="1249680" y="995680"/>
                <a:chExt cx="711200" cy="1524000"/>
              </a:xfrm>
            </p:grpSpPr>
            <p:sp>
              <p:nvSpPr>
                <p:cNvPr id="48" name="Rounded Rectangle 47"/>
                <p:cNvSpPr/>
                <p:nvPr/>
              </p:nvSpPr>
              <p:spPr>
                <a:xfrm>
                  <a:off x="1249680" y="995680"/>
                  <a:ext cx="711200" cy="1524000"/>
                </a:xfrm>
                <a:prstGeom prst="round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ounded Rectangle 48"/>
                <p:cNvSpPr/>
                <p:nvPr/>
              </p:nvSpPr>
              <p:spPr>
                <a:xfrm>
                  <a:off x="1349477" y="2135869"/>
                  <a:ext cx="523568" cy="260743"/>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a:t>CTRL</a:t>
                  </a:r>
                </a:p>
              </p:txBody>
            </p:sp>
            <p:grpSp>
              <p:nvGrpSpPr>
                <p:cNvPr id="50" name="Group 49"/>
                <p:cNvGrpSpPr/>
                <p:nvPr/>
              </p:nvGrpSpPr>
              <p:grpSpPr>
                <a:xfrm>
                  <a:off x="1424902" y="1255566"/>
                  <a:ext cx="186359" cy="484533"/>
                  <a:chOff x="5950226" y="1470990"/>
                  <a:chExt cx="556591" cy="1086679"/>
                </a:xfrm>
                <a:solidFill>
                  <a:schemeClr val="accent5">
                    <a:lumMod val="40000"/>
                    <a:lumOff val="60000"/>
                  </a:schemeClr>
                </a:solidFill>
              </p:grpSpPr>
              <p:sp>
                <p:nvSpPr>
                  <p:cNvPr id="67" name="Rectangle 66"/>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68" name="Group 67"/>
                  <p:cNvGrpSpPr/>
                  <p:nvPr/>
                </p:nvGrpSpPr>
                <p:grpSpPr>
                  <a:xfrm>
                    <a:off x="6042990" y="2226364"/>
                    <a:ext cx="371061" cy="331305"/>
                    <a:chOff x="2358887" y="2385391"/>
                    <a:chExt cx="437322" cy="503583"/>
                  </a:xfrm>
                  <a:grpFill/>
                </p:grpSpPr>
                <p:cxnSp>
                  <p:nvCxnSpPr>
                    <p:cNvPr id="69" name="Straight Connector 68"/>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1" name="Group 50"/>
                <p:cNvGrpSpPr/>
                <p:nvPr/>
              </p:nvGrpSpPr>
              <p:grpSpPr>
                <a:xfrm>
                  <a:off x="1518081" y="1155478"/>
                  <a:ext cx="186359" cy="484533"/>
                  <a:chOff x="5950226" y="1470990"/>
                  <a:chExt cx="556591" cy="1086679"/>
                </a:xfrm>
                <a:solidFill>
                  <a:schemeClr val="accent5">
                    <a:lumMod val="40000"/>
                    <a:lumOff val="60000"/>
                  </a:schemeClr>
                </a:solidFill>
              </p:grpSpPr>
              <p:sp>
                <p:nvSpPr>
                  <p:cNvPr id="63" name="Rectangle 62"/>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64" name="Group 63"/>
                  <p:cNvGrpSpPr/>
                  <p:nvPr/>
                </p:nvGrpSpPr>
                <p:grpSpPr>
                  <a:xfrm>
                    <a:off x="6042990" y="2226364"/>
                    <a:ext cx="371061" cy="331305"/>
                    <a:chOff x="2358887" y="2385391"/>
                    <a:chExt cx="437322" cy="503583"/>
                  </a:xfrm>
                  <a:grpFill/>
                </p:grpSpPr>
                <p:cxnSp>
                  <p:nvCxnSpPr>
                    <p:cNvPr id="65" name="Straight Connector 64"/>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2" name="Group 51"/>
                <p:cNvGrpSpPr/>
                <p:nvPr/>
              </p:nvGrpSpPr>
              <p:grpSpPr>
                <a:xfrm>
                  <a:off x="1606596" y="1031217"/>
                  <a:ext cx="186359" cy="484533"/>
                  <a:chOff x="5950226" y="1470990"/>
                  <a:chExt cx="556591" cy="1086679"/>
                </a:xfrm>
                <a:solidFill>
                  <a:schemeClr val="accent5">
                    <a:lumMod val="40000"/>
                    <a:lumOff val="60000"/>
                  </a:schemeClr>
                </a:solidFill>
              </p:grpSpPr>
              <p:sp>
                <p:nvSpPr>
                  <p:cNvPr id="59" name="Rectangle 58"/>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60" name="Group 59"/>
                  <p:cNvGrpSpPr/>
                  <p:nvPr/>
                </p:nvGrpSpPr>
                <p:grpSpPr>
                  <a:xfrm>
                    <a:off x="6042990" y="2226364"/>
                    <a:ext cx="371061" cy="331305"/>
                    <a:chOff x="2358887" y="2385391"/>
                    <a:chExt cx="437322" cy="503583"/>
                  </a:xfrm>
                  <a:grpFill/>
                </p:grpSpPr>
                <p:cxnSp>
                  <p:nvCxnSpPr>
                    <p:cNvPr id="61" name="Straight Connector 60"/>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3" name="Straight Connector 52"/>
                <p:cNvCxnSpPr>
                  <a:stCxn id="67" idx="2"/>
                </p:cNvCxnSpPr>
                <p:nvPr/>
              </p:nvCxnSpPr>
              <p:spPr>
                <a:xfrm>
                  <a:off x="1518082" y="1740099"/>
                  <a:ext cx="2783" cy="11752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59" idx="2"/>
                </p:cNvCxnSpPr>
                <p:nvPr/>
              </p:nvCxnSpPr>
              <p:spPr>
                <a:xfrm>
                  <a:off x="1699776" y="1515750"/>
                  <a:ext cx="1880" cy="34861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63" idx="2"/>
                </p:cNvCxnSpPr>
                <p:nvPr/>
              </p:nvCxnSpPr>
              <p:spPr>
                <a:xfrm>
                  <a:off x="1611261" y="1640011"/>
                  <a:ext cx="1880" cy="22434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a:off x="1518081" y="1857622"/>
                  <a:ext cx="18169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 name="Straight Connector 56"/>
                <p:cNvCxnSpPr>
                  <a:endCxn id="49" idx="0"/>
                </p:cNvCxnSpPr>
                <p:nvPr/>
              </p:nvCxnSpPr>
              <p:spPr>
                <a:xfrm flipH="1">
                  <a:off x="1611261" y="1850885"/>
                  <a:ext cx="1880" cy="28498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637655" y="1880821"/>
                  <a:ext cx="261105" cy="138499"/>
                </a:xfrm>
                <a:prstGeom prst="rect">
                  <a:avLst/>
                </a:prstGeom>
                <a:noFill/>
              </p:spPr>
              <p:txBody>
                <a:bodyPr vert="horz" wrap="square" lIns="0" tIns="0" rIns="0" bIns="0" rtlCol="0">
                  <a:spAutoFit/>
                </a:bodyPr>
                <a:lstStyle/>
                <a:p>
                  <a:r>
                    <a:rPr lang="en-US" sz="900" dirty="0"/>
                    <a:t>CLK</a:t>
                  </a:r>
                </a:p>
              </p:txBody>
            </p:sp>
          </p:grpSp>
          <p:sp>
            <p:nvSpPr>
              <p:cNvPr id="42" name="Right Arrow 41"/>
              <p:cNvSpPr/>
              <p:nvPr/>
            </p:nvSpPr>
            <p:spPr>
              <a:xfrm>
                <a:off x="679937" y="1576791"/>
                <a:ext cx="573682" cy="260015"/>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3" name="Straight Arrow Connector 42"/>
              <p:cNvCxnSpPr/>
              <p:nvPr/>
            </p:nvCxnSpPr>
            <p:spPr>
              <a:xfrm>
                <a:off x="679938" y="2188308"/>
                <a:ext cx="669539" cy="0"/>
              </a:xfrm>
              <a:prstGeom prst="straightConnector1">
                <a:avLst/>
              </a:prstGeom>
              <a:ln>
                <a:solidFill>
                  <a:srgbClr val="7030A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679937" y="2313432"/>
                <a:ext cx="669539" cy="0"/>
              </a:xfrm>
              <a:prstGeom prst="straightConnector1">
                <a:avLst/>
              </a:prstGeom>
              <a:ln>
                <a:solidFill>
                  <a:srgbClr val="7030A0"/>
                </a:solidFill>
                <a:prstDash val="sysDot"/>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4733" y="1620177"/>
                <a:ext cx="454143" cy="153888"/>
              </a:xfrm>
              <a:prstGeom prst="rect">
                <a:avLst/>
              </a:prstGeom>
              <a:noFill/>
            </p:spPr>
            <p:txBody>
              <a:bodyPr vert="horz" wrap="square" lIns="0" tIns="0" rIns="0" bIns="0" rtlCol="0">
                <a:spAutoFit/>
              </a:bodyPr>
              <a:lstStyle/>
              <a:p>
                <a:r>
                  <a:rPr lang="en-US" sz="1000" dirty="0">
                    <a:solidFill>
                      <a:srgbClr val="003C71"/>
                    </a:solidFill>
                  </a:rPr>
                  <a:t>B[16:0]</a:t>
                </a:r>
              </a:p>
            </p:txBody>
          </p:sp>
          <p:sp>
            <p:nvSpPr>
              <p:cNvPr id="46" name="TextBox 45"/>
              <p:cNvSpPr txBox="1"/>
              <p:nvPr/>
            </p:nvSpPr>
            <p:spPr>
              <a:xfrm>
                <a:off x="328281" y="2103692"/>
                <a:ext cx="454143" cy="153888"/>
              </a:xfrm>
              <a:prstGeom prst="rect">
                <a:avLst/>
              </a:prstGeom>
              <a:noFill/>
            </p:spPr>
            <p:txBody>
              <a:bodyPr vert="horz" wrap="square" lIns="0" tIns="0" rIns="0" bIns="0" rtlCol="0">
                <a:spAutoFit/>
              </a:bodyPr>
              <a:lstStyle/>
              <a:p>
                <a:r>
                  <a:rPr lang="en-US" sz="1000" dirty="0" err="1">
                    <a:solidFill>
                      <a:srgbClr val="7030A0"/>
                    </a:solidFill>
                  </a:rPr>
                  <a:t>Breq</a:t>
                </a:r>
                <a:endParaRPr lang="en-US" sz="1000" dirty="0">
                  <a:solidFill>
                    <a:srgbClr val="7030A0"/>
                  </a:solidFill>
                </a:endParaRPr>
              </a:p>
            </p:txBody>
          </p:sp>
          <p:sp>
            <p:nvSpPr>
              <p:cNvPr id="47" name="TextBox 46"/>
              <p:cNvSpPr txBox="1"/>
              <p:nvPr/>
            </p:nvSpPr>
            <p:spPr>
              <a:xfrm>
                <a:off x="328281" y="2243198"/>
                <a:ext cx="454143" cy="153888"/>
              </a:xfrm>
              <a:prstGeom prst="rect">
                <a:avLst/>
              </a:prstGeom>
              <a:noFill/>
            </p:spPr>
            <p:txBody>
              <a:bodyPr vert="horz" wrap="square" lIns="0" tIns="0" rIns="0" bIns="0" rtlCol="0">
                <a:spAutoFit/>
              </a:bodyPr>
              <a:lstStyle/>
              <a:p>
                <a:r>
                  <a:rPr lang="en-US" sz="1000" dirty="0">
                    <a:solidFill>
                      <a:srgbClr val="7030A0"/>
                    </a:solidFill>
                  </a:rPr>
                  <a:t>Back</a:t>
                </a:r>
              </a:p>
            </p:txBody>
          </p:sp>
        </p:grpSp>
        <p:sp>
          <p:nvSpPr>
            <p:cNvPr id="74" name="TextBox 73"/>
            <p:cNvSpPr txBox="1"/>
            <p:nvPr/>
          </p:nvSpPr>
          <p:spPr>
            <a:xfrm>
              <a:off x="5250327" y="1475879"/>
              <a:ext cx="483109" cy="153888"/>
            </a:xfrm>
            <a:prstGeom prst="rect">
              <a:avLst/>
            </a:prstGeom>
            <a:noFill/>
          </p:spPr>
          <p:txBody>
            <a:bodyPr vert="horz" wrap="square" lIns="0" tIns="0" rIns="0" bIns="0" rtlCol="0">
              <a:spAutoFit/>
            </a:bodyPr>
            <a:lstStyle/>
            <a:p>
              <a:r>
                <a:rPr lang="en-US" sz="1000" dirty="0" err="1">
                  <a:solidFill>
                    <a:srgbClr val="003C71"/>
                  </a:solidFill>
                </a:rPr>
                <a:t>valueA</a:t>
              </a:r>
              <a:endParaRPr lang="en-US" sz="1000" dirty="0">
                <a:solidFill>
                  <a:srgbClr val="003C71"/>
                </a:solidFill>
              </a:endParaRPr>
            </a:p>
          </p:txBody>
        </p:sp>
        <p:sp>
          <p:nvSpPr>
            <p:cNvPr id="75" name="TextBox 74"/>
            <p:cNvSpPr txBox="1"/>
            <p:nvPr/>
          </p:nvSpPr>
          <p:spPr>
            <a:xfrm>
              <a:off x="5253584" y="2934333"/>
              <a:ext cx="483109" cy="153888"/>
            </a:xfrm>
            <a:prstGeom prst="rect">
              <a:avLst/>
            </a:prstGeom>
            <a:noFill/>
          </p:spPr>
          <p:txBody>
            <a:bodyPr vert="horz" wrap="square" lIns="0" tIns="0" rIns="0" bIns="0" rtlCol="0">
              <a:spAutoFit/>
            </a:bodyPr>
            <a:lstStyle/>
            <a:p>
              <a:r>
                <a:rPr lang="en-US" sz="1000" dirty="0" err="1">
                  <a:solidFill>
                    <a:srgbClr val="003C71"/>
                  </a:solidFill>
                </a:rPr>
                <a:t>valueB</a:t>
              </a:r>
              <a:endParaRPr lang="en-US" sz="1000" dirty="0">
                <a:solidFill>
                  <a:srgbClr val="003C71"/>
                </a:solidFill>
              </a:endParaRPr>
            </a:p>
          </p:txBody>
        </p:sp>
        <p:grpSp>
          <p:nvGrpSpPr>
            <p:cNvPr id="77" name="Group 76"/>
            <p:cNvGrpSpPr/>
            <p:nvPr/>
          </p:nvGrpSpPr>
          <p:grpSpPr>
            <a:xfrm>
              <a:off x="7322355" y="1843447"/>
              <a:ext cx="1812204" cy="1524000"/>
              <a:chOff x="6729524" y="2097782"/>
              <a:chExt cx="1812204" cy="1524000"/>
            </a:xfrm>
          </p:grpSpPr>
          <p:grpSp>
            <p:nvGrpSpPr>
              <p:cNvPr id="78" name="Group 77"/>
              <p:cNvGrpSpPr/>
              <p:nvPr/>
            </p:nvGrpSpPr>
            <p:grpSpPr>
              <a:xfrm>
                <a:off x="6729524" y="2097782"/>
                <a:ext cx="711200" cy="1524000"/>
                <a:chOff x="1249680" y="995680"/>
                <a:chExt cx="711200" cy="1524000"/>
              </a:xfrm>
            </p:grpSpPr>
            <p:sp>
              <p:nvSpPr>
                <p:cNvPr id="86" name="Rounded Rectangle 85"/>
                <p:cNvSpPr/>
                <p:nvPr/>
              </p:nvSpPr>
              <p:spPr>
                <a:xfrm>
                  <a:off x="1249680" y="995680"/>
                  <a:ext cx="711200" cy="1524000"/>
                </a:xfrm>
                <a:prstGeom prst="round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8" name="Group 87"/>
                <p:cNvGrpSpPr/>
                <p:nvPr/>
              </p:nvGrpSpPr>
              <p:grpSpPr>
                <a:xfrm>
                  <a:off x="1424902" y="1255566"/>
                  <a:ext cx="186359" cy="484533"/>
                  <a:chOff x="5950226" y="1470990"/>
                  <a:chExt cx="556591" cy="1086679"/>
                </a:xfrm>
                <a:solidFill>
                  <a:schemeClr val="accent5">
                    <a:lumMod val="40000"/>
                    <a:lumOff val="60000"/>
                  </a:schemeClr>
                </a:solidFill>
              </p:grpSpPr>
              <p:sp>
                <p:nvSpPr>
                  <p:cNvPr id="105" name="Rectangle 104"/>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106" name="Group 105"/>
                  <p:cNvGrpSpPr/>
                  <p:nvPr/>
                </p:nvGrpSpPr>
                <p:grpSpPr>
                  <a:xfrm>
                    <a:off x="6042990" y="2226364"/>
                    <a:ext cx="371061" cy="331305"/>
                    <a:chOff x="2358887" y="2385391"/>
                    <a:chExt cx="437322" cy="503583"/>
                  </a:xfrm>
                  <a:grpFill/>
                </p:grpSpPr>
                <p:cxnSp>
                  <p:nvCxnSpPr>
                    <p:cNvPr id="107" name="Straight Connector 106"/>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9" name="Group 88"/>
                <p:cNvGrpSpPr/>
                <p:nvPr/>
              </p:nvGrpSpPr>
              <p:grpSpPr>
                <a:xfrm>
                  <a:off x="1518081" y="1155478"/>
                  <a:ext cx="186359" cy="484533"/>
                  <a:chOff x="5950226" y="1470990"/>
                  <a:chExt cx="556591" cy="1086679"/>
                </a:xfrm>
                <a:solidFill>
                  <a:schemeClr val="accent5">
                    <a:lumMod val="40000"/>
                    <a:lumOff val="60000"/>
                  </a:schemeClr>
                </a:solidFill>
              </p:grpSpPr>
              <p:sp>
                <p:nvSpPr>
                  <p:cNvPr id="101" name="Rectangle 100"/>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102" name="Group 101"/>
                  <p:cNvGrpSpPr/>
                  <p:nvPr/>
                </p:nvGrpSpPr>
                <p:grpSpPr>
                  <a:xfrm>
                    <a:off x="6042990" y="2226364"/>
                    <a:ext cx="371061" cy="331305"/>
                    <a:chOff x="2358887" y="2385391"/>
                    <a:chExt cx="437322" cy="503583"/>
                  </a:xfrm>
                  <a:grpFill/>
                </p:grpSpPr>
                <p:cxnSp>
                  <p:nvCxnSpPr>
                    <p:cNvPr id="103" name="Straight Connector 102"/>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0" name="Group 89"/>
                <p:cNvGrpSpPr/>
                <p:nvPr/>
              </p:nvGrpSpPr>
              <p:grpSpPr>
                <a:xfrm>
                  <a:off x="1606596" y="1031217"/>
                  <a:ext cx="186359" cy="484533"/>
                  <a:chOff x="5950226" y="1470990"/>
                  <a:chExt cx="556591" cy="1086679"/>
                </a:xfrm>
                <a:solidFill>
                  <a:schemeClr val="accent5">
                    <a:lumMod val="40000"/>
                    <a:lumOff val="60000"/>
                  </a:schemeClr>
                </a:solidFill>
              </p:grpSpPr>
              <p:sp>
                <p:nvSpPr>
                  <p:cNvPr id="97" name="Rectangle 96"/>
                  <p:cNvSpPr/>
                  <p:nvPr/>
                </p:nvSpPr>
                <p:spPr>
                  <a:xfrm>
                    <a:off x="5950226" y="1470990"/>
                    <a:ext cx="556591" cy="10866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98" name="Group 97"/>
                  <p:cNvGrpSpPr/>
                  <p:nvPr/>
                </p:nvGrpSpPr>
                <p:grpSpPr>
                  <a:xfrm>
                    <a:off x="6042990" y="2226364"/>
                    <a:ext cx="371061" cy="331305"/>
                    <a:chOff x="2358887" y="2385391"/>
                    <a:chExt cx="437322" cy="503583"/>
                  </a:xfrm>
                  <a:grpFill/>
                </p:grpSpPr>
                <p:cxnSp>
                  <p:nvCxnSpPr>
                    <p:cNvPr id="99" name="Straight Connector 98"/>
                    <p:cNvCxnSpPr/>
                    <p:nvPr/>
                  </p:nvCxnSpPr>
                  <p:spPr>
                    <a:xfrm flipV="1">
                      <a:off x="2358887" y="2385391"/>
                      <a:ext cx="225287"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2584174" y="2385391"/>
                      <a:ext cx="212035" cy="50358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91" name="Straight Connector 90"/>
                <p:cNvCxnSpPr>
                  <a:stCxn id="105" idx="2"/>
                </p:cNvCxnSpPr>
                <p:nvPr/>
              </p:nvCxnSpPr>
              <p:spPr>
                <a:xfrm>
                  <a:off x="1518082" y="1740099"/>
                  <a:ext cx="2783" cy="11752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2" name="Straight Connector 91"/>
                <p:cNvCxnSpPr>
                  <a:stCxn id="97" idx="2"/>
                </p:cNvCxnSpPr>
                <p:nvPr/>
              </p:nvCxnSpPr>
              <p:spPr>
                <a:xfrm>
                  <a:off x="1699776" y="1515750"/>
                  <a:ext cx="1880" cy="34861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3" name="Straight Connector 92"/>
                <p:cNvCxnSpPr>
                  <a:stCxn id="101" idx="2"/>
                </p:cNvCxnSpPr>
                <p:nvPr/>
              </p:nvCxnSpPr>
              <p:spPr>
                <a:xfrm>
                  <a:off x="1611261" y="1640011"/>
                  <a:ext cx="1880" cy="22434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4" name="Straight Connector 93"/>
                <p:cNvCxnSpPr/>
                <p:nvPr/>
              </p:nvCxnSpPr>
              <p:spPr>
                <a:xfrm>
                  <a:off x="1518081" y="1857622"/>
                  <a:ext cx="181694"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flipH="1">
                  <a:off x="1611261" y="1850885"/>
                  <a:ext cx="1880" cy="28498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1637655" y="1880821"/>
                  <a:ext cx="261105" cy="138499"/>
                </a:xfrm>
                <a:prstGeom prst="rect">
                  <a:avLst/>
                </a:prstGeom>
                <a:noFill/>
              </p:spPr>
              <p:txBody>
                <a:bodyPr vert="horz" wrap="square" lIns="0" tIns="0" rIns="0" bIns="0" rtlCol="0">
                  <a:spAutoFit/>
                </a:bodyPr>
                <a:lstStyle/>
                <a:p>
                  <a:r>
                    <a:rPr lang="en-US" sz="900" dirty="0"/>
                    <a:t>CLK</a:t>
                  </a:r>
                </a:p>
              </p:txBody>
            </p:sp>
          </p:grpSp>
          <p:cxnSp>
            <p:nvCxnSpPr>
              <p:cNvPr id="80" name="Straight Arrow Connector 79"/>
              <p:cNvCxnSpPr/>
              <p:nvPr/>
            </p:nvCxnSpPr>
            <p:spPr>
              <a:xfrm>
                <a:off x="7352889" y="3299375"/>
                <a:ext cx="669539" cy="0"/>
              </a:xfrm>
              <a:prstGeom prst="straightConnector1">
                <a:avLst/>
              </a:prstGeom>
              <a:ln>
                <a:solidFill>
                  <a:srgbClr val="7030A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1" name="Straight Arrow Connector 80"/>
              <p:cNvCxnSpPr/>
              <p:nvPr/>
            </p:nvCxnSpPr>
            <p:spPr>
              <a:xfrm>
                <a:off x="7352888" y="3424499"/>
                <a:ext cx="669539" cy="0"/>
              </a:xfrm>
              <a:prstGeom prst="straightConnector1">
                <a:avLst/>
              </a:prstGeom>
              <a:ln>
                <a:solidFill>
                  <a:srgbClr val="7030A0"/>
                </a:solidFill>
                <a:prstDash val="sysDot"/>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087585" y="3203286"/>
                <a:ext cx="454143" cy="153888"/>
              </a:xfrm>
              <a:prstGeom prst="rect">
                <a:avLst/>
              </a:prstGeom>
              <a:noFill/>
            </p:spPr>
            <p:txBody>
              <a:bodyPr vert="horz" wrap="square" lIns="0" tIns="0" rIns="0" bIns="0" rtlCol="0">
                <a:spAutoFit/>
              </a:bodyPr>
              <a:lstStyle/>
              <a:p>
                <a:r>
                  <a:rPr lang="en-US" sz="1000" dirty="0" err="1">
                    <a:solidFill>
                      <a:srgbClr val="7030A0"/>
                    </a:solidFill>
                  </a:rPr>
                  <a:t>Sreq</a:t>
                </a:r>
                <a:endParaRPr lang="en-US" sz="1000" dirty="0">
                  <a:solidFill>
                    <a:srgbClr val="7030A0"/>
                  </a:solidFill>
                </a:endParaRPr>
              </a:p>
            </p:txBody>
          </p:sp>
          <p:sp>
            <p:nvSpPr>
              <p:cNvPr id="83" name="TextBox 82"/>
              <p:cNvSpPr txBox="1"/>
              <p:nvPr/>
            </p:nvSpPr>
            <p:spPr>
              <a:xfrm>
                <a:off x="8087585" y="3342792"/>
                <a:ext cx="454143" cy="153888"/>
              </a:xfrm>
              <a:prstGeom prst="rect">
                <a:avLst/>
              </a:prstGeom>
              <a:noFill/>
            </p:spPr>
            <p:txBody>
              <a:bodyPr vert="horz" wrap="square" lIns="0" tIns="0" rIns="0" bIns="0" rtlCol="0">
                <a:spAutoFit/>
              </a:bodyPr>
              <a:lstStyle/>
              <a:p>
                <a:r>
                  <a:rPr lang="en-US" sz="1000" dirty="0">
                    <a:solidFill>
                      <a:srgbClr val="7030A0"/>
                    </a:solidFill>
                  </a:rPr>
                  <a:t>Sack</a:t>
                </a:r>
              </a:p>
            </p:txBody>
          </p:sp>
          <p:sp>
            <p:nvSpPr>
              <p:cNvPr id="84" name="Right Arrow 83"/>
              <p:cNvSpPr/>
              <p:nvPr/>
            </p:nvSpPr>
            <p:spPr>
              <a:xfrm>
                <a:off x="7421626" y="2771951"/>
                <a:ext cx="600802" cy="260015"/>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TextBox 84"/>
              <p:cNvSpPr txBox="1"/>
              <p:nvPr/>
            </p:nvSpPr>
            <p:spPr>
              <a:xfrm>
                <a:off x="8065450" y="2802421"/>
                <a:ext cx="454143" cy="153888"/>
              </a:xfrm>
              <a:prstGeom prst="rect">
                <a:avLst/>
              </a:prstGeom>
              <a:noFill/>
            </p:spPr>
            <p:txBody>
              <a:bodyPr vert="horz" wrap="square" lIns="0" tIns="0" rIns="0" bIns="0" rtlCol="0">
                <a:spAutoFit/>
              </a:bodyPr>
              <a:lstStyle/>
              <a:p>
                <a:r>
                  <a:rPr lang="en-US" sz="1000" dirty="0">
                    <a:solidFill>
                      <a:srgbClr val="003C71"/>
                    </a:solidFill>
                  </a:rPr>
                  <a:t>S[16:0]</a:t>
                </a:r>
              </a:p>
            </p:txBody>
          </p:sp>
        </p:grpSp>
        <p:sp>
          <p:nvSpPr>
            <p:cNvPr id="110" name="TextBox 109"/>
            <p:cNvSpPr txBox="1"/>
            <p:nvPr/>
          </p:nvSpPr>
          <p:spPr>
            <a:xfrm>
              <a:off x="6824207" y="2386089"/>
              <a:ext cx="483109" cy="153888"/>
            </a:xfrm>
            <a:prstGeom prst="rect">
              <a:avLst/>
            </a:prstGeom>
            <a:noFill/>
          </p:spPr>
          <p:txBody>
            <a:bodyPr vert="horz" wrap="square" lIns="0" tIns="0" rIns="0" bIns="0" rtlCol="0">
              <a:spAutoFit/>
            </a:bodyPr>
            <a:lstStyle/>
            <a:p>
              <a:r>
                <a:rPr lang="en-US" sz="1000" dirty="0" err="1">
                  <a:solidFill>
                    <a:srgbClr val="003C71"/>
                  </a:solidFill>
                </a:rPr>
                <a:t>valueS</a:t>
              </a:r>
              <a:endParaRPr lang="en-US" sz="1000" dirty="0">
                <a:solidFill>
                  <a:srgbClr val="003C71"/>
                </a:solidFill>
              </a:endParaRPr>
            </a:p>
          </p:txBody>
        </p:sp>
        <p:sp>
          <p:nvSpPr>
            <p:cNvPr id="112" name="Rounded Rectangle 111"/>
            <p:cNvSpPr/>
            <p:nvPr/>
          </p:nvSpPr>
          <p:spPr>
            <a:xfrm>
              <a:off x="7414140" y="2964081"/>
              <a:ext cx="523568" cy="260743"/>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a:t>CTRL</a:t>
              </a:r>
            </a:p>
          </p:txBody>
        </p:sp>
        <p:sp>
          <p:nvSpPr>
            <p:cNvPr id="113" name="Oval 112"/>
            <p:cNvSpPr/>
            <p:nvPr/>
          </p:nvSpPr>
          <p:spPr>
            <a:xfrm>
              <a:off x="5407074" y="1707686"/>
              <a:ext cx="1295904" cy="1289849"/>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LOGIC</a:t>
              </a:r>
            </a:p>
          </p:txBody>
        </p:sp>
        <p:cxnSp>
          <p:nvCxnSpPr>
            <p:cNvPr id="114" name="Straight Arrow Connector 113"/>
            <p:cNvCxnSpPr>
              <a:endCxn id="113" idx="1"/>
            </p:cNvCxnSpPr>
            <p:nvPr/>
          </p:nvCxnSpPr>
          <p:spPr>
            <a:xfrm>
              <a:off x="4759112" y="1295905"/>
              <a:ext cx="837743" cy="600675"/>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5" name="Straight Arrow Connector 114"/>
            <p:cNvCxnSpPr>
              <a:stCxn id="59" idx="3"/>
              <a:endCxn id="113" idx="3"/>
            </p:cNvCxnSpPr>
            <p:nvPr/>
          </p:nvCxnSpPr>
          <p:spPr>
            <a:xfrm flipV="1">
              <a:off x="4756649" y="2808641"/>
              <a:ext cx="840206" cy="36143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6" name="Straight Arrow Connector 115"/>
            <p:cNvCxnSpPr>
              <a:stCxn id="113" idx="6"/>
            </p:cNvCxnSpPr>
            <p:nvPr/>
          </p:nvCxnSpPr>
          <p:spPr>
            <a:xfrm>
              <a:off x="6702978" y="2352611"/>
              <a:ext cx="775111" cy="3028"/>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Flowchart: Delay 118"/>
            <p:cNvSpPr/>
            <p:nvPr/>
          </p:nvSpPr>
          <p:spPr>
            <a:xfrm>
              <a:off x="5737806" y="3366930"/>
              <a:ext cx="202246" cy="168135"/>
            </a:xfrm>
            <a:prstGeom prst="flowChartDelay">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C</a:t>
              </a:r>
            </a:p>
          </p:txBody>
        </p:sp>
        <p:cxnSp>
          <p:nvCxnSpPr>
            <p:cNvPr id="120" name="Straight Arrow Connector 119"/>
            <p:cNvCxnSpPr/>
            <p:nvPr/>
          </p:nvCxnSpPr>
          <p:spPr>
            <a:xfrm rot="16200000" flipH="1">
              <a:off x="4873365" y="2550223"/>
              <a:ext cx="1125636" cy="603245"/>
            </a:xfrm>
            <a:prstGeom prst="bentConnector3">
              <a:avLst>
                <a:gd name="adj1" fmla="val 100570"/>
              </a:avLst>
            </a:prstGeom>
            <a:ln>
              <a:solidFill>
                <a:srgbClr val="7030A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5" name="Straight Arrow Connector 124"/>
            <p:cNvCxnSpPr/>
            <p:nvPr/>
          </p:nvCxnSpPr>
          <p:spPr>
            <a:xfrm>
              <a:off x="4812863" y="2285454"/>
              <a:ext cx="321698" cy="3574"/>
            </a:xfrm>
            <a:prstGeom prst="straightConnector1">
              <a:avLst/>
            </a:prstGeom>
            <a:ln>
              <a:solidFill>
                <a:srgbClr val="7030A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p:cNvCxnSpPr/>
            <p:nvPr/>
          </p:nvCxnSpPr>
          <p:spPr>
            <a:xfrm>
              <a:off x="4832039" y="4103152"/>
              <a:ext cx="308577" cy="2565"/>
            </a:xfrm>
            <a:prstGeom prst="straightConnector1">
              <a:avLst/>
            </a:prstGeom>
            <a:ln>
              <a:solidFill>
                <a:srgbClr val="7030A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31" name="Straight Arrow Connector 119"/>
            <p:cNvCxnSpPr/>
            <p:nvPr/>
          </p:nvCxnSpPr>
          <p:spPr>
            <a:xfrm flipV="1">
              <a:off x="5122450" y="3499443"/>
              <a:ext cx="621411" cy="600218"/>
            </a:xfrm>
            <a:prstGeom prst="bentConnector3">
              <a:avLst>
                <a:gd name="adj1" fmla="val 2250"/>
              </a:avLst>
            </a:prstGeom>
            <a:ln>
              <a:solidFill>
                <a:srgbClr val="7030A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19"/>
            <p:cNvCxnSpPr>
              <a:stCxn id="119" idx="3"/>
            </p:cNvCxnSpPr>
            <p:nvPr/>
          </p:nvCxnSpPr>
          <p:spPr>
            <a:xfrm flipV="1">
              <a:off x="5940052" y="3021759"/>
              <a:ext cx="1471426" cy="429239"/>
            </a:xfrm>
            <a:prstGeom prst="bentConnector3">
              <a:avLst>
                <a:gd name="adj1" fmla="val 50000"/>
              </a:avLst>
            </a:prstGeom>
            <a:ln>
              <a:solidFill>
                <a:srgbClr val="7030A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3" name="Straight Arrow Connector 142"/>
            <p:cNvCxnSpPr/>
            <p:nvPr/>
          </p:nvCxnSpPr>
          <p:spPr>
            <a:xfrm flipV="1">
              <a:off x="4837835" y="3148927"/>
              <a:ext cx="2549420" cy="1047624"/>
            </a:xfrm>
            <a:prstGeom prst="bentConnector3">
              <a:avLst>
                <a:gd name="adj1" fmla="val 15083"/>
              </a:avLst>
            </a:prstGeom>
            <a:ln>
              <a:solidFill>
                <a:srgbClr val="7030A0"/>
              </a:solidFill>
              <a:prstDash val="sysDot"/>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48" name="Straight Arrow Connector 147"/>
            <p:cNvCxnSpPr/>
            <p:nvPr/>
          </p:nvCxnSpPr>
          <p:spPr>
            <a:xfrm rot="16200000" flipH="1">
              <a:off x="4633844" y="2551320"/>
              <a:ext cx="771083" cy="412019"/>
            </a:xfrm>
            <a:prstGeom prst="bentConnector3">
              <a:avLst>
                <a:gd name="adj1" fmla="val 1309"/>
              </a:avLst>
            </a:prstGeom>
            <a:ln>
              <a:solidFill>
                <a:srgbClr val="7030A0"/>
              </a:solidFill>
              <a:prstDash val="sysDot"/>
              <a:headEnd type="triangle"/>
              <a:tailEnd type="none"/>
            </a:ln>
            <a:effectLst/>
          </p:spPr>
          <p:style>
            <a:lnRef idx="2">
              <a:schemeClr val="accent1"/>
            </a:lnRef>
            <a:fillRef idx="0">
              <a:schemeClr val="accent1"/>
            </a:fillRef>
            <a:effectRef idx="1">
              <a:schemeClr val="accent1"/>
            </a:effectRef>
            <a:fontRef idx="minor">
              <a:schemeClr val="tx1"/>
            </a:fontRef>
          </p:style>
        </p:cxnSp>
      </p:grpSp>
      <p:sp>
        <p:nvSpPr>
          <p:cNvPr id="9" name="Right Brace 8">
            <a:extLst>
              <a:ext uri="{FF2B5EF4-FFF2-40B4-BE49-F238E27FC236}">
                <a16:creationId xmlns:a16="http://schemas.microsoft.com/office/drawing/2014/main" id="{0AE37CFE-A5FC-3F96-BF8E-E726E0108516}"/>
              </a:ext>
            </a:extLst>
          </p:cNvPr>
          <p:cNvSpPr/>
          <p:nvPr/>
        </p:nvSpPr>
        <p:spPr>
          <a:xfrm>
            <a:off x="2247087" y="3764604"/>
            <a:ext cx="165371" cy="437745"/>
          </a:xfrm>
          <a:prstGeom prst="rightBrace">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1" name="TextBox 40">
            <a:extLst>
              <a:ext uri="{FF2B5EF4-FFF2-40B4-BE49-F238E27FC236}">
                <a16:creationId xmlns:a16="http://schemas.microsoft.com/office/drawing/2014/main" id="{373CDD7A-B956-A52A-0097-E4824D1F661C}"/>
              </a:ext>
            </a:extLst>
          </p:cNvPr>
          <p:cNvSpPr txBox="1"/>
          <p:nvPr/>
        </p:nvSpPr>
        <p:spPr>
          <a:xfrm>
            <a:off x="2417325" y="3808379"/>
            <a:ext cx="773348" cy="338554"/>
          </a:xfrm>
          <a:prstGeom prst="rect">
            <a:avLst/>
          </a:prstGeom>
          <a:noFill/>
        </p:spPr>
        <p:txBody>
          <a:bodyPr vert="horz" wrap="square" lIns="0" tIns="0" rIns="0" bIns="0" rtlCol="0">
            <a:spAutoFit/>
          </a:bodyPr>
          <a:lstStyle/>
          <a:p>
            <a:r>
              <a:rPr lang="en-US" sz="1100" dirty="0">
                <a:solidFill>
                  <a:srgbClr val="003C71"/>
                </a:solidFill>
              </a:rPr>
              <a:t>SDC Constraints</a:t>
            </a:r>
          </a:p>
        </p:txBody>
      </p:sp>
      <p:sp>
        <p:nvSpPr>
          <p:cNvPr id="72" name="Right Brace 71">
            <a:extLst>
              <a:ext uri="{FF2B5EF4-FFF2-40B4-BE49-F238E27FC236}">
                <a16:creationId xmlns:a16="http://schemas.microsoft.com/office/drawing/2014/main" id="{11DF88AA-9D73-0B9C-6418-FD6E4112119E}"/>
              </a:ext>
            </a:extLst>
          </p:cNvPr>
          <p:cNvSpPr/>
          <p:nvPr/>
        </p:nvSpPr>
        <p:spPr>
          <a:xfrm>
            <a:off x="2102793" y="2710774"/>
            <a:ext cx="165371" cy="834222"/>
          </a:xfrm>
          <a:prstGeom prst="rightBrace">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3" name="TextBox 72">
            <a:extLst>
              <a:ext uri="{FF2B5EF4-FFF2-40B4-BE49-F238E27FC236}">
                <a16:creationId xmlns:a16="http://schemas.microsoft.com/office/drawing/2014/main" id="{E6682175-DB67-911F-3777-DCD4820B371D}"/>
              </a:ext>
            </a:extLst>
          </p:cNvPr>
          <p:cNvSpPr txBox="1"/>
          <p:nvPr/>
        </p:nvSpPr>
        <p:spPr>
          <a:xfrm>
            <a:off x="2345989" y="3041515"/>
            <a:ext cx="773348" cy="169277"/>
          </a:xfrm>
          <a:prstGeom prst="rect">
            <a:avLst/>
          </a:prstGeom>
          <a:noFill/>
        </p:spPr>
        <p:txBody>
          <a:bodyPr vert="horz" wrap="square" lIns="0" tIns="0" rIns="0" bIns="0" rtlCol="0">
            <a:spAutoFit/>
          </a:bodyPr>
          <a:lstStyle/>
          <a:p>
            <a:r>
              <a:rPr lang="en-US" sz="1100" dirty="0">
                <a:solidFill>
                  <a:srgbClr val="003C71"/>
                </a:solidFill>
              </a:rPr>
              <a:t>Testbench</a:t>
            </a:r>
          </a:p>
        </p:txBody>
      </p:sp>
    </p:spTree>
    <p:extLst>
      <p:ext uri="{BB962C8B-B14F-4D97-AF65-F5344CB8AC3E}">
        <p14:creationId xmlns:p14="http://schemas.microsoft.com/office/powerpoint/2010/main" val="37687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a:t>Cell Definitions</a:t>
            </a:r>
          </a:p>
        </p:txBody>
      </p:sp>
      <p:sp>
        <p:nvSpPr>
          <p:cNvPr id="33795" name="Rectangle 3"/>
          <p:cNvSpPr>
            <a:spLocks noGrp="1" noChangeArrowheads="1"/>
          </p:cNvSpPr>
          <p:nvPr>
            <p:ph idx="4294967295"/>
          </p:nvPr>
        </p:nvSpPr>
        <p:spPr>
          <a:xfrm>
            <a:off x="2102644" y="3931444"/>
            <a:ext cx="5898356" cy="3312319"/>
          </a:xfrm>
        </p:spPr>
        <p:txBody>
          <a:bodyPr/>
          <a:lstStyle/>
          <a:p>
            <a:pPr lvl="2" eaLnBrk="1" hangingPunct="1"/>
            <a:endParaRPr lang="en-US" altLang="en-US"/>
          </a:p>
          <a:p>
            <a:pPr eaLnBrk="1" hangingPunct="1"/>
            <a:endParaRPr lang="en-US" altLang="en-US"/>
          </a:p>
        </p:txBody>
      </p:sp>
      <p:sp>
        <p:nvSpPr>
          <p:cNvPr id="33796" name="Rectangle 5"/>
          <p:cNvSpPr>
            <a:spLocks noChangeArrowheads="1"/>
          </p:cNvSpPr>
          <p:nvPr/>
        </p:nvSpPr>
        <p:spPr bwMode="auto">
          <a:xfrm>
            <a:off x="1703759" y="2606886"/>
            <a:ext cx="49149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4572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r>
              <a:rPr lang="en-US" altLang="en-US" sz="1800" dirty="0"/>
              <a:t>define BUF()(</a:t>
            </a:r>
            <a:r>
              <a:rPr lang="en-US" altLang="en-US" sz="1800" dirty="0" err="1"/>
              <a:t>bd</a:t>
            </a:r>
            <a:r>
              <a:rPr lang="en-US" altLang="en-US" sz="1800" dirty="0"/>
              <a:t>(W) –L, +R){</a:t>
            </a:r>
          </a:p>
          <a:p>
            <a:pPr lvl="2"/>
            <a:r>
              <a:rPr lang="en-US" altLang="en-US" sz="1800" dirty="0"/>
              <a:t>…</a:t>
            </a:r>
          </a:p>
          <a:p>
            <a:r>
              <a:rPr lang="en-US" altLang="en-US" sz="1800" dirty="0"/>
              <a:t>}</a:t>
            </a:r>
          </a:p>
        </p:txBody>
      </p:sp>
      <p:sp>
        <p:nvSpPr>
          <p:cNvPr id="33797" name="TextBox 6"/>
          <p:cNvSpPr txBox="1">
            <a:spLocks noChangeArrowheads="1"/>
          </p:cNvSpPr>
          <p:nvPr/>
        </p:nvSpPr>
        <p:spPr bwMode="auto">
          <a:xfrm>
            <a:off x="614338" y="1668674"/>
            <a:ext cx="13730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r>
              <a:rPr lang="en-US" altLang="en-US" sz="1800"/>
              <a:t>Type name</a:t>
            </a:r>
          </a:p>
        </p:txBody>
      </p:sp>
      <p:cxnSp>
        <p:nvCxnSpPr>
          <p:cNvPr id="9" name="Straight Arrow Connector 8"/>
          <p:cNvCxnSpPr/>
          <p:nvPr/>
        </p:nvCxnSpPr>
        <p:spPr>
          <a:xfrm>
            <a:off x="1941884" y="1924658"/>
            <a:ext cx="685800" cy="6858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33799" name="TextBox 9"/>
          <p:cNvSpPr txBox="1">
            <a:spLocks noChangeArrowheads="1"/>
          </p:cNvSpPr>
          <p:nvPr/>
        </p:nvSpPr>
        <p:spPr bwMode="auto">
          <a:xfrm>
            <a:off x="1941884" y="1184089"/>
            <a:ext cx="35445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r>
              <a:rPr lang="en-US" altLang="en-US" sz="1800"/>
              <a:t>Has empty meta-parameter list</a:t>
            </a:r>
          </a:p>
        </p:txBody>
      </p:sp>
      <p:cxnSp>
        <p:nvCxnSpPr>
          <p:cNvPr id="13" name="Straight Arrow Connector 12"/>
          <p:cNvCxnSpPr/>
          <p:nvPr/>
        </p:nvCxnSpPr>
        <p:spPr>
          <a:xfrm flipH="1">
            <a:off x="3088988" y="1614791"/>
            <a:ext cx="4408" cy="104106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33801" name="TextBox 11"/>
          <p:cNvSpPr txBox="1">
            <a:spLocks noChangeArrowheads="1"/>
          </p:cNvSpPr>
          <p:nvPr/>
        </p:nvSpPr>
        <p:spPr bwMode="auto">
          <a:xfrm>
            <a:off x="5322752" y="1827129"/>
            <a:ext cx="35480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Helvetica" panose="020B0604020202020204" pitchFamily="34" charset="0"/>
              </a:defRPr>
            </a:lvl1pPr>
            <a:lvl2pPr marL="742950" indent="-285750">
              <a:defRPr sz="2400" b="1">
                <a:solidFill>
                  <a:schemeClr val="tx1"/>
                </a:solidFill>
                <a:latin typeface="Helvetica" panose="020B0604020202020204" pitchFamily="34" charset="0"/>
              </a:defRPr>
            </a:lvl2pPr>
            <a:lvl3pPr marL="1143000" indent="-228600">
              <a:defRPr sz="2400" b="1">
                <a:solidFill>
                  <a:schemeClr val="tx1"/>
                </a:solidFill>
                <a:latin typeface="Helvetica" panose="020B0604020202020204" pitchFamily="34" charset="0"/>
              </a:defRPr>
            </a:lvl3pPr>
            <a:lvl4pPr marL="1600200" indent="-228600">
              <a:defRPr sz="2400" b="1">
                <a:solidFill>
                  <a:schemeClr val="tx1"/>
                </a:solidFill>
                <a:latin typeface="Helvetica" panose="020B0604020202020204" pitchFamily="34" charset="0"/>
              </a:defRPr>
            </a:lvl4pPr>
            <a:lvl5pPr marL="2057400" indent="-228600">
              <a:defRPr sz="2400" b="1">
                <a:solidFill>
                  <a:schemeClr val="tx1"/>
                </a:solidFill>
                <a:latin typeface="Helvetica" panose="020B0604020202020204" pitchFamily="34" charset="0"/>
              </a:defRPr>
            </a:lvl5pPr>
            <a:lvl6pPr marL="2514600" indent="-228600" eaLnBrk="0" fontAlgn="base" hangingPunct="0">
              <a:spcBef>
                <a:spcPct val="0"/>
              </a:spcBef>
              <a:spcAft>
                <a:spcPct val="0"/>
              </a:spcAft>
              <a:defRPr sz="2400" b="1">
                <a:solidFill>
                  <a:schemeClr val="tx1"/>
                </a:solidFill>
                <a:latin typeface="Helvetica" panose="020B0604020202020204" pitchFamily="34" charset="0"/>
              </a:defRPr>
            </a:lvl6pPr>
            <a:lvl7pPr marL="2971800" indent="-228600" eaLnBrk="0" fontAlgn="base" hangingPunct="0">
              <a:spcBef>
                <a:spcPct val="0"/>
              </a:spcBef>
              <a:spcAft>
                <a:spcPct val="0"/>
              </a:spcAft>
              <a:defRPr sz="2400" b="1">
                <a:solidFill>
                  <a:schemeClr val="tx1"/>
                </a:solidFill>
                <a:latin typeface="Helvetica" panose="020B0604020202020204" pitchFamily="34" charset="0"/>
              </a:defRPr>
            </a:lvl7pPr>
            <a:lvl8pPr marL="3429000" indent="-228600" eaLnBrk="0" fontAlgn="base" hangingPunct="0">
              <a:spcBef>
                <a:spcPct val="0"/>
              </a:spcBef>
              <a:spcAft>
                <a:spcPct val="0"/>
              </a:spcAft>
              <a:defRPr sz="2400" b="1">
                <a:solidFill>
                  <a:schemeClr val="tx1"/>
                </a:solidFill>
                <a:latin typeface="Helvetica" panose="020B0604020202020204" pitchFamily="34" charset="0"/>
              </a:defRPr>
            </a:lvl8pPr>
            <a:lvl9pPr marL="3886200" indent="-228600" eaLnBrk="0" fontAlgn="base" hangingPunct="0">
              <a:spcBef>
                <a:spcPct val="0"/>
              </a:spcBef>
              <a:spcAft>
                <a:spcPct val="0"/>
              </a:spcAft>
              <a:defRPr sz="2400" b="1">
                <a:solidFill>
                  <a:schemeClr val="tx1"/>
                </a:solidFill>
                <a:latin typeface="Helvetica" panose="020B0604020202020204" pitchFamily="34" charset="0"/>
              </a:defRPr>
            </a:lvl9pPr>
          </a:lstStyle>
          <a:p>
            <a:r>
              <a:rPr lang="en-US" altLang="en-US" sz="1800" dirty="0"/>
              <a:t>Has one input channel L and one output channel R, both of type </a:t>
            </a:r>
            <a:r>
              <a:rPr lang="en-US" altLang="en-US" sz="1800" dirty="0" err="1"/>
              <a:t>bd</a:t>
            </a:r>
            <a:r>
              <a:rPr lang="en-US" altLang="en-US" sz="1800" dirty="0"/>
              <a:t> with width W</a:t>
            </a:r>
          </a:p>
        </p:txBody>
      </p:sp>
      <p:cxnSp>
        <p:nvCxnSpPr>
          <p:cNvPr id="16" name="Straight Arrow Connector 15"/>
          <p:cNvCxnSpPr/>
          <p:nvPr/>
        </p:nvCxnSpPr>
        <p:spPr>
          <a:xfrm flipH="1">
            <a:off x="4098588" y="2159540"/>
            <a:ext cx="1264595" cy="49935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p:nvPr/>
        </p:nvCxnSpPr>
        <p:spPr>
          <a:xfrm flipH="1">
            <a:off x="4597940" y="2393615"/>
            <a:ext cx="717618" cy="27176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1" name="TextBox 10"/>
          <p:cNvSpPr txBox="1"/>
          <p:nvPr/>
        </p:nvSpPr>
        <p:spPr>
          <a:xfrm>
            <a:off x="512323" y="3845668"/>
            <a:ext cx="7717277" cy="1000274"/>
          </a:xfrm>
          <a:prstGeom prst="rect">
            <a:avLst/>
          </a:prstGeom>
          <a:noFill/>
        </p:spPr>
        <p:txBody>
          <a:bodyPr vert="horz" wrap="square" lIns="0" tIns="0" rIns="0" bIns="0" rtlCol="0">
            <a:spAutoFit/>
          </a:bodyPr>
          <a:lstStyle/>
          <a:p>
            <a:pPr>
              <a:defRPr/>
            </a:pPr>
            <a:r>
              <a:rPr lang="en-US" dirty="0"/>
              <a:t>Note: Module and cell name together specify a fully qualified name (FQCN)</a:t>
            </a:r>
          </a:p>
          <a:p>
            <a:pPr marL="514350" lvl="1" indent="-285750">
              <a:buFont typeface="Arial" panose="020B0604020202020204" pitchFamily="34" charset="0"/>
              <a:buChar char="•"/>
              <a:defRPr/>
            </a:pPr>
            <a:r>
              <a:rPr lang="en-US" dirty="0"/>
              <a:t>Ex: If module is </a:t>
            </a:r>
            <a:r>
              <a:rPr lang="en-US" dirty="0" err="1"/>
              <a:t>lib.buffer</a:t>
            </a:r>
            <a:r>
              <a:rPr lang="en-US" dirty="0"/>
              <a:t>, defines cell BUF, then the FQCN is </a:t>
            </a:r>
            <a:r>
              <a:rPr lang="en-US" dirty="0" err="1"/>
              <a:t>lib.buffer.BUF</a:t>
            </a:r>
            <a:endParaRPr lang="en-US" dirty="0"/>
          </a:p>
          <a:p>
            <a:endParaRPr lang="en-US" sz="1100" dirty="0" err="1">
              <a:solidFill>
                <a:srgbClr val="003C71"/>
              </a:solidFill>
            </a:endParaRPr>
          </a:p>
        </p:txBody>
      </p:sp>
    </p:spTree>
    <p:extLst>
      <p:ext uri="{BB962C8B-B14F-4D97-AF65-F5344CB8AC3E}">
        <p14:creationId xmlns:p14="http://schemas.microsoft.com/office/powerpoint/2010/main" val="1318117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18</a:t>
            </a:fld>
            <a:endParaRPr lang="en-US" dirty="0"/>
          </a:p>
        </p:txBody>
      </p:sp>
      <p:sp>
        <p:nvSpPr>
          <p:cNvPr id="3" name="Title 2"/>
          <p:cNvSpPr>
            <a:spLocks noGrp="1"/>
          </p:cNvSpPr>
          <p:nvPr>
            <p:ph type="title"/>
          </p:nvPr>
        </p:nvSpPr>
        <p:spPr/>
        <p:txBody>
          <a:bodyPr/>
          <a:lstStyle/>
          <a:p>
            <a:r>
              <a:rPr lang="en-US" dirty="0"/>
              <a:t>Cell Definition details</a:t>
            </a:r>
          </a:p>
        </p:txBody>
      </p:sp>
      <p:sp>
        <p:nvSpPr>
          <p:cNvPr id="4" name="Content Placeholder 3"/>
          <p:cNvSpPr>
            <a:spLocks noGrp="1"/>
          </p:cNvSpPr>
          <p:nvPr>
            <p:ph sz="quarter" idx="13"/>
          </p:nvPr>
        </p:nvSpPr>
        <p:spPr>
          <a:xfrm>
            <a:off x="455613" y="1041960"/>
            <a:ext cx="8228012" cy="3589805"/>
          </a:xfrm>
        </p:spPr>
        <p:txBody>
          <a:bodyPr/>
          <a:lstStyle/>
          <a:p>
            <a:pPr algn="ctr"/>
            <a:r>
              <a:rPr lang="en-US" b="1" dirty="0">
                <a:solidFill>
                  <a:schemeClr val="tx1"/>
                </a:solidFill>
              </a:rPr>
              <a:t>define</a:t>
            </a:r>
            <a:r>
              <a:rPr lang="en-US" dirty="0">
                <a:solidFill>
                  <a:schemeClr val="tx1"/>
                </a:solidFill>
              </a:rPr>
              <a:t> CELL_TYPE(</a:t>
            </a:r>
            <a:r>
              <a:rPr lang="en-US" i="1" dirty="0" err="1">
                <a:solidFill>
                  <a:schemeClr val="tx1"/>
                </a:solidFill>
              </a:rPr>
              <a:t>metaparams</a:t>
            </a:r>
            <a:r>
              <a:rPr lang="en-US" dirty="0">
                <a:solidFill>
                  <a:schemeClr val="tx1"/>
                </a:solidFill>
              </a:rPr>
              <a:t>)(</a:t>
            </a:r>
            <a:r>
              <a:rPr lang="en-US" i="1" dirty="0">
                <a:solidFill>
                  <a:schemeClr val="tx1"/>
                </a:solidFill>
              </a:rPr>
              <a:t>ports</a:t>
            </a:r>
            <a:r>
              <a:rPr lang="en-US" dirty="0">
                <a:solidFill>
                  <a:schemeClr val="tx1"/>
                </a:solidFill>
              </a:rPr>
              <a:t>)(</a:t>
            </a:r>
            <a:r>
              <a:rPr lang="en-US" i="1" dirty="0" err="1">
                <a:solidFill>
                  <a:schemeClr val="tx1"/>
                </a:solidFill>
              </a:rPr>
              <a:t>implicit_ports</a:t>
            </a:r>
            <a:r>
              <a:rPr lang="en-US" dirty="0">
                <a:solidFill>
                  <a:schemeClr val="tx1"/>
                </a:solidFill>
              </a:rPr>
              <a:t>) { </a:t>
            </a:r>
            <a:r>
              <a:rPr lang="en-US" i="1" dirty="0">
                <a:solidFill>
                  <a:schemeClr val="tx1"/>
                </a:solidFill>
              </a:rPr>
              <a:t>contents</a:t>
            </a:r>
            <a:r>
              <a:rPr lang="en-US" dirty="0">
                <a:solidFill>
                  <a:schemeClr val="tx1"/>
                </a:solidFill>
              </a:rPr>
              <a:t> }</a:t>
            </a:r>
            <a:endParaRPr lang="en-US" sz="1600" dirty="0"/>
          </a:p>
          <a:p>
            <a:pPr marL="285750" indent="-285750">
              <a:buFont typeface="Arial" panose="020B0604020202020204" pitchFamily="34" charset="0"/>
              <a:buChar char="•"/>
            </a:pPr>
            <a:r>
              <a:rPr lang="en-US" sz="1600" dirty="0"/>
              <a:t>CELL_TYPE has similar name restrictions as Verilog or C.</a:t>
            </a:r>
          </a:p>
          <a:p>
            <a:pPr marL="285750" indent="-285750">
              <a:buFont typeface="Arial" panose="020B0604020202020204" pitchFamily="34" charset="0"/>
              <a:buChar char="•"/>
            </a:pPr>
            <a:r>
              <a:rPr lang="en-US" sz="1600" dirty="0" err="1"/>
              <a:t>Metaparams</a:t>
            </a:r>
            <a:r>
              <a:rPr lang="en-US" sz="1600" dirty="0"/>
              <a:t> is an optional list of </a:t>
            </a:r>
            <a:r>
              <a:rPr lang="en-US" sz="1600" dirty="0" err="1"/>
              <a:t>int</a:t>
            </a:r>
            <a:r>
              <a:rPr lang="en-US" sz="1600" dirty="0"/>
              <a:t>, </a:t>
            </a:r>
            <a:r>
              <a:rPr lang="en-US" sz="1600" dirty="0" err="1"/>
              <a:t>bool</a:t>
            </a:r>
            <a:r>
              <a:rPr lang="en-US" sz="1600" dirty="0"/>
              <a:t>, float which can be passed into this CELL_TYPE to change its implementation or behavior.  Arrays of these are also allowed.</a:t>
            </a:r>
          </a:p>
          <a:p>
            <a:pPr marL="285750" indent="-285750">
              <a:buFont typeface="Arial" panose="020B0604020202020204" pitchFamily="34" charset="0"/>
              <a:buChar char="•"/>
            </a:pPr>
            <a:r>
              <a:rPr lang="en-US" sz="1600" dirty="0"/>
              <a:t>Ports is a list of node primitives or </a:t>
            </a:r>
            <a:r>
              <a:rPr lang="en-US" sz="1600" dirty="0" err="1"/>
              <a:t>defchan</a:t>
            </a:r>
            <a:r>
              <a:rPr lang="en-US" sz="1600" dirty="0"/>
              <a:t> channels.  These are declared as “type pd1,pd2,…” sets separated by “;” whenever you need to change type.</a:t>
            </a:r>
          </a:p>
          <a:p>
            <a:pPr marL="285750" indent="-285750">
              <a:buFont typeface="Arial" panose="020B0604020202020204" pitchFamily="34" charset="0"/>
              <a:buChar char="•"/>
            </a:pPr>
            <a:r>
              <a:rPr lang="en-US" sz="1600" dirty="0"/>
              <a:t>Implicit ports are usually not specified, but are used to pass power supply nodes automatically down the hierarchy.  There are no “global” nodes!</a:t>
            </a:r>
          </a:p>
          <a:p>
            <a:pPr marL="285750" indent="-285750">
              <a:buFont typeface="Arial" panose="020B0604020202020204" pitchFamily="34" charset="0"/>
              <a:buChar char="•"/>
            </a:pPr>
            <a:r>
              <a:rPr lang="en-US" sz="1600" dirty="0"/>
              <a:t>The contents are expressions of </a:t>
            </a:r>
            <a:r>
              <a:rPr lang="en-US" sz="1600" dirty="0" err="1"/>
              <a:t>metaparameters</a:t>
            </a:r>
            <a:r>
              <a:rPr lang="en-US" sz="1600" dirty="0"/>
              <a:t> plus sub-languages.</a:t>
            </a:r>
          </a:p>
        </p:txBody>
      </p:sp>
    </p:spTree>
    <p:extLst>
      <p:ext uri="{BB962C8B-B14F-4D97-AF65-F5344CB8AC3E}">
        <p14:creationId xmlns:p14="http://schemas.microsoft.com/office/powerpoint/2010/main" val="3442989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19</a:t>
            </a:fld>
            <a:endParaRPr lang="en-US" dirty="0"/>
          </a:p>
        </p:txBody>
      </p:sp>
      <p:sp>
        <p:nvSpPr>
          <p:cNvPr id="3" name="Title 2"/>
          <p:cNvSpPr>
            <a:spLocks noGrp="1"/>
          </p:cNvSpPr>
          <p:nvPr>
            <p:ph type="title"/>
          </p:nvPr>
        </p:nvSpPr>
        <p:spPr/>
        <p:txBody>
          <a:bodyPr/>
          <a:lstStyle/>
          <a:p>
            <a:r>
              <a:rPr lang="en-US" dirty="0"/>
              <a:t>Channel definition details</a:t>
            </a:r>
          </a:p>
        </p:txBody>
      </p:sp>
      <p:sp>
        <p:nvSpPr>
          <p:cNvPr id="4" name="Content Placeholder 3"/>
          <p:cNvSpPr>
            <a:spLocks noGrp="1"/>
          </p:cNvSpPr>
          <p:nvPr>
            <p:ph sz="quarter" idx="13"/>
          </p:nvPr>
        </p:nvSpPr>
        <p:spPr>
          <a:xfrm>
            <a:off x="455613" y="982195"/>
            <a:ext cx="8228012" cy="3751170"/>
          </a:xfrm>
        </p:spPr>
        <p:txBody>
          <a:bodyPr/>
          <a:lstStyle/>
          <a:p>
            <a:pPr marL="285750" indent="-285750">
              <a:buFont typeface="Arial" panose="020B0604020202020204" pitchFamily="34" charset="0"/>
              <a:buChar char="•"/>
            </a:pPr>
            <a:r>
              <a:rPr lang="en-US" sz="1600" dirty="0"/>
              <a:t>Ports of cells ultimately are the </a:t>
            </a:r>
            <a:r>
              <a:rPr lang="en-US" sz="1600" u="sng" dirty="0"/>
              <a:t>node</a:t>
            </a:r>
            <a:r>
              <a:rPr lang="en-US" sz="1600" dirty="0"/>
              <a:t> primitive (a wire).  Nodes in a port list can be input only, output only, or input-output as indicated by a -, +, or -+ prefix.</a:t>
            </a:r>
          </a:p>
          <a:p>
            <a:pPr marL="285750" indent="-285750">
              <a:buFont typeface="Arial" panose="020B0604020202020204" pitchFamily="34" charset="0"/>
              <a:buChar char="•"/>
            </a:pPr>
            <a:r>
              <a:rPr lang="en-US" sz="1600" dirty="0"/>
              <a:t>High-level CAST groups nodes into a channel of related nodes.  For example, the </a:t>
            </a:r>
            <a:r>
              <a:rPr lang="en-US" sz="1600" dirty="0" err="1"/>
              <a:t>bd</a:t>
            </a:r>
            <a:r>
              <a:rPr lang="en-US" sz="1600" dirty="0"/>
              <a:t>(W) in the previous example is defined in module </a:t>
            </a:r>
            <a:r>
              <a:rPr lang="en-US" sz="1600" dirty="0" err="1"/>
              <a:t>standard.channel</a:t>
            </a:r>
            <a:r>
              <a:rPr lang="en-US" sz="1600" dirty="0"/>
              <a:t> as:</a:t>
            </a:r>
          </a:p>
          <a:p>
            <a:pPr marL="511175" lvl="1" indent="-285750">
              <a:buFont typeface="Arial" panose="020B0604020202020204" pitchFamily="34" charset="0"/>
              <a:buChar char="•"/>
            </a:pPr>
            <a:r>
              <a:rPr lang="en-US" sz="1200" b="1" dirty="0" err="1">
                <a:solidFill>
                  <a:schemeClr val="tx1"/>
                </a:solidFill>
                <a:latin typeface="Verdana" panose="020B0604030504040204" pitchFamily="34" charset="0"/>
                <a:ea typeface="Verdana" panose="020B0604030504040204" pitchFamily="34" charset="0"/>
                <a:cs typeface="Verdana" panose="020B0604030504040204" pitchFamily="34" charset="0"/>
              </a:rPr>
              <a:t>defchan</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rPr>
              <a:t>bdc</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()(node +q, -a) &lt;: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rPr>
              <a:t>asynchronous_channel</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511175" lvl="1" indent="-285750">
              <a:buFont typeface="Arial" panose="020B0604020202020204" pitchFamily="34" charset="0"/>
              <a:buChar char="•"/>
            </a:pPr>
            <a:r>
              <a:rPr lang="en-US" sz="1200" b="1" dirty="0" err="1">
                <a:solidFill>
                  <a:schemeClr val="tx1"/>
                </a:solidFill>
                <a:latin typeface="Verdana" panose="020B0604030504040204" pitchFamily="34" charset="0"/>
                <a:ea typeface="Verdana" panose="020B0604030504040204" pitchFamily="34" charset="0"/>
                <a:cs typeface="Verdana" panose="020B0604030504040204" pitchFamily="34" charset="0"/>
              </a:rPr>
              <a:t>defchan</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rPr>
              <a:t>bd</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W)(</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rPr>
              <a:t>bdc</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+C; node[W] +D) &lt;: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rPr>
              <a:t>asynchronous_channel</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285750" indent="-285750">
              <a:buFont typeface="Arial" panose="020B0604020202020204" pitchFamily="34" charset="0"/>
              <a:buChar char="•"/>
            </a:pPr>
            <a:r>
              <a:rPr lang="en-US" sz="1600" dirty="0"/>
              <a:t>The “</a:t>
            </a:r>
            <a:r>
              <a:rPr lang="en-US" sz="1600" dirty="0" err="1"/>
              <a:t>bdc</a:t>
            </a:r>
            <a:r>
              <a:rPr lang="en-US" sz="1600" dirty="0"/>
              <a:t>” channel includes bundled-data handshake wires q and a, which is combined with an W-bit array of nodes to make a “</a:t>
            </a:r>
            <a:r>
              <a:rPr lang="en-US" sz="1600" dirty="0" err="1"/>
              <a:t>bd</a:t>
            </a:r>
            <a:r>
              <a:rPr lang="en-US" sz="1600" dirty="0"/>
              <a:t>(W)” channel.</a:t>
            </a:r>
          </a:p>
          <a:p>
            <a:pPr marL="285750" indent="-285750">
              <a:buFont typeface="Arial" panose="020B0604020202020204" pitchFamily="34" charset="0"/>
              <a:buChar char="•"/>
            </a:pPr>
            <a:r>
              <a:rPr lang="en-US" sz="1600" dirty="0"/>
              <a:t>The +/- directions are multiplied out to determine the ultimate input/output direction of each node.  This is convenient because all asynchronous channels have nodes which travel backwards to provide flow-control.</a:t>
            </a:r>
          </a:p>
        </p:txBody>
      </p:sp>
    </p:spTree>
    <p:extLst>
      <p:ext uri="{BB962C8B-B14F-4D97-AF65-F5344CB8AC3E}">
        <p14:creationId xmlns:p14="http://schemas.microsoft.com/office/powerpoint/2010/main" val="2027363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20</a:t>
            </a:fld>
            <a:endParaRPr lang="en-US" dirty="0"/>
          </a:p>
        </p:txBody>
      </p:sp>
      <p:sp>
        <p:nvSpPr>
          <p:cNvPr id="3" name="Title 2"/>
          <p:cNvSpPr>
            <a:spLocks noGrp="1"/>
          </p:cNvSpPr>
          <p:nvPr>
            <p:ph type="title"/>
          </p:nvPr>
        </p:nvSpPr>
        <p:spPr/>
        <p:txBody>
          <a:bodyPr/>
          <a:lstStyle/>
          <a:p>
            <a:r>
              <a:rPr lang="en-US" dirty="0"/>
              <a:t>Refinement and Inheritance</a:t>
            </a:r>
          </a:p>
        </p:txBody>
      </p:sp>
      <p:sp>
        <p:nvSpPr>
          <p:cNvPr id="4" name="Content Placeholder 3"/>
          <p:cNvSpPr>
            <a:spLocks noGrp="1"/>
          </p:cNvSpPr>
          <p:nvPr>
            <p:ph sz="quarter" idx="13"/>
          </p:nvPr>
        </p:nvSpPr>
        <p:spPr/>
        <p:txBody>
          <a:bodyPr/>
          <a:lstStyle/>
          <a:p>
            <a:r>
              <a:rPr lang="en-US" dirty="0"/>
              <a:t>Concepts borrowed from Object Oriented Programming for code reuse.</a:t>
            </a:r>
          </a:p>
          <a:p>
            <a:r>
              <a:rPr lang="en-US" dirty="0"/>
              <a:t>A CELL_TYPE can have only one refinement parent, indicated by &lt;: PARENT_CELL_TYPE after the definition.  This replicates everything from the parent, but allows the current cell to add more.  Often, the parent is an ABSTRACT_CELL which defines only the functional behavior, while the refined cell adds a specific implementation.</a:t>
            </a:r>
          </a:p>
          <a:p>
            <a:r>
              <a:rPr lang="en-US" dirty="0"/>
              <a:t>A CELL_TYPE can inherit attributes from any number of attribute cells, indicated with by &lt;+ ATTRIBUTE_CELL_TYPE.  These can add CAST variables computed from </a:t>
            </a:r>
            <a:r>
              <a:rPr lang="en-US" dirty="0" err="1"/>
              <a:t>metaparameters</a:t>
            </a:r>
            <a:r>
              <a:rPr lang="en-US" dirty="0"/>
              <a:t> or reusable </a:t>
            </a:r>
            <a:r>
              <a:rPr lang="en-US" dirty="0" err="1"/>
              <a:t>csp</a:t>
            </a:r>
            <a:r>
              <a:rPr lang="en-US" dirty="0"/>
              <a:t> functions.  Attributes cells are a special case of “</a:t>
            </a:r>
            <a:r>
              <a:rPr lang="en-US" u="sng" dirty="0"/>
              <a:t>define</a:t>
            </a:r>
            <a:r>
              <a:rPr lang="en-US" dirty="0"/>
              <a:t>”.</a:t>
            </a:r>
          </a:p>
        </p:txBody>
      </p:sp>
    </p:spTree>
    <p:extLst>
      <p:ext uri="{BB962C8B-B14F-4D97-AF65-F5344CB8AC3E}">
        <p14:creationId xmlns:p14="http://schemas.microsoft.com/office/powerpoint/2010/main" val="1204653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21</a:t>
            </a:fld>
            <a:endParaRPr lang="en-US" dirty="0"/>
          </a:p>
        </p:txBody>
      </p:sp>
      <p:sp>
        <p:nvSpPr>
          <p:cNvPr id="3" name="Title 2"/>
          <p:cNvSpPr>
            <a:spLocks noGrp="1"/>
          </p:cNvSpPr>
          <p:nvPr>
            <p:ph type="title"/>
          </p:nvPr>
        </p:nvSpPr>
        <p:spPr/>
        <p:txBody>
          <a:bodyPr/>
          <a:lstStyle/>
          <a:p>
            <a:r>
              <a:rPr lang="en-US" dirty="0"/>
              <a:t>Iterators and Selection</a:t>
            </a:r>
          </a:p>
        </p:txBody>
      </p:sp>
      <p:sp>
        <p:nvSpPr>
          <p:cNvPr id="4" name="Content Placeholder 3"/>
          <p:cNvSpPr>
            <a:spLocks noGrp="1"/>
          </p:cNvSpPr>
          <p:nvPr>
            <p:ph sz="quarter" idx="13"/>
          </p:nvPr>
        </p:nvSpPr>
        <p:spPr>
          <a:xfrm>
            <a:off x="457201" y="880596"/>
            <a:ext cx="8228012" cy="3709333"/>
          </a:xfrm>
        </p:spPr>
        <p:txBody>
          <a:bodyPr/>
          <a:lstStyle/>
          <a:p>
            <a:r>
              <a:rPr lang="en-US" dirty="0"/>
              <a:t>The iterator:</a:t>
            </a:r>
          </a:p>
          <a:p>
            <a:r>
              <a:rPr lang="en-US" dirty="0"/>
              <a:t>	</a:t>
            </a:r>
            <a:r>
              <a:rPr lang="en-US" dirty="0">
                <a:solidFill>
                  <a:schemeClr val="tx1"/>
                </a:solidFill>
              </a:rPr>
              <a:t>&lt;</a:t>
            </a:r>
            <a:r>
              <a:rPr lang="en-US" dirty="0" err="1">
                <a:solidFill>
                  <a:schemeClr val="tx1"/>
                </a:solidFill>
              </a:rPr>
              <a:t>i:N:statement</a:t>
            </a:r>
            <a:r>
              <a:rPr lang="en-US" dirty="0">
                <a:solidFill>
                  <a:schemeClr val="tx1"/>
                </a:solidFill>
              </a:rPr>
              <a:t>&gt;;</a:t>
            </a:r>
          </a:p>
          <a:p>
            <a:r>
              <a:rPr lang="en-US" dirty="0"/>
              <a:t>Means evaluate the statement for each i from 0 to N-1.  Alternatively: 	</a:t>
            </a:r>
            <a:r>
              <a:rPr lang="en-US" dirty="0">
                <a:solidFill>
                  <a:schemeClr val="tx1"/>
                </a:solidFill>
              </a:rPr>
              <a:t>&lt;</a:t>
            </a:r>
            <a:r>
              <a:rPr lang="en-US" dirty="0" err="1">
                <a:solidFill>
                  <a:schemeClr val="tx1"/>
                </a:solidFill>
              </a:rPr>
              <a:t>i:lo</a:t>
            </a:r>
            <a:r>
              <a:rPr lang="en-US" dirty="0">
                <a:solidFill>
                  <a:schemeClr val="tx1"/>
                </a:solidFill>
              </a:rPr>
              <a:t>..</a:t>
            </a:r>
            <a:r>
              <a:rPr lang="en-US" dirty="0" err="1">
                <a:solidFill>
                  <a:schemeClr val="tx1"/>
                </a:solidFill>
              </a:rPr>
              <a:t>hi:statement</a:t>
            </a:r>
            <a:r>
              <a:rPr lang="en-US" dirty="0">
                <a:solidFill>
                  <a:schemeClr val="tx1"/>
                </a:solidFill>
              </a:rPr>
              <a:t>&gt;;</a:t>
            </a:r>
          </a:p>
          <a:p>
            <a:pPr marL="0" lvl="1" indent="0">
              <a:buNone/>
            </a:pPr>
            <a:r>
              <a:rPr lang="en-US" dirty="0">
                <a:solidFill>
                  <a:srgbClr val="0071C5"/>
                </a:solidFill>
              </a:rPr>
              <a:t>Means evaluate the statement for each i from lo to hi.</a:t>
            </a:r>
          </a:p>
          <a:p>
            <a:pPr marL="0" lvl="1" indent="0">
              <a:buNone/>
            </a:pPr>
            <a:r>
              <a:rPr lang="en-US" dirty="0">
                <a:solidFill>
                  <a:srgbClr val="0071C5"/>
                </a:solidFill>
              </a:rPr>
              <a:t>Also:</a:t>
            </a:r>
          </a:p>
          <a:p>
            <a:pPr marL="0" lvl="1" indent="0">
              <a:buNone/>
            </a:pPr>
            <a:r>
              <a:rPr lang="en-US" dirty="0">
                <a:solidFill>
                  <a:srgbClr val="0071C5"/>
                </a:solidFill>
              </a:rPr>
              <a:t>	</a:t>
            </a:r>
            <a:r>
              <a:rPr lang="en-US" dirty="0">
                <a:solidFill>
                  <a:schemeClr val="tx1"/>
                </a:solidFill>
              </a:rPr>
              <a:t>[expression -&gt; statement; ]</a:t>
            </a:r>
          </a:p>
          <a:p>
            <a:pPr marL="0" lvl="1" indent="0">
              <a:buNone/>
            </a:pPr>
            <a:r>
              <a:rPr lang="en-US" dirty="0">
                <a:solidFill>
                  <a:srgbClr val="0071C5"/>
                </a:solidFill>
              </a:rPr>
              <a:t>Means if the </a:t>
            </a:r>
            <a:r>
              <a:rPr lang="en-US" dirty="0" err="1">
                <a:solidFill>
                  <a:srgbClr val="0071C5"/>
                </a:solidFill>
              </a:rPr>
              <a:t>metaparamter</a:t>
            </a:r>
            <a:r>
              <a:rPr lang="en-US" dirty="0">
                <a:solidFill>
                  <a:srgbClr val="0071C5"/>
                </a:solidFill>
              </a:rPr>
              <a:t> expression is true, then apply statement.</a:t>
            </a:r>
          </a:p>
          <a:p>
            <a:pPr marL="0" lvl="1" indent="0">
              <a:buNone/>
            </a:pPr>
            <a:r>
              <a:rPr lang="en-US" dirty="0">
                <a:solidFill>
                  <a:srgbClr val="0071C5"/>
                </a:solidFill>
              </a:rPr>
              <a:t>CAST variables can be assigned only once!</a:t>
            </a:r>
          </a:p>
          <a:p>
            <a:pPr marL="0" lvl="1" indent="0">
              <a:buNone/>
            </a:pPr>
            <a:endParaRPr lang="en-US" dirty="0">
              <a:solidFill>
                <a:srgbClr val="0071C5"/>
              </a:solidFill>
            </a:endParaRPr>
          </a:p>
        </p:txBody>
      </p:sp>
    </p:spTree>
    <p:extLst>
      <p:ext uri="{BB962C8B-B14F-4D97-AF65-F5344CB8AC3E}">
        <p14:creationId xmlns:p14="http://schemas.microsoft.com/office/powerpoint/2010/main" val="3699185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22</a:t>
            </a:fld>
            <a:endParaRPr lang="en-US" dirty="0"/>
          </a:p>
        </p:txBody>
      </p:sp>
      <p:sp>
        <p:nvSpPr>
          <p:cNvPr id="3" name="Title 2"/>
          <p:cNvSpPr>
            <a:spLocks noGrp="1"/>
          </p:cNvSpPr>
          <p:nvPr>
            <p:ph type="title"/>
          </p:nvPr>
        </p:nvSpPr>
        <p:spPr/>
        <p:txBody>
          <a:bodyPr/>
          <a:lstStyle/>
          <a:p>
            <a:r>
              <a:rPr lang="en-US" dirty="0"/>
              <a:t>CAST Sub-Languages</a:t>
            </a:r>
          </a:p>
        </p:txBody>
      </p:sp>
      <p:sp>
        <p:nvSpPr>
          <p:cNvPr id="4" name="Content Placeholder 3"/>
          <p:cNvSpPr>
            <a:spLocks noGrp="1"/>
          </p:cNvSpPr>
          <p:nvPr>
            <p:ph sz="quarter" idx="13"/>
          </p:nvPr>
        </p:nvSpPr>
        <p:spPr>
          <a:xfrm>
            <a:off x="455613" y="989063"/>
            <a:ext cx="8228012" cy="3738581"/>
          </a:xfrm>
        </p:spPr>
        <p:txBody>
          <a:bodyPr/>
          <a:lstStyle/>
          <a:p>
            <a:r>
              <a:rPr lang="en-US" sz="1600" dirty="0" err="1"/>
              <a:t>csp</a:t>
            </a:r>
            <a:r>
              <a:rPr lang="en-US" sz="1600" dirty="0"/>
              <a:t> { … } – CSP (Communicating Sequential Processes) is our behavioral language.  It was adapted from Tony Hoare’s 1960’s language by Alain Martin at Caltech for describing the behavior of asynchronous components. Also referred as Communicating Hardware Processes (CHP)</a:t>
            </a:r>
          </a:p>
          <a:p>
            <a:r>
              <a:rPr lang="en-US" sz="1600" dirty="0" err="1"/>
              <a:t>subcells</a:t>
            </a:r>
            <a:r>
              <a:rPr lang="en-US" sz="1600" dirty="0"/>
              <a:t> { … } – </a:t>
            </a:r>
            <a:r>
              <a:rPr lang="en-US" sz="1600" dirty="0" err="1"/>
              <a:t>Subcells</a:t>
            </a:r>
            <a:r>
              <a:rPr lang="en-US" sz="1600" dirty="0"/>
              <a:t> define the implementation of a cell in terms of smaller cells connected by nodes or channels.</a:t>
            </a:r>
          </a:p>
          <a:p>
            <a:r>
              <a:rPr lang="en-US" sz="1600" dirty="0" err="1"/>
              <a:t>prs</a:t>
            </a:r>
            <a:r>
              <a:rPr lang="en-US" sz="1600" dirty="0"/>
              <a:t> { … } – PRS (Production Rule Set) is a powerful way of specifying combinational or state-holding or domino logic gates.</a:t>
            </a:r>
          </a:p>
          <a:p>
            <a:r>
              <a:rPr lang="en-US" sz="1600" dirty="0" err="1"/>
              <a:t>netlist</a:t>
            </a:r>
            <a:r>
              <a:rPr lang="en-US" sz="1600" dirty="0"/>
              <a:t> { … } – Spice syntax for transistors.  Usually auto-generated.</a:t>
            </a:r>
          </a:p>
          <a:p>
            <a:r>
              <a:rPr lang="en-US" sz="1600" dirty="0" err="1"/>
              <a:t>env</a:t>
            </a:r>
            <a:r>
              <a:rPr lang="en-US" sz="1600" dirty="0"/>
              <a:t> { … } – Defines closed self-test environments for a cell.  Supports </a:t>
            </a:r>
            <a:r>
              <a:rPr lang="en-US" sz="1600" dirty="0" err="1"/>
              <a:t>csp</a:t>
            </a:r>
            <a:r>
              <a:rPr lang="en-US" sz="1600" dirty="0"/>
              <a:t>, </a:t>
            </a:r>
            <a:r>
              <a:rPr lang="en-US" sz="1600" dirty="0" err="1"/>
              <a:t>subcells</a:t>
            </a:r>
            <a:r>
              <a:rPr lang="en-US" sz="1600" dirty="0"/>
              <a:t>, or </a:t>
            </a:r>
            <a:r>
              <a:rPr lang="en-US" sz="1600" dirty="0" err="1"/>
              <a:t>prs</a:t>
            </a:r>
            <a:r>
              <a:rPr lang="en-US" sz="1600" dirty="0"/>
              <a:t> specifications of the test environment.</a:t>
            </a:r>
          </a:p>
          <a:p>
            <a:r>
              <a:rPr lang="en-US" sz="1600" dirty="0" err="1"/>
              <a:t>verilog</a:t>
            </a:r>
            <a:r>
              <a:rPr lang="en-US" sz="1600" dirty="0"/>
              <a:t>/java – Interfaces to external tools (seldom used these days).</a:t>
            </a:r>
          </a:p>
        </p:txBody>
      </p:sp>
    </p:spTree>
    <p:extLst>
      <p:ext uri="{BB962C8B-B14F-4D97-AF65-F5344CB8AC3E}">
        <p14:creationId xmlns:p14="http://schemas.microsoft.com/office/powerpoint/2010/main" val="2582666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49232" y="2244965"/>
            <a:ext cx="3321339" cy="943818"/>
          </a:xfrm>
        </p:spPr>
        <p:txBody>
          <a:bodyPr/>
          <a:lstStyle/>
          <a:p>
            <a:pPr algn="l"/>
            <a:r>
              <a:rPr lang="en-US" dirty="0"/>
              <a:t>CSP</a:t>
            </a:r>
          </a:p>
        </p:txBody>
      </p:sp>
      <p:sp>
        <p:nvSpPr>
          <p:cNvPr id="2" name="Slide Number Placeholder 1"/>
          <p:cNvSpPr>
            <a:spLocks noGrp="1"/>
          </p:cNvSpPr>
          <p:nvPr>
            <p:ph type="sldNum" sz="quarter" idx="4294967295"/>
          </p:nvPr>
        </p:nvSpPr>
        <p:spPr>
          <a:xfrm>
            <a:off x="7010400" y="4824413"/>
            <a:ext cx="2133600" cy="273050"/>
          </a:xfrm>
        </p:spPr>
        <p:txBody>
          <a:bodyPr/>
          <a:lstStyle/>
          <a:p>
            <a:fld id="{EE2556C5-CE8C-6547-B838-EA80C61A4AF7}" type="slidenum">
              <a:rPr lang="en-US" smtClean="0"/>
              <a:pPr/>
              <a:t>23</a:t>
            </a:fld>
            <a:endParaRPr lang="en-US" dirty="0"/>
          </a:p>
        </p:txBody>
      </p:sp>
    </p:spTree>
    <p:extLst>
      <p:ext uri="{BB962C8B-B14F-4D97-AF65-F5344CB8AC3E}">
        <p14:creationId xmlns:p14="http://schemas.microsoft.com/office/powerpoint/2010/main" val="313527696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a:t>CSP Block: Features</a:t>
            </a:r>
          </a:p>
        </p:txBody>
      </p:sp>
      <p:sp>
        <p:nvSpPr>
          <p:cNvPr id="43011" name="Rectangle 3"/>
          <p:cNvSpPr>
            <a:spLocks noGrp="1" noChangeArrowheads="1"/>
          </p:cNvSpPr>
          <p:nvPr>
            <p:ph idx="1"/>
          </p:nvPr>
        </p:nvSpPr>
        <p:spPr>
          <a:xfrm>
            <a:off x="758757" y="995363"/>
            <a:ext cx="6976734" cy="3650456"/>
          </a:xfrm>
        </p:spPr>
        <p:txBody>
          <a:bodyPr/>
          <a:lstStyle/>
          <a:p>
            <a:pPr marL="285750" indent="-285750" eaLnBrk="1" hangingPunct="1">
              <a:buFont typeface="Arial" panose="020B0604020202020204" pitchFamily="34" charset="0"/>
              <a:buChar char="•"/>
            </a:pPr>
            <a:r>
              <a:rPr lang="en-US" altLang="en-US" dirty="0"/>
              <a:t>High-Level language to describe Asynchronous Circuits</a:t>
            </a:r>
          </a:p>
          <a:p>
            <a:pPr marL="285750" indent="-285750" eaLnBrk="1" hangingPunct="1">
              <a:buFont typeface="Arial" panose="020B0604020202020204" pitchFamily="34" charset="0"/>
              <a:buChar char="•"/>
            </a:pPr>
            <a:r>
              <a:rPr lang="en-US" altLang="en-US" dirty="0"/>
              <a:t>Each cell is itself a </a:t>
            </a:r>
            <a:r>
              <a:rPr lang="en-US" altLang="en-US" dirty="0" err="1"/>
              <a:t>csp</a:t>
            </a:r>
            <a:r>
              <a:rPr lang="en-US" altLang="en-US" dirty="0"/>
              <a:t> program</a:t>
            </a:r>
          </a:p>
          <a:p>
            <a:pPr lvl="2">
              <a:lnSpc>
                <a:spcPct val="110000"/>
              </a:lnSpc>
            </a:pPr>
            <a:r>
              <a:rPr lang="en-US" altLang="en-US" dirty="0"/>
              <a:t>Each program typically runs indefinitely</a:t>
            </a:r>
          </a:p>
          <a:p>
            <a:pPr lvl="2">
              <a:lnSpc>
                <a:spcPct val="110000"/>
              </a:lnSpc>
            </a:pPr>
            <a:r>
              <a:rPr lang="en-US" altLang="en-US" dirty="0"/>
              <a:t>Each block communicates with other blocks via communication constructs on asynchronous channels</a:t>
            </a:r>
          </a:p>
          <a:p>
            <a:pPr lvl="2">
              <a:lnSpc>
                <a:spcPct val="110000"/>
              </a:lnSpc>
            </a:pPr>
            <a:r>
              <a:rPr lang="en-US" altLang="en-US" dirty="0"/>
              <a:t>Each block can be decomposed into fine grain blocks </a:t>
            </a:r>
          </a:p>
          <a:p>
            <a:pPr lvl="2">
              <a:lnSpc>
                <a:spcPct val="110000"/>
              </a:lnSpc>
            </a:pPr>
            <a:r>
              <a:rPr lang="en-US" altLang="en-US" dirty="0"/>
              <a:t>Eventually fine-grain blocks such that computation works on</a:t>
            </a:r>
          </a:p>
          <a:p>
            <a:pPr lvl="3">
              <a:lnSpc>
                <a:spcPct val="110000"/>
              </a:lnSpc>
              <a:buFont typeface="Arial" panose="020B0604020202020204" pitchFamily="34" charset="0"/>
              <a:buChar char="−"/>
            </a:pPr>
            <a:r>
              <a:rPr lang="en-US" altLang="en-US" dirty="0"/>
              <a:t>Arrays of channels making up 2 to 8 bits of data</a:t>
            </a:r>
          </a:p>
          <a:p>
            <a:pPr lvl="3">
              <a:lnSpc>
                <a:spcPct val="110000"/>
              </a:lnSpc>
              <a:buFont typeface="Arial" panose="020B0604020202020204" pitchFamily="34" charset="0"/>
              <a:buChar char="−"/>
            </a:pPr>
            <a:r>
              <a:rPr lang="en-US" altLang="en-US" dirty="0"/>
              <a:t>Data computation is computed in 2 gate-delays</a:t>
            </a:r>
          </a:p>
          <a:p>
            <a:pPr lvl="3">
              <a:lnSpc>
                <a:spcPct val="110000"/>
              </a:lnSpc>
              <a:buFont typeface="Arial" panose="020B0604020202020204" pitchFamily="34" charset="0"/>
              <a:buChar char="−"/>
            </a:pPr>
            <a:r>
              <a:rPr lang="en-US" altLang="en-US" dirty="0"/>
              <a:t>Forms pipelines with 10 transition cycle times</a:t>
            </a:r>
          </a:p>
          <a:p>
            <a:pPr lvl="2">
              <a:lnSpc>
                <a:spcPct val="110000"/>
              </a:lnSpc>
              <a:buFont typeface="Arial" panose="020B0604020202020204" pitchFamily="34" charset="0"/>
              <a:buChar char="−"/>
            </a:pPr>
            <a:r>
              <a:rPr lang="en-US" altLang="en-US" dirty="0"/>
              <a:t>Implemented with our cell templates (</a:t>
            </a:r>
            <a:r>
              <a:rPr lang="en-US" altLang="en-US" dirty="0" err="1"/>
              <a:t>eg</a:t>
            </a:r>
            <a:r>
              <a:rPr lang="en-US" altLang="en-US" dirty="0"/>
              <a:t>. BD) </a:t>
            </a:r>
          </a:p>
        </p:txBody>
      </p:sp>
      <p:sp>
        <p:nvSpPr>
          <p:cNvPr id="43012"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00" b="1">
                <a:solidFill>
                  <a:schemeClr val="tx1"/>
                </a:solidFill>
                <a:latin typeface="Helvetica" panose="020B0604020202020204" pitchFamily="34" charset="0"/>
              </a:defRPr>
            </a:lvl1pPr>
            <a:lvl2pPr marL="557213" indent="-214313">
              <a:defRPr sz="1800" b="1">
                <a:solidFill>
                  <a:schemeClr val="tx1"/>
                </a:solidFill>
                <a:latin typeface="Helvetica" panose="020B0604020202020204" pitchFamily="34" charset="0"/>
              </a:defRPr>
            </a:lvl2pPr>
            <a:lvl3pPr marL="857250" indent="-171450">
              <a:defRPr sz="1800" b="1">
                <a:solidFill>
                  <a:schemeClr val="tx1"/>
                </a:solidFill>
                <a:latin typeface="Helvetica" panose="020B0604020202020204" pitchFamily="34" charset="0"/>
              </a:defRPr>
            </a:lvl3pPr>
            <a:lvl4pPr marL="1200150" indent="-171450">
              <a:defRPr sz="1800" b="1">
                <a:solidFill>
                  <a:schemeClr val="tx1"/>
                </a:solidFill>
                <a:latin typeface="Helvetica" panose="020B0604020202020204" pitchFamily="34" charset="0"/>
              </a:defRPr>
            </a:lvl4pPr>
            <a:lvl5pPr marL="1543050" indent="-171450">
              <a:defRPr sz="1800" b="1">
                <a:solidFill>
                  <a:schemeClr val="tx1"/>
                </a:solidFill>
                <a:latin typeface="Helvetica" panose="020B0604020202020204" pitchFamily="34" charset="0"/>
              </a:defRPr>
            </a:lvl5pPr>
            <a:lvl6pPr marL="1885950" indent="-171450" eaLnBrk="0" fontAlgn="base" hangingPunct="0">
              <a:spcBef>
                <a:spcPct val="0"/>
              </a:spcBef>
              <a:spcAft>
                <a:spcPct val="0"/>
              </a:spcAft>
              <a:defRPr sz="1800" b="1">
                <a:solidFill>
                  <a:schemeClr val="tx1"/>
                </a:solidFill>
                <a:latin typeface="Helvetica" panose="020B0604020202020204" pitchFamily="34" charset="0"/>
              </a:defRPr>
            </a:lvl6pPr>
            <a:lvl7pPr marL="2228850" indent="-171450" eaLnBrk="0" fontAlgn="base" hangingPunct="0">
              <a:spcBef>
                <a:spcPct val="0"/>
              </a:spcBef>
              <a:spcAft>
                <a:spcPct val="0"/>
              </a:spcAft>
              <a:defRPr sz="1800" b="1">
                <a:solidFill>
                  <a:schemeClr val="tx1"/>
                </a:solidFill>
                <a:latin typeface="Helvetica" panose="020B0604020202020204" pitchFamily="34" charset="0"/>
              </a:defRPr>
            </a:lvl7pPr>
            <a:lvl8pPr marL="2571750" indent="-171450" eaLnBrk="0" fontAlgn="base" hangingPunct="0">
              <a:spcBef>
                <a:spcPct val="0"/>
              </a:spcBef>
              <a:spcAft>
                <a:spcPct val="0"/>
              </a:spcAft>
              <a:defRPr sz="1800" b="1">
                <a:solidFill>
                  <a:schemeClr val="tx1"/>
                </a:solidFill>
                <a:latin typeface="Helvetica" panose="020B0604020202020204" pitchFamily="34" charset="0"/>
              </a:defRPr>
            </a:lvl8pPr>
            <a:lvl9pPr marL="2914650" indent="-171450" eaLnBrk="0" fontAlgn="base" hangingPunct="0">
              <a:spcBef>
                <a:spcPct val="0"/>
              </a:spcBef>
              <a:spcAft>
                <a:spcPct val="0"/>
              </a:spcAft>
              <a:defRPr sz="1800" b="1">
                <a:solidFill>
                  <a:schemeClr val="tx1"/>
                </a:solidFill>
                <a:latin typeface="Helvetica" panose="020B0604020202020204" pitchFamily="34" charset="0"/>
              </a:defRPr>
            </a:lvl9pPr>
          </a:lstStyle>
          <a:p>
            <a:fld id="{51E9F09E-F35F-44A6-A577-BB26E6CA3E7F}" type="slidenum">
              <a:rPr lang="en-US" altLang="en-US" sz="600">
                <a:solidFill>
                  <a:srgbClr val="FFFFFF"/>
                </a:solidFill>
                <a:latin typeface="Verdana" panose="020B0604030504040204" pitchFamily="34" charset="0"/>
              </a:rPr>
              <a:pPr/>
              <a:t>24</a:t>
            </a:fld>
            <a:endParaRPr lang="en-US" altLang="en-US" sz="600">
              <a:solidFill>
                <a:srgbClr val="FFFFFF"/>
              </a:solidFill>
              <a:latin typeface="Verdana" panose="020B0604030504040204" pitchFamily="34" charset="0"/>
            </a:endParaRPr>
          </a:p>
        </p:txBody>
      </p:sp>
    </p:spTree>
    <p:extLst>
      <p:ext uri="{BB962C8B-B14F-4D97-AF65-F5344CB8AC3E}">
        <p14:creationId xmlns:p14="http://schemas.microsoft.com/office/powerpoint/2010/main" val="1887418915"/>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25</a:t>
            </a:fld>
            <a:endParaRPr lang="en-US" dirty="0"/>
          </a:p>
        </p:txBody>
      </p:sp>
      <p:sp>
        <p:nvSpPr>
          <p:cNvPr id="3" name="Title 2"/>
          <p:cNvSpPr>
            <a:spLocks noGrp="1"/>
          </p:cNvSpPr>
          <p:nvPr>
            <p:ph type="title"/>
          </p:nvPr>
        </p:nvSpPr>
        <p:spPr/>
        <p:txBody>
          <a:bodyPr/>
          <a:lstStyle/>
          <a:p>
            <a:r>
              <a:rPr lang="en-US" dirty="0"/>
              <a:t>CSP Syntax: Variables and Constants</a:t>
            </a:r>
          </a:p>
        </p:txBody>
      </p:sp>
      <p:graphicFrame>
        <p:nvGraphicFramePr>
          <p:cNvPr id="5" name="Content Placeholder 4"/>
          <p:cNvGraphicFramePr>
            <a:graphicFrameLocks noGrp="1"/>
          </p:cNvGraphicFramePr>
          <p:nvPr>
            <p:ph sz="quarter" idx="4294967295"/>
          </p:nvPr>
        </p:nvGraphicFramePr>
        <p:xfrm>
          <a:off x="369794" y="1130300"/>
          <a:ext cx="8228012" cy="3303756"/>
        </p:xfrm>
        <a:graphic>
          <a:graphicData uri="http://schemas.openxmlformats.org/drawingml/2006/table">
            <a:tbl>
              <a:tblPr firstRow="1" bandRow="1">
                <a:tableStyleId>{5C22544A-7EE6-4342-B048-85BDC9FD1C3A}</a:tableStyleId>
              </a:tblPr>
              <a:tblGrid>
                <a:gridCol w="4114006">
                  <a:extLst>
                    <a:ext uri="{9D8B030D-6E8A-4147-A177-3AD203B41FA5}">
                      <a16:colId xmlns:a16="http://schemas.microsoft.com/office/drawing/2014/main" val="20000"/>
                    </a:ext>
                  </a:extLst>
                </a:gridCol>
                <a:gridCol w="4114006">
                  <a:extLst>
                    <a:ext uri="{9D8B030D-6E8A-4147-A177-3AD203B41FA5}">
                      <a16:colId xmlns:a16="http://schemas.microsoft.com/office/drawing/2014/main" val="20001"/>
                    </a:ext>
                  </a:extLst>
                </a:gridCol>
              </a:tblGrid>
              <a:tr h="337036">
                <a:tc>
                  <a:txBody>
                    <a:bodyPr/>
                    <a:lstStyle/>
                    <a:p>
                      <a:r>
                        <a:rPr lang="en-US" sz="1600" dirty="0"/>
                        <a:t>Syntax</a:t>
                      </a:r>
                      <a:endParaRPr lang="en-US" sz="1400" dirty="0"/>
                    </a:p>
                  </a:txBody>
                  <a:tcPr/>
                </a:tc>
                <a:tc>
                  <a:txBody>
                    <a:bodyPr/>
                    <a:lstStyle/>
                    <a:p>
                      <a:r>
                        <a:rPr lang="en-US" sz="1600" dirty="0"/>
                        <a:t>Meaning</a:t>
                      </a:r>
                    </a:p>
                  </a:txBody>
                  <a:tcPr/>
                </a:tc>
                <a:extLst>
                  <a:ext uri="{0D108BD9-81ED-4DB2-BD59-A6C34878D82A}">
                    <a16:rowId xmlns:a16="http://schemas.microsoft.com/office/drawing/2014/main" val="10000"/>
                  </a:ext>
                </a:extLst>
              </a:tr>
              <a:tr h="370840">
                <a:tc>
                  <a:txBody>
                    <a:bodyPr/>
                    <a:lstStyle/>
                    <a:p>
                      <a:r>
                        <a:rPr lang="en-US" sz="1600" dirty="0" err="1"/>
                        <a:t>int</a:t>
                      </a:r>
                      <a:r>
                        <a:rPr lang="en-US" sz="1600" dirty="0"/>
                        <a:t> x</a:t>
                      </a:r>
                    </a:p>
                  </a:txBody>
                  <a:tcPr/>
                </a:tc>
                <a:tc>
                  <a:txBody>
                    <a:bodyPr/>
                    <a:lstStyle/>
                    <a:p>
                      <a:r>
                        <a:rPr lang="en-US" sz="1600" dirty="0"/>
                        <a:t>Declare arbitrary precision integer</a:t>
                      </a:r>
                    </a:p>
                  </a:txBody>
                  <a:tcPr/>
                </a:tc>
                <a:extLst>
                  <a:ext uri="{0D108BD9-81ED-4DB2-BD59-A6C34878D82A}">
                    <a16:rowId xmlns:a16="http://schemas.microsoft.com/office/drawing/2014/main" val="10001"/>
                  </a:ext>
                </a:extLst>
              </a:tr>
              <a:tr h="370840">
                <a:tc>
                  <a:txBody>
                    <a:bodyPr/>
                    <a:lstStyle/>
                    <a:p>
                      <a:r>
                        <a:rPr lang="en-US" sz="1600" dirty="0" err="1"/>
                        <a:t>int</a:t>
                      </a:r>
                      <a:r>
                        <a:rPr lang="en-US" sz="1600" dirty="0"/>
                        <a:t>(W) x</a:t>
                      </a:r>
                    </a:p>
                  </a:txBody>
                  <a:tcPr/>
                </a:tc>
                <a:tc>
                  <a:txBody>
                    <a:bodyPr/>
                    <a:lstStyle/>
                    <a:p>
                      <a:r>
                        <a:rPr lang="en-US" sz="1600" dirty="0"/>
                        <a:t>Declare W-bit unsigned integer</a:t>
                      </a:r>
                    </a:p>
                  </a:txBody>
                  <a:tcPr/>
                </a:tc>
                <a:extLst>
                  <a:ext uri="{0D108BD9-81ED-4DB2-BD59-A6C34878D82A}">
                    <a16:rowId xmlns:a16="http://schemas.microsoft.com/office/drawing/2014/main" val="10002"/>
                  </a:ext>
                </a:extLst>
              </a:tr>
              <a:tr h="370840">
                <a:tc>
                  <a:txBody>
                    <a:bodyPr/>
                    <a:lstStyle/>
                    <a:p>
                      <a:r>
                        <a:rPr lang="en-US" sz="1600" dirty="0" err="1"/>
                        <a:t>sint</a:t>
                      </a:r>
                      <a:r>
                        <a:rPr lang="en-US" sz="1600" baseline="0" dirty="0"/>
                        <a:t>(W) y</a:t>
                      </a:r>
                      <a:endParaRPr lang="en-US" sz="1600" dirty="0"/>
                    </a:p>
                  </a:txBody>
                  <a:tcPr/>
                </a:tc>
                <a:tc>
                  <a:txBody>
                    <a:bodyPr/>
                    <a:lstStyle/>
                    <a:p>
                      <a:r>
                        <a:rPr lang="en-US" sz="1600" dirty="0"/>
                        <a:t>Declare W-bit signed integer </a:t>
                      </a:r>
                    </a:p>
                  </a:txBody>
                  <a:tcPr/>
                </a:tc>
                <a:extLst>
                  <a:ext uri="{0D108BD9-81ED-4DB2-BD59-A6C34878D82A}">
                    <a16:rowId xmlns:a16="http://schemas.microsoft.com/office/drawing/2014/main" val="10003"/>
                  </a:ext>
                </a:extLst>
              </a:tr>
              <a:tr h="370840">
                <a:tc>
                  <a:txBody>
                    <a:bodyPr/>
                    <a:lstStyle/>
                    <a:p>
                      <a:r>
                        <a:rPr lang="en-US" sz="1600" dirty="0" err="1"/>
                        <a:t>bool</a:t>
                      </a:r>
                      <a:r>
                        <a:rPr lang="en-US" sz="1600" baseline="0" dirty="0"/>
                        <a:t> b</a:t>
                      </a:r>
                      <a:endParaRPr lang="en-US" sz="1600" dirty="0"/>
                    </a:p>
                  </a:txBody>
                  <a:tcPr/>
                </a:tc>
                <a:tc>
                  <a:txBody>
                    <a:bodyPr/>
                    <a:lstStyle/>
                    <a:p>
                      <a:r>
                        <a:rPr lang="en-US" sz="1600" dirty="0"/>
                        <a:t>Declare Boolean</a:t>
                      </a:r>
                    </a:p>
                  </a:txBody>
                  <a:tcPr/>
                </a:tc>
                <a:extLst>
                  <a:ext uri="{0D108BD9-81ED-4DB2-BD59-A6C34878D82A}">
                    <a16:rowId xmlns:a16="http://schemas.microsoft.com/office/drawing/2014/main" val="10004"/>
                  </a:ext>
                </a:extLst>
              </a:tr>
              <a:tr h="370840">
                <a:tc>
                  <a:txBody>
                    <a:bodyPr/>
                    <a:lstStyle/>
                    <a:p>
                      <a:r>
                        <a:rPr lang="en-US" sz="1600" dirty="0" err="1"/>
                        <a:t>int</a:t>
                      </a:r>
                      <a:r>
                        <a:rPr lang="en-US" sz="1600" baseline="0" dirty="0"/>
                        <a:t>(W) x[0..N-1]</a:t>
                      </a:r>
                      <a:endParaRPr lang="en-US" sz="1600" dirty="0"/>
                    </a:p>
                  </a:txBody>
                  <a:tcPr/>
                </a:tc>
                <a:tc>
                  <a:txBody>
                    <a:bodyPr/>
                    <a:lstStyle/>
                    <a:p>
                      <a:r>
                        <a:rPr lang="en-US" sz="1600" dirty="0"/>
                        <a:t>1D array</a:t>
                      </a:r>
                    </a:p>
                  </a:txBody>
                  <a:tcPr/>
                </a:tc>
                <a:extLst>
                  <a:ext uri="{0D108BD9-81ED-4DB2-BD59-A6C34878D82A}">
                    <a16:rowId xmlns:a16="http://schemas.microsoft.com/office/drawing/2014/main" val="10005"/>
                  </a:ext>
                </a:extLst>
              </a:tr>
              <a:tr h="370840">
                <a:tc>
                  <a:txBody>
                    <a:bodyPr/>
                    <a:lstStyle/>
                    <a:p>
                      <a:r>
                        <a:rPr lang="en-US" sz="1600" dirty="0" err="1"/>
                        <a:t>int</a:t>
                      </a:r>
                      <a:r>
                        <a:rPr lang="en-US" sz="1600" dirty="0"/>
                        <a:t>(W)</a:t>
                      </a:r>
                      <a:r>
                        <a:rPr lang="en-US" sz="1600" baseline="0" dirty="0"/>
                        <a:t> x[0..A][0..B]</a:t>
                      </a:r>
                      <a:endParaRPr lang="en-US" sz="1600" dirty="0"/>
                    </a:p>
                  </a:txBody>
                  <a:tcPr/>
                </a:tc>
                <a:tc>
                  <a:txBody>
                    <a:bodyPr/>
                    <a:lstStyle/>
                    <a:p>
                      <a:r>
                        <a:rPr lang="en-US" sz="1600" dirty="0"/>
                        <a:t>2D array</a:t>
                      </a:r>
                    </a:p>
                  </a:txBody>
                  <a:tcPr/>
                </a:tc>
                <a:extLst>
                  <a:ext uri="{0D108BD9-81ED-4DB2-BD59-A6C34878D82A}">
                    <a16:rowId xmlns:a16="http://schemas.microsoft.com/office/drawing/2014/main" val="10006"/>
                  </a:ext>
                </a:extLst>
              </a:tr>
              <a:tr h="370840">
                <a:tc>
                  <a:txBody>
                    <a:bodyPr/>
                    <a:lstStyle/>
                    <a:p>
                      <a:r>
                        <a:rPr lang="en-US" sz="1600" dirty="0"/>
                        <a:t>true</a:t>
                      </a:r>
                    </a:p>
                  </a:txBody>
                  <a:tcPr/>
                </a:tc>
                <a:tc>
                  <a:txBody>
                    <a:bodyPr/>
                    <a:lstStyle/>
                    <a:p>
                      <a:r>
                        <a:rPr lang="en-US" sz="1600" dirty="0"/>
                        <a:t>Boolean</a:t>
                      </a:r>
                      <a:r>
                        <a:rPr lang="en-US" sz="1600" baseline="0" dirty="0"/>
                        <a:t> true</a:t>
                      </a:r>
                      <a:endParaRPr lang="en-US" sz="1600" dirty="0"/>
                    </a:p>
                  </a:txBody>
                  <a:tcPr/>
                </a:tc>
                <a:extLst>
                  <a:ext uri="{0D108BD9-81ED-4DB2-BD59-A6C34878D82A}">
                    <a16:rowId xmlns:a16="http://schemas.microsoft.com/office/drawing/2014/main" val="10007"/>
                  </a:ext>
                </a:extLst>
              </a:tr>
              <a:tr h="370840">
                <a:tc>
                  <a:txBody>
                    <a:bodyPr/>
                    <a:lstStyle/>
                    <a:p>
                      <a:r>
                        <a:rPr lang="en-US" sz="1600" dirty="0"/>
                        <a:t>false</a:t>
                      </a:r>
                    </a:p>
                  </a:txBody>
                  <a:tcPr/>
                </a:tc>
                <a:tc>
                  <a:txBody>
                    <a:bodyPr/>
                    <a:lstStyle/>
                    <a:p>
                      <a:r>
                        <a:rPr lang="en-US" sz="1600" dirty="0"/>
                        <a:t>Boolean false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8278499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26</a:t>
            </a:fld>
            <a:endParaRPr lang="en-US" dirty="0"/>
          </a:p>
        </p:txBody>
      </p:sp>
      <p:sp>
        <p:nvSpPr>
          <p:cNvPr id="3" name="Title 2"/>
          <p:cNvSpPr>
            <a:spLocks noGrp="1"/>
          </p:cNvSpPr>
          <p:nvPr>
            <p:ph type="title"/>
          </p:nvPr>
        </p:nvSpPr>
        <p:spPr/>
        <p:txBody>
          <a:bodyPr/>
          <a:lstStyle/>
          <a:p>
            <a:r>
              <a:rPr lang="en-US" dirty="0"/>
              <a:t>CSP Syntax: Statements and Expressions</a:t>
            </a:r>
          </a:p>
        </p:txBody>
      </p:sp>
      <p:graphicFrame>
        <p:nvGraphicFramePr>
          <p:cNvPr id="5" name="Content Placeholder 4"/>
          <p:cNvGraphicFramePr>
            <a:graphicFrameLocks noGrp="1"/>
          </p:cNvGraphicFramePr>
          <p:nvPr>
            <p:ph sz="quarter" idx="4294967295"/>
          </p:nvPr>
        </p:nvGraphicFramePr>
        <p:xfrm>
          <a:off x="369794" y="1130300"/>
          <a:ext cx="8228012" cy="3303756"/>
        </p:xfrm>
        <a:graphic>
          <a:graphicData uri="http://schemas.openxmlformats.org/drawingml/2006/table">
            <a:tbl>
              <a:tblPr firstRow="1" bandRow="1">
                <a:tableStyleId>{5C22544A-7EE6-4342-B048-85BDC9FD1C3A}</a:tableStyleId>
              </a:tblPr>
              <a:tblGrid>
                <a:gridCol w="4114006">
                  <a:extLst>
                    <a:ext uri="{9D8B030D-6E8A-4147-A177-3AD203B41FA5}">
                      <a16:colId xmlns:a16="http://schemas.microsoft.com/office/drawing/2014/main" val="20000"/>
                    </a:ext>
                  </a:extLst>
                </a:gridCol>
                <a:gridCol w="4114006">
                  <a:extLst>
                    <a:ext uri="{9D8B030D-6E8A-4147-A177-3AD203B41FA5}">
                      <a16:colId xmlns:a16="http://schemas.microsoft.com/office/drawing/2014/main" val="20001"/>
                    </a:ext>
                  </a:extLst>
                </a:gridCol>
              </a:tblGrid>
              <a:tr h="337036">
                <a:tc>
                  <a:txBody>
                    <a:bodyPr/>
                    <a:lstStyle/>
                    <a:p>
                      <a:r>
                        <a:rPr lang="en-US" sz="1600" dirty="0"/>
                        <a:t>Syntax</a:t>
                      </a:r>
                      <a:endParaRPr lang="en-US" sz="1400" dirty="0"/>
                    </a:p>
                  </a:txBody>
                  <a:tcPr/>
                </a:tc>
                <a:tc>
                  <a:txBody>
                    <a:bodyPr/>
                    <a:lstStyle/>
                    <a:p>
                      <a:r>
                        <a:rPr lang="en-US" sz="1600" dirty="0"/>
                        <a:t>Meaning</a:t>
                      </a:r>
                    </a:p>
                  </a:txBody>
                  <a:tcPr/>
                </a:tc>
                <a:extLst>
                  <a:ext uri="{0D108BD9-81ED-4DB2-BD59-A6C34878D82A}">
                    <a16:rowId xmlns:a16="http://schemas.microsoft.com/office/drawing/2014/main" val="10000"/>
                  </a:ext>
                </a:extLst>
              </a:tr>
              <a:tr h="370840">
                <a:tc>
                  <a:txBody>
                    <a:bodyPr/>
                    <a:lstStyle/>
                    <a:p>
                      <a:r>
                        <a:rPr lang="en-US" sz="1600" dirty="0"/>
                        <a:t>skip</a:t>
                      </a:r>
                    </a:p>
                  </a:txBody>
                  <a:tcPr/>
                </a:tc>
                <a:tc>
                  <a:txBody>
                    <a:bodyPr/>
                    <a:lstStyle/>
                    <a:p>
                      <a:r>
                        <a:rPr lang="en-US" sz="1600" dirty="0"/>
                        <a:t>Dummy</a:t>
                      </a:r>
                      <a:r>
                        <a:rPr lang="en-US" sz="1600" baseline="0" dirty="0"/>
                        <a:t> statement which does nothing</a:t>
                      </a:r>
                      <a:endParaRPr lang="en-US" sz="1600" dirty="0"/>
                    </a:p>
                  </a:txBody>
                  <a:tcPr/>
                </a:tc>
                <a:extLst>
                  <a:ext uri="{0D108BD9-81ED-4DB2-BD59-A6C34878D82A}">
                    <a16:rowId xmlns:a16="http://schemas.microsoft.com/office/drawing/2014/main" val="10001"/>
                  </a:ext>
                </a:extLst>
              </a:tr>
              <a:tr h="370840">
                <a:tc>
                  <a:txBody>
                    <a:bodyPr/>
                    <a:lstStyle/>
                    <a:p>
                      <a:r>
                        <a:rPr lang="en-US" sz="1600" dirty="0"/>
                        <a:t>S1;</a:t>
                      </a:r>
                      <a:r>
                        <a:rPr lang="en-US" sz="1600" baseline="0" dirty="0"/>
                        <a:t> S2</a:t>
                      </a:r>
                      <a:endParaRPr lang="en-US" sz="1600" dirty="0"/>
                    </a:p>
                  </a:txBody>
                  <a:tcPr/>
                </a:tc>
                <a:tc>
                  <a:txBody>
                    <a:bodyPr/>
                    <a:lstStyle/>
                    <a:p>
                      <a:r>
                        <a:rPr lang="en-US" sz="1600" dirty="0"/>
                        <a:t>Execute</a:t>
                      </a:r>
                      <a:r>
                        <a:rPr lang="en-US" sz="1600" baseline="0" dirty="0"/>
                        <a:t> statement S1 then S2</a:t>
                      </a:r>
                      <a:endParaRPr lang="en-US" sz="1600" dirty="0"/>
                    </a:p>
                  </a:txBody>
                  <a:tcPr/>
                </a:tc>
                <a:extLst>
                  <a:ext uri="{0D108BD9-81ED-4DB2-BD59-A6C34878D82A}">
                    <a16:rowId xmlns:a16="http://schemas.microsoft.com/office/drawing/2014/main" val="10002"/>
                  </a:ext>
                </a:extLst>
              </a:tr>
              <a:tr h="370840">
                <a:tc>
                  <a:txBody>
                    <a:bodyPr/>
                    <a:lstStyle/>
                    <a:p>
                      <a:r>
                        <a:rPr lang="en-US" sz="1600" dirty="0"/>
                        <a:t>S1, S2</a:t>
                      </a:r>
                    </a:p>
                  </a:txBody>
                  <a:tcPr/>
                </a:tc>
                <a:tc>
                  <a:txBody>
                    <a:bodyPr/>
                    <a:lstStyle/>
                    <a:p>
                      <a:r>
                        <a:rPr lang="en-US" sz="1600" dirty="0"/>
                        <a:t>Execute S1 and S2 in parallel</a:t>
                      </a:r>
                    </a:p>
                  </a:txBody>
                  <a:tcPr/>
                </a:tc>
                <a:extLst>
                  <a:ext uri="{0D108BD9-81ED-4DB2-BD59-A6C34878D82A}">
                    <a16:rowId xmlns:a16="http://schemas.microsoft.com/office/drawing/2014/main" val="10003"/>
                  </a:ext>
                </a:extLst>
              </a:tr>
              <a:tr h="370840">
                <a:tc>
                  <a:txBody>
                    <a:bodyPr/>
                    <a:lstStyle/>
                    <a:p>
                      <a:r>
                        <a:rPr lang="en-US" sz="1600" dirty="0"/>
                        <a:t>(S)</a:t>
                      </a:r>
                    </a:p>
                  </a:txBody>
                  <a:tcPr/>
                </a:tc>
                <a:tc>
                  <a:txBody>
                    <a:bodyPr/>
                    <a:lstStyle/>
                    <a:p>
                      <a:r>
                        <a:rPr lang="en-US" sz="1600" dirty="0"/>
                        <a:t>Group a statement with higher precedence</a:t>
                      </a:r>
                    </a:p>
                  </a:txBody>
                  <a:tcPr/>
                </a:tc>
                <a:extLst>
                  <a:ext uri="{0D108BD9-81ED-4DB2-BD59-A6C34878D82A}">
                    <a16:rowId xmlns:a16="http://schemas.microsoft.com/office/drawing/2014/main" val="10004"/>
                  </a:ext>
                </a:extLst>
              </a:tr>
              <a:tr h="370840">
                <a:tc>
                  <a:txBody>
                    <a:bodyPr/>
                    <a:lstStyle/>
                    <a:p>
                      <a:r>
                        <a:rPr lang="en-US" sz="1600" dirty="0"/>
                        <a:t>v=E</a:t>
                      </a:r>
                    </a:p>
                  </a:txBody>
                  <a:tcPr/>
                </a:tc>
                <a:tc>
                  <a:txBody>
                    <a:bodyPr/>
                    <a:lstStyle/>
                    <a:p>
                      <a:r>
                        <a:rPr lang="en-US" sz="1600" dirty="0"/>
                        <a:t>Assign v to </a:t>
                      </a:r>
                      <a:r>
                        <a:rPr lang="en-US" sz="1600" baseline="0" dirty="0"/>
                        <a:t>expression E</a:t>
                      </a:r>
                      <a:endParaRPr lang="en-US" sz="1600" dirty="0"/>
                    </a:p>
                  </a:txBody>
                  <a:tcPr/>
                </a:tc>
                <a:extLst>
                  <a:ext uri="{0D108BD9-81ED-4DB2-BD59-A6C34878D82A}">
                    <a16:rowId xmlns:a16="http://schemas.microsoft.com/office/drawing/2014/main" val="10005"/>
                  </a:ext>
                </a:extLst>
              </a:tr>
              <a:tr h="370840">
                <a:tc>
                  <a:txBody>
                    <a:bodyPr/>
                    <a:lstStyle/>
                    <a:p>
                      <a:r>
                        <a:rPr lang="en-US" sz="1600" dirty="0"/>
                        <a:t>+  -  *  /  %  **</a:t>
                      </a:r>
                      <a:r>
                        <a:rPr lang="en-US" sz="1600" baseline="0" dirty="0"/>
                        <a:t>  &lt;&lt;  &gt;&gt;  log2(x)</a:t>
                      </a:r>
                      <a:endParaRPr lang="en-US" sz="1600" dirty="0"/>
                    </a:p>
                  </a:txBody>
                  <a:tcPr/>
                </a:tc>
                <a:tc>
                  <a:txBody>
                    <a:bodyPr/>
                    <a:lstStyle/>
                    <a:p>
                      <a:r>
                        <a:rPr lang="en-US" sz="1600" dirty="0"/>
                        <a:t>Arithmetic operators</a:t>
                      </a:r>
                    </a:p>
                  </a:txBody>
                  <a:tcPr/>
                </a:tc>
                <a:extLst>
                  <a:ext uri="{0D108BD9-81ED-4DB2-BD59-A6C34878D82A}">
                    <a16:rowId xmlns:a16="http://schemas.microsoft.com/office/drawing/2014/main" val="10006"/>
                  </a:ext>
                </a:extLst>
              </a:tr>
              <a:tr h="370840">
                <a:tc>
                  <a:txBody>
                    <a:bodyPr/>
                    <a:lstStyle/>
                    <a:p>
                      <a:r>
                        <a:rPr lang="en-US" sz="1600" dirty="0"/>
                        <a:t>~</a:t>
                      </a:r>
                      <a:r>
                        <a:rPr lang="en-US" sz="1600" baseline="0" dirty="0"/>
                        <a:t>  |  &amp;  ^  ||  &amp;&amp;</a:t>
                      </a:r>
                      <a:endParaRPr lang="en-US" sz="1600" dirty="0"/>
                    </a:p>
                  </a:txBody>
                  <a:tcPr/>
                </a:tc>
                <a:tc>
                  <a:txBody>
                    <a:bodyPr/>
                    <a:lstStyle/>
                    <a:p>
                      <a:r>
                        <a:rPr lang="en-US" sz="1600"/>
                        <a:t>Bitwise</a:t>
                      </a:r>
                      <a:r>
                        <a:rPr lang="en-US" sz="1600" baseline="0"/>
                        <a:t>/Boolean </a:t>
                      </a:r>
                      <a:r>
                        <a:rPr lang="en-US" sz="1600" baseline="0" dirty="0"/>
                        <a:t>operators</a:t>
                      </a:r>
                      <a:endParaRPr lang="en-US" sz="1600" dirty="0"/>
                    </a:p>
                  </a:txBody>
                  <a:tcPr/>
                </a:tc>
                <a:extLst>
                  <a:ext uri="{0D108BD9-81ED-4DB2-BD59-A6C34878D82A}">
                    <a16:rowId xmlns:a16="http://schemas.microsoft.com/office/drawing/2014/main" val="10007"/>
                  </a:ext>
                </a:extLst>
              </a:tr>
              <a:tr h="370840">
                <a:tc>
                  <a:txBody>
                    <a:bodyPr/>
                    <a:lstStyle/>
                    <a:p>
                      <a:r>
                        <a:rPr lang="en-US" sz="1600" dirty="0"/>
                        <a:t>==</a:t>
                      </a:r>
                      <a:r>
                        <a:rPr lang="en-US" sz="1600" baseline="0" dirty="0"/>
                        <a:t>  !=  &lt;  &gt;  &lt;=  &gt;=</a:t>
                      </a:r>
                      <a:endParaRPr lang="en-US" sz="1600" dirty="0"/>
                    </a:p>
                  </a:txBody>
                  <a:tcPr/>
                </a:tc>
                <a:tc>
                  <a:txBody>
                    <a:bodyPr/>
                    <a:lstStyle/>
                    <a:p>
                      <a:r>
                        <a:rPr lang="en-US" sz="1600" dirty="0"/>
                        <a:t>Comparison</a:t>
                      </a:r>
                      <a:r>
                        <a:rPr lang="en-US" sz="1600" baseline="0" dirty="0"/>
                        <a:t> operators</a:t>
                      </a:r>
                      <a:endParaRPr lang="en-US" sz="16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3778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27</a:t>
            </a:fld>
            <a:endParaRPr lang="en-US" dirty="0"/>
          </a:p>
        </p:txBody>
      </p:sp>
      <p:sp>
        <p:nvSpPr>
          <p:cNvPr id="3" name="Title 2"/>
          <p:cNvSpPr>
            <a:spLocks noGrp="1"/>
          </p:cNvSpPr>
          <p:nvPr>
            <p:ph type="title"/>
          </p:nvPr>
        </p:nvSpPr>
        <p:spPr/>
        <p:txBody>
          <a:bodyPr/>
          <a:lstStyle/>
          <a:p>
            <a:r>
              <a:rPr lang="en-US" dirty="0"/>
              <a:t>CSP Syntax: Communication and Flow Control</a:t>
            </a:r>
          </a:p>
        </p:txBody>
      </p:sp>
      <p:graphicFrame>
        <p:nvGraphicFramePr>
          <p:cNvPr id="5" name="Content Placeholder 4"/>
          <p:cNvGraphicFramePr>
            <a:graphicFrameLocks/>
          </p:cNvGraphicFramePr>
          <p:nvPr/>
        </p:nvGraphicFramePr>
        <p:xfrm>
          <a:off x="309283" y="1001805"/>
          <a:ext cx="8228012" cy="3688080"/>
        </p:xfrm>
        <a:graphic>
          <a:graphicData uri="http://schemas.openxmlformats.org/drawingml/2006/table">
            <a:tbl>
              <a:tblPr firstRow="1" bandRow="1">
                <a:tableStyleId>{5C22544A-7EE6-4342-B048-85BDC9FD1C3A}</a:tableStyleId>
              </a:tblPr>
              <a:tblGrid>
                <a:gridCol w="3939987">
                  <a:extLst>
                    <a:ext uri="{9D8B030D-6E8A-4147-A177-3AD203B41FA5}">
                      <a16:colId xmlns:a16="http://schemas.microsoft.com/office/drawing/2014/main" val="20000"/>
                    </a:ext>
                  </a:extLst>
                </a:gridCol>
                <a:gridCol w="4288025">
                  <a:extLst>
                    <a:ext uri="{9D8B030D-6E8A-4147-A177-3AD203B41FA5}">
                      <a16:colId xmlns:a16="http://schemas.microsoft.com/office/drawing/2014/main" val="20001"/>
                    </a:ext>
                  </a:extLst>
                </a:gridCol>
              </a:tblGrid>
              <a:tr h="267754">
                <a:tc>
                  <a:txBody>
                    <a:bodyPr/>
                    <a:lstStyle/>
                    <a:p>
                      <a:r>
                        <a:rPr lang="en-US" sz="1600" dirty="0"/>
                        <a:t>Syntax</a:t>
                      </a:r>
                    </a:p>
                  </a:txBody>
                  <a:tcPr/>
                </a:tc>
                <a:tc>
                  <a:txBody>
                    <a:bodyPr/>
                    <a:lstStyle/>
                    <a:p>
                      <a:r>
                        <a:rPr lang="en-US" sz="1600" dirty="0"/>
                        <a:t>Meaning</a:t>
                      </a:r>
                    </a:p>
                  </a:txBody>
                  <a:tcPr/>
                </a:tc>
                <a:extLst>
                  <a:ext uri="{0D108BD9-81ED-4DB2-BD59-A6C34878D82A}">
                    <a16:rowId xmlns:a16="http://schemas.microsoft.com/office/drawing/2014/main" val="10000"/>
                  </a:ext>
                </a:extLst>
              </a:tr>
              <a:tr h="294609">
                <a:tc>
                  <a:txBody>
                    <a:bodyPr/>
                    <a:lstStyle/>
                    <a:p>
                      <a:r>
                        <a:rPr lang="en-US" sz="1600" dirty="0" err="1"/>
                        <a:t>IN?v</a:t>
                      </a:r>
                      <a:endParaRPr lang="en-US" sz="1600" dirty="0"/>
                    </a:p>
                  </a:txBody>
                  <a:tcPr/>
                </a:tc>
                <a:tc>
                  <a:txBody>
                    <a:bodyPr/>
                    <a:lstStyle/>
                    <a:p>
                      <a:r>
                        <a:rPr lang="en-US" sz="1600" dirty="0"/>
                        <a:t>Receive from input channel</a:t>
                      </a:r>
                      <a:r>
                        <a:rPr lang="en-US" sz="1600" baseline="0" dirty="0"/>
                        <a:t> IN into v</a:t>
                      </a:r>
                      <a:endParaRPr lang="en-US" sz="1600" dirty="0"/>
                    </a:p>
                  </a:txBody>
                  <a:tcPr/>
                </a:tc>
                <a:extLst>
                  <a:ext uri="{0D108BD9-81ED-4DB2-BD59-A6C34878D82A}">
                    <a16:rowId xmlns:a16="http://schemas.microsoft.com/office/drawing/2014/main" val="10001"/>
                  </a:ext>
                </a:extLst>
              </a:tr>
              <a:tr h="294609">
                <a:tc>
                  <a:txBody>
                    <a:bodyPr/>
                    <a:lstStyle/>
                    <a:p>
                      <a:r>
                        <a:rPr lang="en-US" sz="1600" dirty="0"/>
                        <a:t>OUT!E</a:t>
                      </a:r>
                    </a:p>
                  </a:txBody>
                  <a:tcPr/>
                </a:tc>
                <a:tc>
                  <a:txBody>
                    <a:bodyPr/>
                    <a:lstStyle/>
                    <a:p>
                      <a:r>
                        <a:rPr lang="en-US" sz="1600" dirty="0"/>
                        <a:t>Send expression E to</a:t>
                      </a:r>
                      <a:r>
                        <a:rPr lang="en-US" sz="1600" baseline="0" dirty="0"/>
                        <a:t> output channel OUT</a:t>
                      </a:r>
                      <a:endParaRPr lang="en-US" sz="1600" dirty="0"/>
                    </a:p>
                  </a:txBody>
                  <a:tcPr/>
                </a:tc>
                <a:extLst>
                  <a:ext uri="{0D108BD9-81ED-4DB2-BD59-A6C34878D82A}">
                    <a16:rowId xmlns:a16="http://schemas.microsoft.com/office/drawing/2014/main" val="10002"/>
                  </a:ext>
                </a:extLst>
              </a:tr>
              <a:tr h="294609">
                <a:tc>
                  <a:txBody>
                    <a:bodyPr/>
                    <a:lstStyle/>
                    <a:p>
                      <a:r>
                        <a:rPr lang="en-US" sz="1600" dirty="0"/>
                        <a:t>#CHAN</a:t>
                      </a:r>
                    </a:p>
                  </a:txBody>
                  <a:tcPr/>
                </a:tc>
                <a:tc>
                  <a:txBody>
                    <a:bodyPr/>
                    <a:lstStyle/>
                    <a:p>
                      <a:r>
                        <a:rPr lang="en-US" sz="1600" dirty="0"/>
                        <a:t>Probe if a</a:t>
                      </a:r>
                      <a:r>
                        <a:rPr lang="en-US" sz="1600" baseline="0" dirty="0"/>
                        <a:t> channel is ready</a:t>
                      </a:r>
                      <a:endParaRPr lang="en-US" sz="1600" dirty="0"/>
                    </a:p>
                  </a:txBody>
                  <a:tcPr/>
                </a:tc>
                <a:extLst>
                  <a:ext uri="{0D108BD9-81ED-4DB2-BD59-A6C34878D82A}">
                    <a16:rowId xmlns:a16="http://schemas.microsoft.com/office/drawing/2014/main" val="10003"/>
                  </a:ext>
                </a:extLst>
              </a:tr>
              <a:tr h="294609">
                <a:tc>
                  <a:txBody>
                    <a:bodyPr/>
                    <a:lstStyle/>
                    <a:p>
                      <a:r>
                        <a:rPr lang="en-US" sz="1600" dirty="0"/>
                        <a:t>#IN?</a:t>
                      </a:r>
                    </a:p>
                  </a:txBody>
                  <a:tcPr/>
                </a:tc>
                <a:tc>
                  <a:txBody>
                    <a:bodyPr/>
                    <a:lstStyle/>
                    <a:p>
                      <a:r>
                        <a:rPr lang="en-US" sz="1600" dirty="0"/>
                        <a:t>Peek</a:t>
                      </a:r>
                      <a:r>
                        <a:rPr lang="en-US" sz="1600" baseline="0" dirty="0"/>
                        <a:t> the pending value of an input channel</a:t>
                      </a:r>
                      <a:endParaRPr lang="en-US" sz="1600" dirty="0"/>
                    </a:p>
                  </a:txBody>
                  <a:tcPr/>
                </a:tc>
                <a:extLst>
                  <a:ext uri="{0D108BD9-81ED-4DB2-BD59-A6C34878D82A}">
                    <a16:rowId xmlns:a16="http://schemas.microsoft.com/office/drawing/2014/main" val="10004"/>
                  </a:ext>
                </a:extLst>
              </a:tr>
              <a:tr h="294609">
                <a:tc>
                  <a:txBody>
                    <a:bodyPr/>
                    <a:lstStyle/>
                    <a:p>
                      <a:r>
                        <a:rPr lang="en-US" sz="1600" dirty="0"/>
                        <a:t>[E]</a:t>
                      </a:r>
                    </a:p>
                  </a:txBody>
                  <a:tcPr/>
                </a:tc>
                <a:tc>
                  <a:txBody>
                    <a:bodyPr/>
                    <a:lstStyle/>
                    <a:p>
                      <a:r>
                        <a:rPr lang="en-US" sz="1600" dirty="0"/>
                        <a:t>Wait for expression E to be true</a:t>
                      </a:r>
                    </a:p>
                  </a:txBody>
                  <a:tcPr/>
                </a:tc>
                <a:extLst>
                  <a:ext uri="{0D108BD9-81ED-4DB2-BD59-A6C34878D82A}">
                    <a16:rowId xmlns:a16="http://schemas.microsoft.com/office/drawing/2014/main" val="10005"/>
                  </a:ext>
                </a:extLst>
              </a:tr>
              <a:tr h="294609">
                <a:tc>
                  <a:txBody>
                    <a:bodyPr/>
                    <a:lstStyle/>
                    <a:p>
                      <a:r>
                        <a:rPr lang="en-US" sz="1600" dirty="0"/>
                        <a:t>[E1 -&gt; S1 [] E2</a:t>
                      </a:r>
                      <a:r>
                        <a:rPr lang="en-US" sz="1600" baseline="0" dirty="0"/>
                        <a:t> -&gt; S2 ]</a:t>
                      </a:r>
                      <a:endParaRPr lang="en-US" sz="1600" dirty="0"/>
                    </a:p>
                  </a:txBody>
                  <a:tcPr/>
                </a:tc>
                <a:tc>
                  <a:txBody>
                    <a:bodyPr/>
                    <a:lstStyle/>
                    <a:p>
                      <a:r>
                        <a:rPr lang="en-US" sz="1600" dirty="0"/>
                        <a:t>Wait for E1 or E2 then execute S1 or S2</a:t>
                      </a:r>
                    </a:p>
                  </a:txBody>
                  <a:tcPr/>
                </a:tc>
                <a:extLst>
                  <a:ext uri="{0D108BD9-81ED-4DB2-BD59-A6C34878D82A}">
                    <a16:rowId xmlns:a16="http://schemas.microsoft.com/office/drawing/2014/main" val="10006"/>
                  </a:ext>
                </a:extLst>
              </a:tr>
              <a:tr h="294609">
                <a:tc>
                  <a:txBody>
                    <a:bodyPr/>
                    <a:lstStyle/>
                    <a:p>
                      <a:r>
                        <a:rPr lang="en-US" sz="1600" dirty="0"/>
                        <a:t>[E1</a:t>
                      </a:r>
                      <a:r>
                        <a:rPr lang="en-US" sz="1600" baseline="0" dirty="0"/>
                        <a:t> -&gt; S1 [] E2 -&gt; S2 [] else -&gt; S3]</a:t>
                      </a:r>
                      <a:endParaRPr lang="en-US" sz="1600" dirty="0"/>
                    </a:p>
                  </a:txBody>
                  <a:tcPr/>
                </a:tc>
                <a:tc>
                  <a:txBody>
                    <a:bodyPr/>
                    <a:lstStyle/>
                    <a:p>
                      <a:r>
                        <a:rPr lang="en-US" sz="1600" dirty="0"/>
                        <a:t>If</a:t>
                      </a:r>
                      <a:r>
                        <a:rPr lang="en-US" sz="1600" baseline="0" dirty="0"/>
                        <a:t> neither E1 or E2 is true, do S3</a:t>
                      </a:r>
                      <a:endParaRPr lang="en-US" sz="1600" dirty="0"/>
                    </a:p>
                  </a:txBody>
                  <a:tcPr/>
                </a:tc>
                <a:extLst>
                  <a:ext uri="{0D108BD9-81ED-4DB2-BD59-A6C34878D82A}">
                    <a16:rowId xmlns:a16="http://schemas.microsoft.com/office/drawing/2014/main" val="10007"/>
                  </a:ext>
                </a:extLst>
              </a:tr>
              <a:tr h="294609">
                <a:tc>
                  <a:txBody>
                    <a:bodyPr/>
                    <a:lstStyle/>
                    <a:p>
                      <a:r>
                        <a:rPr lang="en-US" sz="1600" dirty="0"/>
                        <a:t>#[E1-&gt;S1 [] E2 -&gt; S2]</a:t>
                      </a:r>
                    </a:p>
                  </a:txBody>
                  <a:tcPr/>
                </a:tc>
                <a:tc>
                  <a:txBody>
                    <a:bodyPr/>
                    <a:lstStyle/>
                    <a:p>
                      <a:r>
                        <a:rPr lang="en-US" sz="1600" dirty="0"/>
                        <a:t>If</a:t>
                      </a:r>
                      <a:r>
                        <a:rPr lang="en-US" sz="1600" baseline="0" dirty="0"/>
                        <a:t> neither E1 or E2 is true, continue</a:t>
                      </a:r>
                      <a:endParaRPr lang="en-US" sz="1600" dirty="0"/>
                    </a:p>
                  </a:txBody>
                  <a:tcPr/>
                </a:tc>
                <a:extLst>
                  <a:ext uri="{0D108BD9-81ED-4DB2-BD59-A6C34878D82A}">
                    <a16:rowId xmlns:a16="http://schemas.microsoft.com/office/drawing/2014/main" val="10008"/>
                  </a:ext>
                </a:extLst>
              </a:tr>
              <a:tr h="294609">
                <a:tc>
                  <a:txBody>
                    <a:bodyPr/>
                    <a:lstStyle/>
                    <a:p>
                      <a:r>
                        <a:rPr lang="en-US" sz="1600" dirty="0"/>
                        <a:t>*[E</a:t>
                      </a:r>
                      <a:r>
                        <a:rPr lang="en-US" sz="1600" baseline="0" dirty="0"/>
                        <a:t> -&gt; S]</a:t>
                      </a:r>
                      <a:endParaRPr lang="en-US" sz="1600" dirty="0"/>
                    </a:p>
                  </a:txBody>
                  <a:tcPr/>
                </a:tc>
                <a:tc>
                  <a:txBody>
                    <a:bodyPr/>
                    <a:lstStyle/>
                    <a:p>
                      <a:r>
                        <a:rPr lang="en-US" sz="1600" dirty="0"/>
                        <a:t>W</a:t>
                      </a:r>
                      <a:r>
                        <a:rPr lang="en-US" sz="1600" baseline="0" dirty="0"/>
                        <a:t>hile E is true execute S</a:t>
                      </a:r>
                      <a:endParaRPr lang="en-US" sz="1600" dirty="0"/>
                    </a:p>
                  </a:txBody>
                  <a:tcPr/>
                </a:tc>
                <a:extLst>
                  <a:ext uri="{0D108BD9-81ED-4DB2-BD59-A6C34878D82A}">
                    <a16:rowId xmlns:a16="http://schemas.microsoft.com/office/drawing/2014/main" val="10009"/>
                  </a:ext>
                </a:extLst>
              </a:tr>
              <a:tr h="294609">
                <a:tc>
                  <a:txBody>
                    <a:bodyPr/>
                    <a:lstStyle/>
                    <a:p>
                      <a:r>
                        <a:rPr lang="en-US" sz="1600" dirty="0"/>
                        <a:t>*[S]</a:t>
                      </a:r>
                    </a:p>
                  </a:txBody>
                  <a:tcPr/>
                </a:tc>
                <a:tc>
                  <a:txBody>
                    <a:bodyPr/>
                    <a:lstStyle/>
                    <a:p>
                      <a:r>
                        <a:rPr lang="en-US" sz="1600" dirty="0"/>
                        <a:t>Repea</a:t>
                      </a:r>
                      <a:r>
                        <a:rPr lang="en-US" sz="1600" baseline="0" dirty="0"/>
                        <a:t>t S forever</a:t>
                      </a:r>
                      <a:endParaRPr lang="en-US" sz="1600"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774792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28</a:t>
            </a:fld>
            <a:endParaRPr lang="en-US" dirty="0"/>
          </a:p>
        </p:txBody>
      </p:sp>
      <p:sp>
        <p:nvSpPr>
          <p:cNvPr id="3" name="Title 2"/>
          <p:cNvSpPr>
            <a:spLocks noGrp="1"/>
          </p:cNvSpPr>
          <p:nvPr>
            <p:ph type="title"/>
          </p:nvPr>
        </p:nvSpPr>
        <p:spPr/>
        <p:txBody>
          <a:bodyPr/>
          <a:lstStyle/>
          <a:p>
            <a:r>
              <a:rPr lang="en-US" dirty="0"/>
              <a:t>CSP Syntax: Structures and Functions</a:t>
            </a:r>
          </a:p>
        </p:txBody>
      </p:sp>
      <p:sp>
        <p:nvSpPr>
          <p:cNvPr id="4" name="Content Placeholder 3"/>
          <p:cNvSpPr>
            <a:spLocks noGrp="1"/>
          </p:cNvSpPr>
          <p:nvPr>
            <p:ph sz="quarter" idx="13"/>
          </p:nvPr>
        </p:nvSpPr>
        <p:spPr>
          <a:xfrm>
            <a:off x="455613" y="894229"/>
            <a:ext cx="8228012" cy="3734921"/>
          </a:xfrm>
        </p:spPr>
        <p:txBody>
          <a:bodyPr/>
          <a:lstStyle/>
          <a:p>
            <a:pPr algn="ctr"/>
            <a:r>
              <a:rPr lang="en-US" b="1" dirty="0">
                <a:solidFill>
                  <a:schemeClr val="tx1"/>
                </a:solidFill>
                <a:latin typeface="Verdana" panose="020B0604030504040204" pitchFamily="34" charset="0"/>
                <a:ea typeface="Verdana" panose="020B0604030504040204" pitchFamily="34" charset="0"/>
                <a:cs typeface="Verdana" panose="020B0604030504040204" pitchFamily="34" charset="0"/>
              </a:rPr>
              <a:t>structure</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i="1" dirty="0" err="1">
                <a:solidFill>
                  <a:schemeClr val="tx1"/>
                </a:solidFill>
                <a:latin typeface="Verdana" panose="020B0604030504040204" pitchFamily="34" charset="0"/>
                <a:ea typeface="Verdana" panose="020B0604030504040204" pitchFamily="34" charset="0"/>
                <a:cs typeface="Verdana" panose="020B0604030504040204" pitchFamily="34" charset="0"/>
              </a:rPr>
              <a:t>struct_type</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 (</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(3) x, y; </a:t>
            </a:r>
            <a:r>
              <a:rPr lang="en-US" i="1" dirty="0" err="1">
                <a:solidFill>
                  <a:schemeClr val="tx1"/>
                </a:solidFill>
                <a:latin typeface="Verdana" panose="020B0604030504040204" pitchFamily="34" charset="0"/>
                <a:ea typeface="Verdana" panose="020B0604030504040204" pitchFamily="34" charset="0"/>
                <a:cs typeface="Verdana" panose="020B0604030504040204" pitchFamily="34" charset="0"/>
              </a:rPr>
              <a:t>sub_struct_type</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z);</a:t>
            </a:r>
          </a:p>
          <a:p>
            <a:r>
              <a:rPr lang="en-US" dirty="0"/>
              <a:t>Declare a structure variable with “</a:t>
            </a:r>
            <a:r>
              <a:rPr lang="en-US" i="1" dirty="0" err="1"/>
              <a:t>struct_type</a:t>
            </a:r>
            <a:r>
              <a:rPr lang="en-US" dirty="0"/>
              <a:t> </a:t>
            </a:r>
            <a:r>
              <a:rPr lang="en-US" dirty="0" err="1"/>
              <a:t>struct_name</a:t>
            </a:r>
            <a:r>
              <a:rPr lang="en-US" dirty="0"/>
              <a:t>”.  Access fields with “</a:t>
            </a:r>
            <a:r>
              <a:rPr lang="en-US" dirty="0" err="1"/>
              <a:t>struct_name</a:t>
            </a:r>
            <a:r>
              <a:rPr lang="en-US" dirty="0"/>
              <a:t>::</a:t>
            </a:r>
            <a:r>
              <a:rPr lang="en-US" dirty="0" err="1"/>
              <a:t>field_name</a:t>
            </a:r>
            <a:r>
              <a:rPr lang="en-US" dirty="0"/>
              <a:t>”.</a:t>
            </a:r>
          </a:p>
          <a:p>
            <a:pPr algn="ctr"/>
            <a:r>
              <a:rPr lang="en-US" b="1" dirty="0">
                <a:solidFill>
                  <a:schemeClr val="tx1"/>
                </a:solidFill>
                <a:latin typeface="Verdana" panose="020B0604030504040204" pitchFamily="34" charset="0"/>
                <a:ea typeface="Verdana" panose="020B0604030504040204" pitchFamily="34" charset="0"/>
                <a:cs typeface="Verdana" panose="020B0604030504040204" pitchFamily="34" charset="0"/>
              </a:rPr>
              <a:t>function</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i="1" dirty="0" err="1">
                <a:solidFill>
                  <a:schemeClr val="tx1"/>
                </a:solidFill>
                <a:latin typeface="Verdana" panose="020B0604030504040204" pitchFamily="34" charset="0"/>
                <a:ea typeface="Verdana" panose="020B0604030504040204" pitchFamily="34" charset="0"/>
                <a:cs typeface="Verdana" panose="020B0604030504040204" pitchFamily="34" charset="0"/>
              </a:rPr>
              <a:t>func</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(int(4) –a, -b; </a:t>
            </a:r>
            <a:r>
              <a:rPr lang="en-US" i="1" dirty="0" err="1">
                <a:solidFill>
                  <a:schemeClr val="tx1"/>
                </a:solidFill>
                <a:latin typeface="Verdana" panose="020B0604030504040204" pitchFamily="34" charset="0"/>
                <a:ea typeface="Verdana" panose="020B0604030504040204" pitchFamily="34" charset="0"/>
                <a:cs typeface="Verdana" panose="020B0604030504040204" pitchFamily="34" charset="0"/>
              </a:rPr>
              <a:t>struct_type</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-+z[10]) : type = (S);</a:t>
            </a:r>
          </a:p>
          <a:p>
            <a:r>
              <a:rPr lang="en-US" dirty="0"/>
              <a:t>Input parameters use “-”, outputs use “+”, in-out use “-+”.  There are no pointers; inputs are copied to local variables upon entering the function, and outputs are assigned from local variables upon leaving the function.</a:t>
            </a:r>
          </a:p>
          <a:p>
            <a:r>
              <a:rPr lang="en-US" dirty="0"/>
              <a:t>The return type is optional and can be any variable type including a structure.  To set the return value you assign to the name of the structure (”</a:t>
            </a:r>
            <a:r>
              <a:rPr lang="en-US" i="1" dirty="0" err="1"/>
              <a:t>func</a:t>
            </a:r>
            <a:r>
              <a:rPr lang="en-US" dirty="0"/>
              <a:t>=E”).</a:t>
            </a:r>
          </a:p>
          <a:p>
            <a:r>
              <a:rPr lang="en-US" dirty="0"/>
              <a:t>Functions are called as </a:t>
            </a:r>
            <a:r>
              <a:rPr lang="en-US" i="1" dirty="0" err="1"/>
              <a:t>func</a:t>
            </a:r>
            <a:r>
              <a:rPr lang="en-US" dirty="0"/>
              <a:t>(</a:t>
            </a:r>
            <a:r>
              <a:rPr lang="en-US" dirty="0" err="1"/>
              <a:t>params</a:t>
            </a:r>
            <a:r>
              <a:rPr lang="en-US" dirty="0"/>
              <a:t>) and can be used in expressions if they have a suitable return type.</a:t>
            </a:r>
          </a:p>
        </p:txBody>
      </p:sp>
    </p:spTree>
    <p:extLst>
      <p:ext uri="{BB962C8B-B14F-4D97-AF65-F5344CB8AC3E}">
        <p14:creationId xmlns:p14="http://schemas.microsoft.com/office/powerpoint/2010/main" val="741532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49232" y="2244965"/>
            <a:ext cx="3321339" cy="943818"/>
          </a:xfrm>
        </p:spPr>
        <p:txBody>
          <a:bodyPr/>
          <a:lstStyle/>
          <a:p>
            <a:pPr algn="l"/>
            <a:r>
              <a:rPr lang="en-US" dirty="0"/>
              <a:t>SUBCELLS</a:t>
            </a:r>
          </a:p>
        </p:txBody>
      </p:sp>
      <p:sp>
        <p:nvSpPr>
          <p:cNvPr id="2" name="Slide Number Placeholder 1"/>
          <p:cNvSpPr>
            <a:spLocks noGrp="1"/>
          </p:cNvSpPr>
          <p:nvPr>
            <p:ph type="sldNum" sz="quarter" idx="4294967295"/>
          </p:nvPr>
        </p:nvSpPr>
        <p:spPr>
          <a:xfrm>
            <a:off x="7010400" y="4824413"/>
            <a:ext cx="2133600" cy="273050"/>
          </a:xfrm>
        </p:spPr>
        <p:txBody>
          <a:bodyPr/>
          <a:lstStyle/>
          <a:p>
            <a:fld id="{EE2556C5-CE8C-6547-B838-EA80C61A4AF7}" type="slidenum">
              <a:rPr lang="en-US" smtClean="0"/>
              <a:pPr/>
              <a:t>29</a:t>
            </a:fld>
            <a:endParaRPr lang="en-US" dirty="0"/>
          </a:p>
        </p:txBody>
      </p:sp>
    </p:spTree>
    <p:extLst>
      <p:ext uri="{BB962C8B-B14F-4D97-AF65-F5344CB8AC3E}">
        <p14:creationId xmlns:p14="http://schemas.microsoft.com/office/powerpoint/2010/main" val="125837895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en-US"/>
              <a:t>Subcells Block</a:t>
            </a:r>
          </a:p>
        </p:txBody>
      </p:sp>
      <p:sp>
        <p:nvSpPr>
          <p:cNvPr id="61443" name="Rectangle 3"/>
          <p:cNvSpPr>
            <a:spLocks noGrp="1" noChangeArrowheads="1"/>
          </p:cNvSpPr>
          <p:nvPr>
            <p:ph idx="1"/>
          </p:nvPr>
        </p:nvSpPr>
        <p:spPr>
          <a:xfrm>
            <a:off x="629055" y="995363"/>
            <a:ext cx="7106436" cy="3650456"/>
          </a:xfrm>
        </p:spPr>
        <p:txBody>
          <a:bodyPr/>
          <a:lstStyle/>
          <a:p>
            <a:pPr marL="285750" indent="-285750" eaLnBrk="1" hangingPunct="1">
              <a:buFont typeface="Arial" panose="020B0604020202020204" pitchFamily="34" charset="0"/>
              <a:buChar char="•"/>
            </a:pPr>
            <a:r>
              <a:rPr lang="en-US" altLang="en-US" dirty="0" err="1"/>
              <a:t>Subcells</a:t>
            </a:r>
            <a:r>
              <a:rPr lang="en-US" altLang="en-US" dirty="0"/>
              <a:t> block is used to structure the decomposition</a:t>
            </a:r>
          </a:p>
          <a:p>
            <a:pPr marL="285750" indent="-285750" eaLnBrk="1" hangingPunct="1">
              <a:buFont typeface="Arial" panose="020B0604020202020204" pitchFamily="34" charset="0"/>
              <a:buChar char="•"/>
            </a:pPr>
            <a:r>
              <a:rPr lang="en-US" altLang="en-US" dirty="0"/>
              <a:t>It contains node/channel/</a:t>
            </a:r>
            <a:r>
              <a:rPr lang="en-US" altLang="en-US" dirty="0" err="1"/>
              <a:t>subcell</a:t>
            </a:r>
            <a:r>
              <a:rPr lang="en-US" altLang="en-US" dirty="0"/>
              <a:t> instantiations</a:t>
            </a:r>
          </a:p>
          <a:p>
            <a:pPr lvl="2"/>
            <a:r>
              <a:rPr lang="en-US" altLang="en-US" dirty="0"/>
              <a:t>All instantiations are private to this block</a:t>
            </a:r>
          </a:p>
          <a:p>
            <a:pPr marL="285750" indent="-285750" eaLnBrk="1" hangingPunct="1">
              <a:buFont typeface="Arial" panose="020B0604020202020204" pitchFamily="34" charset="0"/>
              <a:buChar char="•"/>
            </a:pPr>
            <a:r>
              <a:rPr lang="en-US" altLang="en-US" dirty="0" err="1"/>
              <a:t>Subcells</a:t>
            </a:r>
            <a:r>
              <a:rPr lang="en-US" altLang="en-US" dirty="0"/>
              <a:t> block cannot co-exist with PRS block</a:t>
            </a:r>
          </a:p>
          <a:p>
            <a:pPr lvl="1" eaLnBrk="1" hangingPunct="1"/>
            <a:endParaRPr lang="en-US" altLang="en-US" dirty="0"/>
          </a:p>
        </p:txBody>
      </p:sp>
      <p:sp>
        <p:nvSpPr>
          <p:cNvPr id="61444"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00" b="1">
                <a:solidFill>
                  <a:schemeClr val="tx1"/>
                </a:solidFill>
                <a:latin typeface="Helvetica" panose="020B0604020202020204" pitchFamily="34" charset="0"/>
              </a:defRPr>
            </a:lvl1pPr>
            <a:lvl2pPr marL="557213" indent="-214313">
              <a:defRPr sz="1800" b="1">
                <a:solidFill>
                  <a:schemeClr val="tx1"/>
                </a:solidFill>
                <a:latin typeface="Helvetica" panose="020B0604020202020204" pitchFamily="34" charset="0"/>
              </a:defRPr>
            </a:lvl2pPr>
            <a:lvl3pPr marL="857250" indent="-171450">
              <a:defRPr sz="1800" b="1">
                <a:solidFill>
                  <a:schemeClr val="tx1"/>
                </a:solidFill>
                <a:latin typeface="Helvetica" panose="020B0604020202020204" pitchFamily="34" charset="0"/>
              </a:defRPr>
            </a:lvl3pPr>
            <a:lvl4pPr marL="1200150" indent="-171450">
              <a:defRPr sz="1800" b="1">
                <a:solidFill>
                  <a:schemeClr val="tx1"/>
                </a:solidFill>
                <a:latin typeface="Helvetica" panose="020B0604020202020204" pitchFamily="34" charset="0"/>
              </a:defRPr>
            </a:lvl4pPr>
            <a:lvl5pPr marL="1543050" indent="-171450">
              <a:defRPr sz="1800" b="1">
                <a:solidFill>
                  <a:schemeClr val="tx1"/>
                </a:solidFill>
                <a:latin typeface="Helvetica" panose="020B0604020202020204" pitchFamily="34" charset="0"/>
              </a:defRPr>
            </a:lvl5pPr>
            <a:lvl6pPr marL="1885950" indent="-171450" eaLnBrk="0" fontAlgn="base" hangingPunct="0">
              <a:spcBef>
                <a:spcPct val="0"/>
              </a:spcBef>
              <a:spcAft>
                <a:spcPct val="0"/>
              </a:spcAft>
              <a:defRPr sz="1800" b="1">
                <a:solidFill>
                  <a:schemeClr val="tx1"/>
                </a:solidFill>
                <a:latin typeface="Helvetica" panose="020B0604020202020204" pitchFamily="34" charset="0"/>
              </a:defRPr>
            </a:lvl6pPr>
            <a:lvl7pPr marL="2228850" indent="-171450" eaLnBrk="0" fontAlgn="base" hangingPunct="0">
              <a:spcBef>
                <a:spcPct val="0"/>
              </a:spcBef>
              <a:spcAft>
                <a:spcPct val="0"/>
              </a:spcAft>
              <a:defRPr sz="1800" b="1">
                <a:solidFill>
                  <a:schemeClr val="tx1"/>
                </a:solidFill>
                <a:latin typeface="Helvetica" panose="020B0604020202020204" pitchFamily="34" charset="0"/>
              </a:defRPr>
            </a:lvl7pPr>
            <a:lvl8pPr marL="2571750" indent="-171450" eaLnBrk="0" fontAlgn="base" hangingPunct="0">
              <a:spcBef>
                <a:spcPct val="0"/>
              </a:spcBef>
              <a:spcAft>
                <a:spcPct val="0"/>
              </a:spcAft>
              <a:defRPr sz="1800" b="1">
                <a:solidFill>
                  <a:schemeClr val="tx1"/>
                </a:solidFill>
                <a:latin typeface="Helvetica" panose="020B0604020202020204" pitchFamily="34" charset="0"/>
              </a:defRPr>
            </a:lvl8pPr>
            <a:lvl9pPr marL="2914650" indent="-171450" eaLnBrk="0" fontAlgn="base" hangingPunct="0">
              <a:spcBef>
                <a:spcPct val="0"/>
              </a:spcBef>
              <a:spcAft>
                <a:spcPct val="0"/>
              </a:spcAft>
              <a:defRPr sz="1800" b="1">
                <a:solidFill>
                  <a:schemeClr val="tx1"/>
                </a:solidFill>
                <a:latin typeface="Helvetica" panose="020B0604020202020204" pitchFamily="34" charset="0"/>
              </a:defRPr>
            </a:lvl9pPr>
          </a:lstStyle>
          <a:p>
            <a:fld id="{690D9516-F5E8-4004-9D08-3E8214E0CEBC}" type="slidenum">
              <a:rPr lang="en-US" altLang="en-US" sz="600">
                <a:solidFill>
                  <a:srgbClr val="FFFFFF"/>
                </a:solidFill>
                <a:latin typeface="Verdana" panose="020B0604030504040204" pitchFamily="34" charset="0"/>
              </a:rPr>
              <a:pPr/>
              <a:t>30</a:t>
            </a:fld>
            <a:endParaRPr lang="en-US" altLang="en-US" sz="600">
              <a:solidFill>
                <a:srgbClr val="FFFFFF"/>
              </a:solidFill>
              <a:latin typeface="Verdana" panose="020B0604030504040204" pitchFamily="34" charset="0"/>
            </a:endParaRPr>
          </a:p>
        </p:txBody>
      </p:sp>
    </p:spTree>
    <p:extLst>
      <p:ext uri="{BB962C8B-B14F-4D97-AF65-F5344CB8AC3E}">
        <p14:creationId xmlns:p14="http://schemas.microsoft.com/office/powerpoint/2010/main" val="1206006099"/>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SUBCELLS Deep-dive</a:t>
            </a:r>
          </a:p>
        </p:txBody>
      </p:sp>
      <p:sp>
        <p:nvSpPr>
          <p:cNvPr id="5" name="Content Placeholder 4"/>
          <p:cNvSpPr>
            <a:spLocks noGrp="1"/>
          </p:cNvSpPr>
          <p:nvPr>
            <p:ph sz="quarter" idx="13"/>
          </p:nvPr>
        </p:nvSpPr>
        <p:spPr>
          <a:xfrm>
            <a:off x="312177" y="1025752"/>
            <a:ext cx="5467300" cy="3694579"/>
          </a:xfrm>
        </p:spPr>
        <p:txBody>
          <a:bodyPr/>
          <a:lstStyle/>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BD multiplier **/</a:t>
            </a:r>
          </a:p>
          <a:p>
            <a:pPr>
              <a:spcBef>
                <a:spcPts val="0"/>
              </a:spcBef>
            </a:pPr>
            <a:endParaRPr lang="en-US" sz="1000" dirty="0">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module</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lib.bd.math.multiply</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import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lib.bd.math.add.ABSTRACT_ADD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import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lib.bd.source.bitgen.BD_BG</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import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lib.bd.sink.bitbucket.BD_BB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import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lib.bd.standard.pipeline</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endParaRPr lang="en-US" sz="1000" dirty="0">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Abstract **/</a:t>
            </a: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define</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ABSTRACT_MUL(</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W, COLS_PER_PIPE)(</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-X, -Y;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(2*W) +Z)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x,y</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X?x</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Y?y</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Z!x</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*y]</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directives {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internal_slack</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(Z) = (W-1)/COLS_PER_PIPE; } </a:t>
            </a:r>
          </a:p>
          <a:p>
            <a:pPr>
              <a:spcBef>
                <a:spcPts val="0"/>
              </a:spcBef>
            </a:pPr>
            <a:r>
              <a:rPr lang="en-US" sz="1000" b="1" dirty="0">
                <a:solidFill>
                  <a:schemeClr val="tx1"/>
                </a:solidFill>
                <a:latin typeface="Consolas" panose="020B0609020204030204" pitchFamily="49" charset="0"/>
                <a:ea typeface="Verdana" panose="020B0604030504040204" pitchFamily="34" charset="0"/>
                <a:cs typeface="Consolas" panose="020B0609020204030204" pitchFamily="49" charset="0"/>
              </a:rPr>
              <a:t>  }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env</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digital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subcells</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_(X);</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_(Y);</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sink_bd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(2*W) _(Z);</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directives</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ntpc_spec</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Z.C.q</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 36;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endParaRPr lang="en-US" sz="1000" dirty="0">
              <a:latin typeface="Consolas" panose="020B0609020204030204" pitchFamily="49" charset="0"/>
              <a:cs typeface="Consolas" panose="020B0609020204030204" pitchFamily="49" charset="0"/>
            </a:endParaRPr>
          </a:p>
        </p:txBody>
      </p:sp>
      <p:grpSp>
        <p:nvGrpSpPr>
          <p:cNvPr id="6" name="Group 5"/>
          <p:cNvGrpSpPr/>
          <p:nvPr/>
        </p:nvGrpSpPr>
        <p:grpSpPr>
          <a:xfrm>
            <a:off x="5913767" y="1741435"/>
            <a:ext cx="1917552" cy="2043979"/>
            <a:chOff x="5877908" y="1753388"/>
            <a:chExt cx="1917552" cy="2043979"/>
          </a:xfrm>
        </p:grpSpPr>
        <p:sp>
          <p:nvSpPr>
            <p:cNvPr id="7" name="Rounded Rectangle 6"/>
            <p:cNvSpPr/>
            <p:nvPr/>
          </p:nvSpPr>
          <p:spPr bwMode="auto">
            <a:xfrm>
              <a:off x="6494927" y="1753388"/>
              <a:ext cx="754849" cy="2043979"/>
            </a:xfrm>
            <a:prstGeom prst="round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12700" algn="ctr">
              <a:solidFill>
                <a:schemeClr val="bg1"/>
              </a:solidFill>
              <a:round/>
              <a:headEnd type="none" w="sm" len="sm"/>
              <a:tailEnd type="none" w="sm" len="sm"/>
            </a:ln>
            <a:effectLst>
              <a:outerShdw blurRad="50800" dist="38100" dir="5400000" algn="t" rotWithShape="0">
                <a:prstClr val="black">
                  <a:alpha val="40000"/>
                </a:prstClr>
              </a:outerShdw>
            </a:effectLst>
          </p:spPr>
          <p:txBody>
            <a:bodyPr wrap="square" lIns="0" tIns="0" rIns="0" bIns="0" rtlCol="0" anchor="ctr"/>
            <a:lstStyle/>
            <a:p>
              <a:pPr algn="ctr" eaLnBrk="0" hangingPunct="0"/>
              <a:r>
                <a:rPr lang="en-US" dirty="0">
                  <a:solidFill>
                    <a:schemeClr val="bg1"/>
                  </a:solidFill>
                </a:rPr>
                <a:t>MUL</a:t>
              </a:r>
              <a:endParaRPr lang="en-US" sz="1050" dirty="0">
                <a:solidFill>
                  <a:schemeClr val="bg1"/>
                </a:solidFill>
              </a:endParaRPr>
            </a:p>
          </p:txBody>
        </p:sp>
        <p:cxnSp>
          <p:nvCxnSpPr>
            <p:cNvPr id="8" name="Straight Arrow Connector 7"/>
            <p:cNvCxnSpPr/>
            <p:nvPr/>
          </p:nvCxnSpPr>
          <p:spPr>
            <a:xfrm flipV="1">
              <a:off x="6127931" y="2435484"/>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7249776" y="2770253"/>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6127931" y="3201749"/>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77908" y="2312373"/>
              <a:ext cx="131446" cy="246221"/>
            </a:xfrm>
            <a:prstGeom prst="rect">
              <a:avLst/>
            </a:prstGeom>
            <a:noFill/>
          </p:spPr>
          <p:txBody>
            <a:bodyPr vert="horz" wrap="none" lIns="0" tIns="0" rIns="0" bIns="0" rtlCol="0">
              <a:spAutoFit/>
            </a:bodyPr>
            <a:lstStyle/>
            <a:p>
              <a:r>
                <a:rPr lang="en-US" sz="1600" dirty="0">
                  <a:solidFill>
                    <a:srgbClr val="003C71"/>
                  </a:solidFill>
                </a:rPr>
                <a:t>X</a:t>
              </a:r>
              <a:endParaRPr lang="en-US" sz="1100" dirty="0">
                <a:solidFill>
                  <a:srgbClr val="003C71"/>
                </a:solidFill>
              </a:endParaRPr>
            </a:p>
          </p:txBody>
        </p:sp>
        <p:sp>
          <p:nvSpPr>
            <p:cNvPr id="12" name="TextBox 11"/>
            <p:cNvSpPr txBox="1"/>
            <p:nvPr/>
          </p:nvSpPr>
          <p:spPr>
            <a:xfrm>
              <a:off x="5877908" y="3078638"/>
              <a:ext cx="126638" cy="246221"/>
            </a:xfrm>
            <a:prstGeom prst="rect">
              <a:avLst/>
            </a:prstGeom>
            <a:noFill/>
          </p:spPr>
          <p:txBody>
            <a:bodyPr vert="horz" wrap="none" lIns="0" tIns="0" rIns="0" bIns="0" rtlCol="0">
              <a:spAutoFit/>
            </a:bodyPr>
            <a:lstStyle/>
            <a:p>
              <a:r>
                <a:rPr lang="en-US" sz="1600" dirty="0">
                  <a:solidFill>
                    <a:srgbClr val="003C71"/>
                  </a:solidFill>
                </a:rPr>
                <a:t>Y</a:t>
              </a:r>
              <a:endParaRPr lang="en-US" sz="1100" dirty="0">
                <a:solidFill>
                  <a:srgbClr val="003C71"/>
                </a:solidFill>
              </a:endParaRPr>
            </a:p>
          </p:txBody>
        </p:sp>
        <p:sp>
          <p:nvSpPr>
            <p:cNvPr id="13" name="TextBox 12"/>
            <p:cNvSpPr txBox="1"/>
            <p:nvPr/>
          </p:nvSpPr>
          <p:spPr>
            <a:xfrm>
              <a:off x="7673632" y="2645005"/>
              <a:ext cx="121828" cy="246221"/>
            </a:xfrm>
            <a:prstGeom prst="rect">
              <a:avLst/>
            </a:prstGeom>
            <a:noFill/>
          </p:spPr>
          <p:txBody>
            <a:bodyPr vert="horz" wrap="none" lIns="0" tIns="0" rIns="0" bIns="0" rtlCol="0">
              <a:spAutoFit/>
            </a:bodyPr>
            <a:lstStyle/>
            <a:p>
              <a:r>
                <a:rPr lang="en-US" sz="1600" dirty="0">
                  <a:solidFill>
                    <a:srgbClr val="003C71"/>
                  </a:solidFill>
                </a:rPr>
                <a:t>Z</a:t>
              </a:r>
              <a:endParaRPr lang="en-US" sz="1100" dirty="0">
                <a:solidFill>
                  <a:srgbClr val="003C71"/>
                </a:solidFill>
              </a:endParaRPr>
            </a:p>
          </p:txBody>
        </p:sp>
      </p:grpSp>
    </p:spTree>
    <p:extLst>
      <p:ext uri="{BB962C8B-B14F-4D97-AF65-F5344CB8AC3E}">
        <p14:creationId xmlns:p14="http://schemas.microsoft.com/office/powerpoint/2010/main" val="3746587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ounded Rectangle 29"/>
          <p:cNvSpPr/>
          <p:nvPr/>
        </p:nvSpPr>
        <p:spPr bwMode="auto">
          <a:xfrm>
            <a:off x="6108757" y="797727"/>
            <a:ext cx="420997" cy="2043979"/>
          </a:xfrm>
          <a:prstGeom prst="round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12700" algn="ctr">
            <a:solidFill>
              <a:schemeClr val="bg1"/>
            </a:solidFill>
            <a:round/>
            <a:headEnd type="none" w="sm" len="sm"/>
            <a:tailEnd type="none" w="sm" len="sm"/>
          </a:ln>
          <a:effectLst>
            <a:outerShdw blurRad="50800" dist="38100" dir="5400000" algn="t" rotWithShape="0">
              <a:prstClr val="black">
                <a:alpha val="40000"/>
              </a:prstClr>
            </a:outerShdw>
          </a:effectLst>
        </p:spPr>
        <p:txBody>
          <a:bodyPr vert="vert" wrap="square" lIns="0" tIns="0" rIns="0" bIns="0" rtlCol="0" anchor="ctr"/>
          <a:lstStyle/>
          <a:p>
            <a:pPr algn="ctr"/>
            <a:r>
              <a:rPr lang="en-US" dirty="0">
                <a:solidFill>
                  <a:schemeClr val="bg1"/>
                </a:solidFill>
              </a:rPr>
              <a:t>MUL_COLUMN_1</a:t>
            </a:r>
          </a:p>
        </p:txBody>
      </p:sp>
      <p:sp>
        <p:nvSpPr>
          <p:cNvPr id="2" name="Slide Number Placeholder 1"/>
          <p:cNvSpPr>
            <a:spLocks noGrp="1"/>
          </p:cNvSpPr>
          <p:nvPr>
            <p:ph type="sldNum" sz="quarter" idx="12"/>
          </p:nvPr>
        </p:nvSpPr>
        <p:spPr/>
        <p:txBody>
          <a:bodyPr/>
          <a:lstStyle/>
          <a:p>
            <a:fld id="{EE2556C5-CE8C-6547-B838-EA80C61A4AF7}" type="slidenum">
              <a:rPr lang="en-US" smtClean="0"/>
              <a:pPr/>
              <a:t>32</a:t>
            </a:fld>
            <a:endParaRPr lang="en-US" dirty="0"/>
          </a:p>
        </p:txBody>
      </p:sp>
      <p:sp>
        <p:nvSpPr>
          <p:cNvPr id="4" name="Content Placeholder 3"/>
          <p:cNvSpPr>
            <a:spLocks noGrp="1"/>
          </p:cNvSpPr>
          <p:nvPr>
            <p:ph sz="quarter" idx="4294967295"/>
          </p:nvPr>
        </p:nvSpPr>
        <p:spPr>
          <a:xfrm>
            <a:off x="273527" y="627186"/>
            <a:ext cx="4175381" cy="4173456"/>
          </a:xfrm>
        </p:spPr>
        <p:txBody>
          <a:bodyPr/>
          <a:lstStyle/>
          <a:p>
            <a:pPr>
              <a:spcBef>
                <a:spcPts val="0"/>
              </a:spcBef>
            </a:pPr>
            <a:r>
              <a:rPr lang="en-US" sz="700" dirty="0">
                <a:solidFill>
                  <a:srgbClr val="008000"/>
                </a:solidFill>
                <a:latin typeface="Consolas" panose="020B0609020204030204" pitchFamily="49" charset="0"/>
                <a:ea typeface="Verdana" panose="020B0604030504040204" pitchFamily="34" charset="0"/>
                <a:cs typeface="Consolas" panose="020B0609020204030204" pitchFamily="49" charset="0"/>
              </a:rPr>
              <a:t>/** Multiplier core **/</a:t>
            </a:r>
          </a:p>
          <a:p>
            <a:pPr>
              <a:spcBef>
                <a:spcPts val="0"/>
              </a:spcBef>
            </a:pPr>
            <a:r>
              <a:rPr lang="en-US" sz="700" b="1" dirty="0">
                <a:solidFill>
                  <a:srgbClr val="0000FF"/>
                </a:solidFill>
                <a:latin typeface="Consolas" panose="020B0609020204030204" pitchFamily="49" charset="0"/>
                <a:ea typeface="Verdana" panose="020B0604030504040204" pitchFamily="34" charset="0"/>
                <a:cs typeface="Consolas" panose="020B0609020204030204" pitchFamily="49" charset="0"/>
              </a:rPr>
              <a:t>define</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MUL(</a:t>
            </a:r>
            <a:r>
              <a:rPr lang="en-US" sz="7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W, COLS_PER_PIPE) &lt;: ABSTRACT_MUL(W, COLS_PER_PIPE)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subcells</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(W) a[0..W],b[0..W],x[0..W],s;</a:t>
            </a:r>
            <a:endParaRPr lang="en-US" sz="600" u="sng"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(1)[W]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y,z</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BD_BG(W,0)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bgA</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(a[0]);</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BD_BG(W,0)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bgB</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(b[0]);</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x[0]=X;</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BD_FORK(W)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forkY</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(Y.C,{&lt;,</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i:W:y</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[i].C&gt;});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&lt;</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i:W</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y[i].D=Y.D[i]; &gt;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&lt;</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i:W</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MUL_COLUMN_1(</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W,COLS_PER_PIPE,i</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col[i](y[i],z[i],x[i],a[i],b[i],x[i+1],a[i+1],b[i+1]); &gt;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ABSTRACT_ADD(W,W) add(a[W],b[W],s);</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BD_BB(W)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bbX</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(x[W]);</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BD_JOIN(W+1)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joinZ</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({&lt;,</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i:W:z</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[i].C&gt;,</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s.C</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},Z.C);</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&lt;</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i:W</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Z.D[i]=z[i].D[0]; &gt;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Z.D[W..2*W-1]=</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s.D</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endParaRPr lang="en-US" sz="600" dirty="0">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700" dirty="0">
                <a:solidFill>
                  <a:srgbClr val="008000"/>
                </a:solidFill>
                <a:latin typeface="Consolas" panose="020B0609020204030204" pitchFamily="49" charset="0"/>
                <a:ea typeface="Verdana" panose="020B0604030504040204" pitchFamily="34" charset="0"/>
                <a:cs typeface="Consolas" panose="020B0609020204030204" pitchFamily="49" charset="0"/>
              </a:rPr>
              <a:t>/** A 1-bit carry-save column **/</a:t>
            </a:r>
          </a:p>
          <a:p>
            <a:pPr>
              <a:spcBef>
                <a:spcPts val="0"/>
              </a:spcBef>
            </a:pPr>
            <a:r>
              <a:rPr lang="en-US" sz="700" b="1" dirty="0">
                <a:solidFill>
                  <a:srgbClr val="0000FF"/>
                </a:solidFill>
                <a:latin typeface="Consolas" panose="020B0609020204030204" pitchFamily="49" charset="0"/>
                <a:ea typeface="Verdana" panose="020B0604030504040204" pitchFamily="34" charset="0"/>
                <a:cs typeface="Consolas" panose="020B0609020204030204" pitchFamily="49" charset="0"/>
              </a:rPr>
              <a:t>define</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MUL_COLUMN_1(</a:t>
            </a:r>
            <a:r>
              <a:rPr lang="en-US" sz="7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W, COLS_PER_PIPE, COL_NUM)</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(1) -Y, +Z;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(W) -LX, -LA, -LB, +RX, +RA, +RB)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int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PIPE_NUM  = COL_NUM/COLS_PER_PIPE;             </a:t>
            </a:r>
            <a:r>
              <a:rPr lang="en-US" sz="700" dirty="0">
                <a:solidFill>
                  <a:srgbClr val="008000"/>
                </a:solidFill>
                <a:latin typeface="Consolas" panose="020B0609020204030204" pitchFamily="49" charset="0"/>
                <a:ea typeface="Verdana" panose="020B0604030504040204" pitchFamily="34" charset="0"/>
                <a:cs typeface="Consolas" panose="020B0609020204030204" pitchFamily="49" charset="0"/>
              </a:rPr>
              <a:t>// which pipeline stage is this</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int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NUM_PIPES = (W+COLS_PER_PIPE-1)/COLS_PER_PIPE; </a:t>
            </a:r>
            <a:r>
              <a:rPr lang="en-US" sz="700" dirty="0">
                <a:solidFill>
                  <a:srgbClr val="008000"/>
                </a:solidFill>
                <a:latin typeface="Consolas" panose="020B0609020204030204" pitchFamily="49" charset="0"/>
                <a:ea typeface="Verdana" panose="020B0604030504040204" pitchFamily="34" charset="0"/>
                <a:cs typeface="Consolas" panose="020B0609020204030204" pitchFamily="49" charset="0"/>
              </a:rPr>
              <a:t>// total number of pipe stage</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s</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(1) y;</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(W)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x,a,b,t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(W+1)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s,c</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Y?y</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LX?x</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LA?a</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LB?b</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#[y==1 -&gt; t=x];</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s=</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t^a^b</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dirty="0">
                <a:solidFill>
                  <a:srgbClr val="008000"/>
                </a:solidFill>
                <a:latin typeface="Consolas" panose="020B0609020204030204" pitchFamily="49" charset="0"/>
                <a:ea typeface="Verdana" panose="020B0604030504040204" pitchFamily="34" charset="0"/>
                <a:cs typeface="Consolas" panose="020B0609020204030204" pitchFamily="49" charset="0"/>
              </a:rPr>
              <a:t>// sum</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c=</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t&amp;a|t&amp;b|a&amp;b</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dirty="0">
                <a:solidFill>
                  <a:srgbClr val="008000"/>
                </a:solidFill>
                <a:latin typeface="Consolas" panose="020B0609020204030204" pitchFamily="49" charset="0"/>
                <a:ea typeface="Verdana" panose="020B0604030504040204" pitchFamily="34" charset="0"/>
                <a:cs typeface="Consolas" panose="020B0609020204030204" pitchFamily="49" charset="0"/>
              </a:rPr>
              <a:t>// carry</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Z!s{0},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RX!x</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RA!s&gt;&gt;1, </a:t>
            </a:r>
            <a:r>
              <a:rPr lang="en-US" sz="600" dirty="0" err="1">
                <a:solidFill>
                  <a:schemeClr val="tx1"/>
                </a:solidFill>
                <a:latin typeface="Consolas" panose="020B0609020204030204" pitchFamily="49" charset="0"/>
                <a:ea typeface="Verdana" panose="020B0604030504040204" pitchFamily="34" charset="0"/>
                <a:cs typeface="Consolas" panose="020B0609020204030204" pitchFamily="49" charset="0"/>
              </a:rPr>
              <a:t>RB!c</a:t>
            </a:r>
            <a:endPar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b="1" dirty="0">
                <a:solidFill>
                  <a:srgbClr val="0000FF"/>
                </a:solidFill>
                <a:latin typeface="Consolas" panose="020B0609020204030204" pitchFamily="49" charset="0"/>
                <a:ea typeface="Verdana" panose="020B0604030504040204" pitchFamily="34" charset="0"/>
                <a:cs typeface="Consolas" panose="020B0609020204030204" pitchFamily="49" charset="0"/>
              </a:rPr>
              <a:t>directives</a:t>
            </a: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700" dirty="0">
                <a:solidFill>
                  <a:srgbClr val="008000"/>
                </a:solidFill>
                <a:latin typeface="Consolas" panose="020B0609020204030204" pitchFamily="49" charset="0"/>
                <a:ea typeface="Verdana" panose="020B0604030504040204" pitchFamily="34" charset="0"/>
                <a:cs typeface="Consolas" panose="020B0609020204030204" pitchFamily="49" charset="0"/>
              </a:rPr>
              <a:t>// pipelining</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slack(Y) = PIPE_NUM+1;           // pipelining from Y input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slack(Z) = NUM_PIPES-PIPE_NUM+1; // pipelining to   Z output</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[COL_NUM%COLS_PER_PIPE!=0 -&gt; slack(LX)=0; slack(LA)=0; slack(LB)=0;] // no ripple input pipelining</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slack(RX) = 0; slack(RA) = 0; slack(RB) = 0; // no ripple output pipelining</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6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p:txBody>
      </p:sp>
      <p:sp>
        <p:nvSpPr>
          <p:cNvPr id="7" name="Right Arrow 6"/>
          <p:cNvSpPr/>
          <p:nvPr/>
        </p:nvSpPr>
        <p:spPr>
          <a:xfrm>
            <a:off x="5449839" y="1129552"/>
            <a:ext cx="658906" cy="168627"/>
          </a:xfrm>
          <a:prstGeom prst="right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11" name="Right Arrow 10"/>
          <p:cNvSpPr/>
          <p:nvPr/>
        </p:nvSpPr>
        <p:spPr>
          <a:xfrm>
            <a:off x="7326407" y="1922585"/>
            <a:ext cx="352208" cy="161977"/>
          </a:xfrm>
          <a:prstGeom prst="right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12" name="Right Arrow 11"/>
          <p:cNvSpPr/>
          <p:nvPr/>
        </p:nvSpPr>
        <p:spPr>
          <a:xfrm>
            <a:off x="8498922" y="1744486"/>
            <a:ext cx="397342" cy="168627"/>
          </a:xfrm>
          <a:prstGeom prst="right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14" name="Down Arrow 13"/>
          <p:cNvSpPr/>
          <p:nvPr/>
        </p:nvSpPr>
        <p:spPr>
          <a:xfrm>
            <a:off x="6287788" y="2861152"/>
            <a:ext cx="168357" cy="536195"/>
          </a:xfrm>
          <a:prstGeom prst="down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16" name="Down Arrow 15"/>
          <p:cNvSpPr/>
          <p:nvPr/>
        </p:nvSpPr>
        <p:spPr>
          <a:xfrm flipV="1">
            <a:off x="6105378" y="2861152"/>
            <a:ext cx="176610" cy="545989"/>
          </a:xfrm>
          <a:prstGeom prst="down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vert="vert" rtlCol="0" anchor="ctr"/>
          <a:lstStyle/>
          <a:p>
            <a:pPr algn="ctr"/>
            <a:endParaRPr lang="en-US" dirty="0">
              <a:solidFill>
                <a:srgbClr val="FF0000"/>
              </a:solidFill>
            </a:endParaRPr>
          </a:p>
        </p:txBody>
      </p:sp>
      <p:sp>
        <p:nvSpPr>
          <p:cNvPr id="18" name="Down Arrow 17"/>
          <p:cNvSpPr/>
          <p:nvPr/>
        </p:nvSpPr>
        <p:spPr>
          <a:xfrm>
            <a:off x="7109370" y="2861152"/>
            <a:ext cx="168357" cy="536195"/>
          </a:xfrm>
          <a:prstGeom prst="down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19" name="Down Arrow 18"/>
          <p:cNvSpPr/>
          <p:nvPr/>
        </p:nvSpPr>
        <p:spPr>
          <a:xfrm flipV="1">
            <a:off x="6926960" y="2861152"/>
            <a:ext cx="176610" cy="545989"/>
          </a:xfrm>
          <a:prstGeom prst="down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vert="vert" rtlCol="0" anchor="ctr"/>
          <a:lstStyle/>
          <a:p>
            <a:pPr algn="ctr"/>
            <a:endParaRPr lang="en-US" dirty="0">
              <a:solidFill>
                <a:srgbClr val="FF0000"/>
              </a:solidFill>
            </a:endParaRPr>
          </a:p>
        </p:txBody>
      </p:sp>
      <p:sp>
        <p:nvSpPr>
          <p:cNvPr id="21" name="Oval 20"/>
          <p:cNvSpPr/>
          <p:nvPr/>
        </p:nvSpPr>
        <p:spPr>
          <a:xfrm>
            <a:off x="6609229" y="1963271"/>
            <a:ext cx="67236" cy="67235"/>
          </a:xfrm>
          <a:prstGeom prst="ellipse">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p:cNvSpPr/>
          <p:nvPr/>
        </p:nvSpPr>
        <p:spPr>
          <a:xfrm>
            <a:off x="6682092" y="1963270"/>
            <a:ext cx="67236" cy="67235"/>
          </a:xfrm>
          <a:prstGeom prst="ellipse">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6761619" y="1965324"/>
            <a:ext cx="67236" cy="67235"/>
          </a:xfrm>
          <a:prstGeom prst="ellipse">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itle 3"/>
          <p:cNvSpPr txBox="1">
            <a:spLocks/>
          </p:cNvSpPr>
          <p:nvPr/>
        </p:nvSpPr>
        <p:spPr>
          <a:xfrm>
            <a:off x="215289" y="62663"/>
            <a:ext cx="8229600" cy="868680"/>
          </a:xfrm>
          <a:prstGeom prst="rect">
            <a:avLst/>
          </a:prstGeom>
        </p:spPr>
        <p:txBody>
          <a:bodyPr/>
          <a:lstStyle>
            <a:lvl1pPr algn="l" defTabSz="457200" rtl="0" eaLnBrk="1" latinLnBrk="0" hangingPunct="1">
              <a:lnSpc>
                <a:spcPct val="100000"/>
              </a:lnSpc>
              <a:spcBef>
                <a:spcPct val="0"/>
              </a:spcBef>
              <a:buNone/>
              <a:defRPr sz="2800" b="0" i="0" kern="1200" spc="0" baseline="0">
                <a:solidFill>
                  <a:schemeClr val="tx2"/>
                </a:solidFill>
                <a:latin typeface="+mj-lt"/>
                <a:ea typeface="Intel Clear"/>
                <a:cs typeface="Arial" panose="020B0604020202020204" pitchFamily="34" charset="0"/>
              </a:defRPr>
            </a:lvl1pPr>
          </a:lstStyle>
          <a:p>
            <a:r>
              <a:rPr lang="en-US"/>
              <a:t>SUBCELLS Example</a:t>
            </a:r>
            <a:endParaRPr lang="en-US" dirty="0"/>
          </a:p>
        </p:txBody>
      </p:sp>
      <p:sp>
        <p:nvSpPr>
          <p:cNvPr id="17" name="TextBox 16"/>
          <p:cNvSpPr txBox="1"/>
          <p:nvPr/>
        </p:nvSpPr>
        <p:spPr>
          <a:xfrm>
            <a:off x="5292969" y="1137139"/>
            <a:ext cx="117231" cy="169277"/>
          </a:xfrm>
          <a:prstGeom prst="rect">
            <a:avLst/>
          </a:prstGeom>
          <a:noFill/>
        </p:spPr>
        <p:txBody>
          <a:bodyPr vert="horz" wrap="square" lIns="0" tIns="0" rIns="0" bIns="0" rtlCol="0">
            <a:spAutoFit/>
          </a:bodyPr>
          <a:lstStyle/>
          <a:p>
            <a:r>
              <a:rPr lang="en-US" sz="1100" dirty="0">
                <a:solidFill>
                  <a:srgbClr val="003C71"/>
                </a:solidFill>
              </a:rPr>
              <a:t>X</a:t>
            </a:r>
          </a:p>
        </p:txBody>
      </p:sp>
      <p:sp>
        <p:nvSpPr>
          <p:cNvPr id="25" name="TextBox 24"/>
          <p:cNvSpPr txBox="1"/>
          <p:nvPr/>
        </p:nvSpPr>
        <p:spPr>
          <a:xfrm>
            <a:off x="6148753" y="3452447"/>
            <a:ext cx="117231" cy="169277"/>
          </a:xfrm>
          <a:prstGeom prst="rect">
            <a:avLst/>
          </a:prstGeom>
          <a:noFill/>
        </p:spPr>
        <p:txBody>
          <a:bodyPr vert="horz" wrap="square" lIns="0" tIns="0" rIns="0" bIns="0" rtlCol="0">
            <a:spAutoFit/>
          </a:bodyPr>
          <a:lstStyle/>
          <a:p>
            <a:r>
              <a:rPr lang="en-US" sz="1100" dirty="0">
                <a:solidFill>
                  <a:srgbClr val="003C71"/>
                </a:solidFill>
              </a:rPr>
              <a:t>Y</a:t>
            </a:r>
          </a:p>
        </p:txBody>
      </p:sp>
      <p:sp>
        <p:nvSpPr>
          <p:cNvPr id="26" name="TextBox 25"/>
          <p:cNvSpPr txBox="1"/>
          <p:nvPr/>
        </p:nvSpPr>
        <p:spPr>
          <a:xfrm>
            <a:off x="6981087" y="3458308"/>
            <a:ext cx="117231" cy="169277"/>
          </a:xfrm>
          <a:prstGeom prst="rect">
            <a:avLst/>
          </a:prstGeom>
          <a:noFill/>
        </p:spPr>
        <p:txBody>
          <a:bodyPr vert="horz" wrap="square" lIns="0" tIns="0" rIns="0" bIns="0" rtlCol="0">
            <a:spAutoFit/>
          </a:bodyPr>
          <a:lstStyle/>
          <a:p>
            <a:r>
              <a:rPr lang="en-US" sz="1100" dirty="0">
                <a:solidFill>
                  <a:srgbClr val="003C71"/>
                </a:solidFill>
              </a:rPr>
              <a:t>Y</a:t>
            </a:r>
          </a:p>
        </p:txBody>
      </p:sp>
      <p:sp>
        <p:nvSpPr>
          <p:cNvPr id="27" name="TextBox 26"/>
          <p:cNvSpPr txBox="1"/>
          <p:nvPr/>
        </p:nvSpPr>
        <p:spPr>
          <a:xfrm>
            <a:off x="6318739" y="3452447"/>
            <a:ext cx="117231" cy="169277"/>
          </a:xfrm>
          <a:prstGeom prst="rect">
            <a:avLst/>
          </a:prstGeom>
          <a:noFill/>
        </p:spPr>
        <p:txBody>
          <a:bodyPr vert="horz" wrap="square" lIns="0" tIns="0" rIns="0" bIns="0" rtlCol="0">
            <a:spAutoFit/>
          </a:bodyPr>
          <a:lstStyle/>
          <a:p>
            <a:r>
              <a:rPr lang="en-US" sz="1100" dirty="0">
                <a:solidFill>
                  <a:srgbClr val="003C71"/>
                </a:solidFill>
              </a:rPr>
              <a:t>Z</a:t>
            </a:r>
          </a:p>
        </p:txBody>
      </p:sp>
      <p:sp>
        <p:nvSpPr>
          <p:cNvPr id="28" name="TextBox 27"/>
          <p:cNvSpPr txBox="1"/>
          <p:nvPr/>
        </p:nvSpPr>
        <p:spPr>
          <a:xfrm>
            <a:off x="7145211" y="3452446"/>
            <a:ext cx="117231" cy="169277"/>
          </a:xfrm>
          <a:prstGeom prst="rect">
            <a:avLst/>
          </a:prstGeom>
          <a:noFill/>
        </p:spPr>
        <p:txBody>
          <a:bodyPr vert="horz" wrap="square" lIns="0" tIns="0" rIns="0" bIns="0" rtlCol="0">
            <a:spAutoFit/>
          </a:bodyPr>
          <a:lstStyle/>
          <a:p>
            <a:r>
              <a:rPr lang="en-US" sz="1100" dirty="0">
                <a:solidFill>
                  <a:srgbClr val="003C71"/>
                </a:solidFill>
              </a:rPr>
              <a:t>Z</a:t>
            </a:r>
          </a:p>
        </p:txBody>
      </p:sp>
      <p:sp>
        <p:nvSpPr>
          <p:cNvPr id="29" name="TextBox 28"/>
          <p:cNvSpPr txBox="1"/>
          <p:nvPr/>
        </p:nvSpPr>
        <p:spPr>
          <a:xfrm>
            <a:off x="8921262" y="1752600"/>
            <a:ext cx="117231" cy="169277"/>
          </a:xfrm>
          <a:prstGeom prst="rect">
            <a:avLst/>
          </a:prstGeom>
          <a:noFill/>
        </p:spPr>
        <p:txBody>
          <a:bodyPr vert="horz" wrap="square" lIns="0" tIns="0" rIns="0" bIns="0" rtlCol="0">
            <a:spAutoFit/>
          </a:bodyPr>
          <a:lstStyle/>
          <a:p>
            <a:r>
              <a:rPr lang="en-US" sz="1100" dirty="0">
                <a:solidFill>
                  <a:srgbClr val="003C71"/>
                </a:solidFill>
              </a:rPr>
              <a:t>Z</a:t>
            </a:r>
          </a:p>
        </p:txBody>
      </p:sp>
      <p:sp>
        <p:nvSpPr>
          <p:cNvPr id="31" name="Rounded Rectangle 30"/>
          <p:cNvSpPr/>
          <p:nvPr/>
        </p:nvSpPr>
        <p:spPr bwMode="auto">
          <a:xfrm>
            <a:off x="6888342" y="797727"/>
            <a:ext cx="420997" cy="2043979"/>
          </a:xfrm>
          <a:prstGeom prst="round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12700" algn="ctr">
            <a:solidFill>
              <a:schemeClr val="bg1"/>
            </a:solidFill>
            <a:round/>
            <a:headEnd type="none" w="sm" len="sm"/>
            <a:tailEnd type="none" w="sm" len="sm"/>
          </a:ln>
          <a:effectLst>
            <a:outerShdw blurRad="50800" dist="38100" dir="5400000" algn="t" rotWithShape="0">
              <a:prstClr val="black">
                <a:alpha val="40000"/>
              </a:prstClr>
            </a:outerShdw>
          </a:effectLst>
        </p:spPr>
        <p:txBody>
          <a:bodyPr vert="vert" wrap="square" lIns="0" tIns="0" rIns="0" bIns="0" rtlCol="0" anchor="ctr"/>
          <a:lstStyle/>
          <a:p>
            <a:pPr algn="ctr"/>
            <a:r>
              <a:rPr lang="en-US" dirty="0">
                <a:solidFill>
                  <a:schemeClr val="bg1"/>
                </a:solidFill>
              </a:rPr>
              <a:t>MUL_COLUMN_1</a:t>
            </a:r>
          </a:p>
        </p:txBody>
      </p:sp>
      <p:sp>
        <p:nvSpPr>
          <p:cNvPr id="32" name="Rounded Rectangle 31"/>
          <p:cNvSpPr/>
          <p:nvPr/>
        </p:nvSpPr>
        <p:spPr bwMode="auto">
          <a:xfrm>
            <a:off x="7714818" y="791865"/>
            <a:ext cx="772690" cy="2043979"/>
          </a:xfrm>
          <a:prstGeom prst="round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12700" algn="ctr">
            <a:solidFill>
              <a:schemeClr val="bg1"/>
            </a:solidFill>
            <a:round/>
            <a:headEnd type="none" w="sm" len="sm"/>
            <a:tailEnd type="none" w="sm" len="sm"/>
          </a:ln>
          <a:effectLst>
            <a:outerShdw blurRad="50800" dist="38100" dir="5400000" algn="t" rotWithShape="0">
              <a:prstClr val="black">
                <a:alpha val="40000"/>
              </a:prstClr>
            </a:outerShdw>
          </a:effectLst>
        </p:spPr>
        <p:txBody>
          <a:bodyPr vert="horz" wrap="square" lIns="0" tIns="0" rIns="0" bIns="0" rtlCol="0" anchor="ctr"/>
          <a:lstStyle/>
          <a:p>
            <a:pPr algn="ctr"/>
            <a:r>
              <a:rPr lang="en-US" dirty="0">
                <a:solidFill>
                  <a:schemeClr val="bg1"/>
                </a:solidFill>
              </a:rPr>
              <a:t>ADD</a:t>
            </a:r>
          </a:p>
        </p:txBody>
      </p:sp>
      <p:sp>
        <p:nvSpPr>
          <p:cNvPr id="33" name="Right Arrow 32"/>
          <p:cNvSpPr/>
          <p:nvPr/>
        </p:nvSpPr>
        <p:spPr>
          <a:xfrm>
            <a:off x="7332268" y="2256692"/>
            <a:ext cx="352208" cy="161977"/>
          </a:xfrm>
          <a:prstGeom prst="right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34" name="Right Arrow 33"/>
          <p:cNvSpPr/>
          <p:nvPr/>
        </p:nvSpPr>
        <p:spPr>
          <a:xfrm>
            <a:off x="5732062" y="1922585"/>
            <a:ext cx="352208" cy="161977"/>
          </a:xfrm>
          <a:prstGeom prst="right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35" name="Right Arrow 34"/>
          <p:cNvSpPr/>
          <p:nvPr/>
        </p:nvSpPr>
        <p:spPr>
          <a:xfrm>
            <a:off x="5737923" y="2256692"/>
            <a:ext cx="352208" cy="161977"/>
          </a:xfrm>
          <a:prstGeom prst="right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
        <p:nvSpPr>
          <p:cNvPr id="36" name="Right Arrow 35"/>
          <p:cNvSpPr/>
          <p:nvPr/>
        </p:nvSpPr>
        <p:spPr>
          <a:xfrm>
            <a:off x="7332276" y="1131276"/>
            <a:ext cx="352208" cy="161977"/>
          </a:xfrm>
          <a:prstGeom prst="rightArrow">
            <a:avLst/>
          </a:prstGeom>
          <a:noFill/>
          <a:ln>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Tree>
    <p:extLst>
      <p:ext uri="{BB962C8B-B14F-4D97-AF65-F5344CB8AC3E}">
        <p14:creationId xmlns:p14="http://schemas.microsoft.com/office/powerpoint/2010/main" val="3527616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33</a:t>
            </a:fld>
            <a:endParaRPr lang="en-US" dirty="0"/>
          </a:p>
        </p:txBody>
      </p:sp>
      <p:sp>
        <p:nvSpPr>
          <p:cNvPr id="3" name="Title 2"/>
          <p:cNvSpPr>
            <a:spLocks noGrp="1"/>
          </p:cNvSpPr>
          <p:nvPr>
            <p:ph type="title"/>
          </p:nvPr>
        </p:nvSpPr>
        <p:spPr/>
        <p:txBody>
          <a:bodyPr/>
          <a:lstStyle/>
          <a:p>
            <a:r>
              <a:rPr lang="en-US" dirty="0" err="1"/>
              <a:t>Subcells</a:t>
            </a:r>
            <a:r>
              <a:rPr lang="en-US" dirty="0"/>
              <a:t> Syntax</a:t>
            </a:r>
          </a:p>
        </p:txBody>
      </p:sp>
      <p:sp>
        <p:nvSpPr>
          <p:cNvPr id="4" name="Content Placeholder 3"/>
          <p:cNvSpPr>
            <a:spLocks noGrp="1"/>
          </p:cNvSpPr>
          <p:nvPr>
            <p:ph sz="quarter" idx="13"/>
          </p:nvPr>
        </p:nvSpPr>
        <p:spPr/>
        <p:txBody>
          <a:bodyPr/>
          <a:lstStyle/>
          <a:p>
            <a:r>
              <a:rPr lang="en-US" dirty="0"/>
              <a:t>Define nodes or channels:</a:t>
            </a:r>
          </a:p>
          <a:p>
            <a:pPr marL="0" lvl="1" indent="0">
              <a:spcBef>
                <a:spcPts val="0"/>
              </a:spcBef>
              <a:buNone/>
            </a:pPr>
            <a:r>
              <a:rPr lang="en-US" dirty="0"/>
              <a:t>	node x;</a:t>
            </a:r>
          </a:p>
          <a:p>
            <a:pPr marL="0" lvl="1" indent="0">
              <a:spcBef>
                <a:spcPts val="0"/>
              </a:spcBef>
              <a:buNone/>
            </a:pPr>
            <a:r>
              <a:rPr lang="en-US" dirty="0"/>
              <a:t>	node[16] y;</a:t>
            </a:r>
          </a:p>
          <a:p>
            <a:pPr marL="0" lvl="1" indent="0">
              <a:spcBef>
                <a:spcPts val="0"/>
              </a:spcBef>
              <a:buNone/>
            </a:pPr>
            <a:r>
              <a:rPr lang="en-US" dirty="0"/>
              <a:t>	</a:t>
            </a:r>
            <a:r>
              <a:rPr lang="en-US" dirty="0" err="1"/>
              <a:t>bd</a:t>
            </a:r>
            <a:r>
              <a:rPr lang="en-US" dirty="0"/>
              <a:t>(4) z1, z2[0..3],z3[0..1][0..2];</a:t>
            </a:r>
          </a:p>
          <a:p>
            <a:pPr marL="0" lvl="1" indent="0">
              <a:buNone/>
            </a:pPr>
            <a:r>
              <a:rPr lang="en-US" dirty="0">
                <a:solidFill>
                  <a:srgbClr val="0071C5"/>
                </a:solidFill>
              </a:rPr>
              <a:t>Instantiate </a:t>
            </a:r>
            <a:r>
              <a:rPr lang="en-US" dirty="0" err="1">
                <a:solidFill>
                  <a:srgbClr val="0071C5"/>
                </a:solidFill>
              </a:rPr>
              <a:t>subcells</a:t>
            </a:r>
            <a:r>
              <a:rPr lang="en-US" dirty="0">
                <a:solidFill>
                  <a:srgbClr val="0071C5"/>
                </a:solidFill>
              </a:rPr>
              <a:t>:</a:t>
            </a:r>
          </a:p>
          <a:p>
            <a:pPr marL="0" lvl="1" indent="0">
              <a:spcBef>
                <a:spcPts val="0"/>
              </a:spcBef>
              <a:buNone/>
            </a:pPr>
            <a:r>
              <a:rPr lang="en-US" dirty="0">
                <a:solidFill>
                  <a:srgbClr val="0071C5"/>
                </a:solidFill>
              </a:rPr>
              <a:t>	</a:t>
            </a:r>
            <a:r>
              <a:rPr lang="en-US" dirty="0">
                <a:solidFill>
                  <a:schemeClr val="tx1"/>
                </a:solidFill>
              </a:rPr>
              <a:t>TYPE1(</a:t>
            </a:r>
            <a:r>
              <a:rPr lang="en-US" dirty="0" err="1">
                <a:solidFill>
                  <a:schemeClr val="tx1"/>
                </a:solidFill>
              </a:rPr>
              <a:t>metaparams</a:t>
            </a:r>
            <a:r>
              <a:rPr lang="en-US" dirty="0">
                <a:solidFill>
                  <a:schemeClr val="tx1"/>
                </a:solidFill>
              </a:rPr>
              <a:t>) inst1(ports1);</a:t>
            </a:r>
          </a:p>
          <a:p>
            <a:pPr marL="0" lvl="1" indent="0">
              <a:spcBef>
                <a:spcPts val="0"/>
              </a:spcBef>
              <a:buNone/>
            </a:pPr>
            <a:r>
              <a:rPr lang="en-US" dirty="0">
                <a:solidFill>
                  <a:schemeClr val="tx1"/>
                </a:solidFill>
              </a:rPr>
              <a:t>	TYPE2 inst2(ports2);</a:t>
            </a:r>
          </a:p>
          <a:p>
            <a:pPr marL="0" lvl="1" indent="0">
              <a:spcBef>
                <a:spcPts val="0"/>
              </a:spcBef>
              <a:buNone/>
            </a:pPr>
            <a:r>
              <a:rPr lang="en-US" dirty="0">
                <a:solidFill>
                  <a:schemeClr val="tx1"/>
                </a:solidFill>
              </a:rPr>
              <a:t>	TYPE3 inst3; inst3.port1=x; inst3.port2=y;</a:t>
            </a:r>
          </a:p>
          <a:p>
            <a:pPr marL="0" lvl="1" indent="0">
              <a:buNone/>
            </a:pPr>
            <a:r>
              <a:rPr lang="en-US" dirty="0">
                <a:solidFill>
                  <a:srgbClr val="0071C5"/>
                </a:solidFill>
              </a:rPr>
              <a:t>Iterators and selection work in </a:t>
            </a:r>
            <a:r>
              <a:rPr lang="en-US" dirty="0" err="1">
                <a:solidFill>
                  <a:srgbClr val="0071C5"/>
                </a:solidFill>
              </a:rPr>
              <a:t>subcells</a:t>
            </a:r>
            <a:r>
              <a:rPr lang="en-US" dirty="0">
                <a:solidFill>
                  <a:srgbClr val="0071C5"/>
                </a:solidFill>
              </a:rPr>
              <a:t> body.</a:t>
            </a:r>
          </a:p>
        </p:txBody>
      </p:sp>
    </p:spTree>
    <p:extLst>
      <p:ext uri="{BB962C8B-B14F-4D97-AF65-F5344CB8AC3E}">
        <p14:creationId xmlns:p14="http://schemas.microsoft.com/office/powerpoint/2010/main" val="1341864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49232" y="2244965"/>
            <a:ext cx="3321339" cy="943818"/>
          </a:xfrm>
        </p:spPr>
        <p:txBody>
          <a:bodyPr/>
          <a:lstStyle/>
          <a:p>
            <a:pPr algn="l"/>
            <a:r>
              <a:rPr lang="en-US" dirty="0"/>
              <a:t>DSIM</a:t>
            </a:r>
          </a:p>
        </p:txBody>
      </p:sp>
      <p:sp>
        <p:nvSpPr>
          <p:cNvPr id="2" name="Slide Number Placeholder 1"/>
          <p:cNvSpPr>
            <a:spLocks noGrp="1"/>
          </p:cNvSpPr>
          <p:nvPr>
            <p:ph type="sldNum" sz="quarter" idx="4294967295"/>
          </p:nvPr>
        </p:nvSpPr>
        <p:spPr>
          <a:xfrm>
            <a:off x="7010400" y="4824413"/>
            <a:ext cx="2133600" cy="273050"/>
          </a:xfrm>
        </p:spPr>
        <p:txBody>
          <a:bodyPr/>
          <a:lstStyle/>
          <a:p>
            <a:fld id="{EE2556C5-CE8C-6547-B838-EA80C61A4AF7}" type="slidenum">
              <a:rPr lang="en-US" smtClean="0"/>
              <a:pPr/>
              <a:t>34</a:t>
            </a:fld>
            <a:endParaRPr lang="en-US" dirty="0"/>
          </a:p>
        </p:txBody>
      </p:sp>
    </p:spTree>
    <p:extLst>
      <p:ext uri="{BB962C8B-B14F-4D97-AF65-F5344CB8AC3E}">
        <p14:creationId xmlns:p14="http://schemas.microsoft.com/office/powerpoint/2010/main" val="9791872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ntent Placeholder 5"/>
          <p:cNvSpPr txBox="1">
            <a:spLocks/>
          </p:cNvSpPr>
          <p:nvPr/>
        </p:nvSpPr>
        <p:spPr>
          <a:xfrm>
            <a:off x="5642708" y="1203324"/>
            <a:ext cx="3040918" cy="3425825"/>
          </a:xfrm>
          <a:prstGeom prst="rect">
            <a:avLst/>
          </a:prstGeom>
        </p:spPr>
        <p:txBody>
          <a:bodyPr vert="horz" lIns="0" tIns="0" rIns="0" bIns="0" rtlCol="0">
            <a:noAutofit/>
          </a:bodyPr>
          <a:lst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Synchronous adder **/</a:t>
            </a:r>
          </a:p>
          <a:p>
            <a:pPr>
              <a:spcBef>
                <a:spcPts val="0"/>
              </a:spcBef>
            </a:pPr>
            <a:endParaRPr lang="en-US" sz="1000" b="1" dirty="0">
              <a:solidFill>
                <a:srgbClr val="0000FF"/>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module</a:t>
            </a:r>
            <a:r>
              <a:rPr lang="en-US" sz="1000" dirty="0">
                <a:solidFill>
                  <a:srgbClr val="000000"/>
                </a:solidFill>
                <a:highlight>
                  <a:srgbClr val="FFFFFF"/>
                </a:highlight>
                <a:latin typeface="Consolas" panose="020B0609020204030204" pitchFamily="49" charset="0"/>
                <a:cs typeface="Consolas" panose="020B0609020204030204" pitchFamily="49" charset="0"/>
              </a:rPr>
              <a:t> ADD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32</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WS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33</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input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output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WS</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S</a:t>
            </a: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always</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b="1" dirty="0" err="1">
                <a:solidFill>
                  <a:srgbClr val="0000FF"/>
                </a:solidFill>
                <a:highlight>
                  <a:srgbClr val="FFFFFF"/>
                </a:highlight>
                <a:latin typeface="Consolas" panose="020B0609020204030204" pitchFamily="49" charset="0"/>
                <a:cs typeface="Consolas" panose="020B0609020204030204" pitchFamily="49" charset="0"/>
              </a:rPr>
              <a:t>posedge</a:t>
            </a:r>
            <a:r>
              <a:rPr lang="en-US" sz="1000" b="1"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begin</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b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S </a:t>
            </a:r>
            <a:r>
              <a:rPr lang="en-US" sz="1000" b="1" dirty="0">
                <a:solidFill>
                  <a:srgbClr val="000080"/>
                </a:solidFill>
                <a:highlight>
                  <a:srgbClr val="FFFFFF"/>
                </a:highlight>
                <a:latin typeface="Consolas" panose="020B0609020204030204" pitchFamily="49" charset="0"/>
                <a:cs typeface="Consolas" panose="020B0609020204030204" pitchFamily="49" charset="0"/>
              </a:rPr>
              <a:t>&lt;=</a:t>
            </a: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end</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endmodule</a:t>
            </a:r>
            <a:endParaRPr lang="en-US" sz="1000" dirty="0">
              <a:latin typeface="Consolas" panose="020B0609020204030204" pitchFamily="49" charset="0"/>
              <a:cs typeface="Consolas" panose="020B0609020204030204" pitchFamily="49" charset="0"/>
            </a:endParaRPr>
          </a:p>
        </p:txBody>
      </p:sp>
      <p:sp>
        <p:nvSpPr>
          <p:cNvPr id="27" name="Content Placeholder 5"/>
          <p:cNvSpPr txBox="1">
            <a:spLocks/>
          </p:cNvSpPr>
          <p:nvPr/>
        </p:nvSpPr>
        <p:spPr>
          <a:xfrm>
            <a:off x="5642708" y="580686"/>
            <a:ext cx="3501292" cy="4176585"/>
          </a:xfrm>
          <a:prstGeom prst="rect">
            <a:avLst/>
          </a:prstGeom>
        </p:spPr>
        <p:txBody>
          <a:bodyPr vert="horz" lIns="0" tIns="0" rIns="0" bIns="0" rtlCol="0">
            <a:noAutofit/>
          </a:bodyPr>
          <a:lst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module</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err="1">
                <a:solidFill>
                  <a:srgbClr val="000000"/>
                </a:solidFill>
                <a:highlight>
                  <a:srgbClr val="FFFFFF"/>
                </a:highlight>
                <a:latin typeface="Consolas" panose="020B0609020204030204" pitchFamily="49" charset="0"/>
                <a:cs typeface="Consolas" panose="020B0609020204030204" pitchFamily="49" charset="0"/>
              </a:rPr>
              <a:t>ADD_env_digital</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dirty="0">
                <a:solidFill>
                  <a:srgbClr val="000000"/>
                </a:solidFill>
                <a:highlight>
                  <a:srgbClr val="FFFFFF"/>
                </a:highlight>
                <a:latin typeface="Consolas" panose="020B0609020204030204" pitchFamily="49" charset="0"/>
                <a:cs typeface="Consolas" panose="020B0609020204030204" pitchFamily="49" charset="0"/>
              </a:rPr>
              <a:t> W </a:t>
            </a:r>
            <a:r>
              <a:rPr lang="en-US" sz="1000"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32</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parameter</a:t>
            </a:r>
            <a:r>
              <a:rPr lang="en-US" sz="1000" b="1"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chemeClr val="tx1"/>
                </a:solidFill>
                <a:highlight>
                  <a:srgbClr val="FFFFFF"/>
                </a:highlight>
                <a:latin typeface="Consolas" panose="020B0609020204030204" pitchFamily="49" charset="0"/>
                <a:cs typeface="Consolas" panose="020B0609020204030204" pitchFamily="49" charset="0"/>
              </a:rPr>
              <a:t>WS</a:t>
            </a:r>
            <a:r>
              <a:rPr lang="en-US" sz="1000"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chemeClr val="tx1"/>
                </a:solidFill>
                <a:highlight>
                  <a:srgbClr val="FFFFFF"/>
                </a:highlight>
                <a:latin typeface="Consolas" panose="020B0609020204030204" pitchFamily="49" charset="0"/>
                <a:cs typeface="Consolas" panose="020B0609020204030204" pitchFamily="49" charset="0"/>
              </a:rPr>
              <a:t>=</a:t>
            </a:r>
            <a:r>
              <a:rPr lang="en-US" sz="1000" dirty="0">
                <a:solidFill>
                  <a:srgbClr val="00008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33</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reg</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1</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wire</a:t>
            </a:r>
            <a:r>
              <a:rPr lang="en-US" sz="1000" dirty="0">
                <a:solidFill>
                  <a:srgbClr val="000000"/>
                </a:solidFill>
                <a:highlight>
                  <a:srgbClr val="FFFFFF"/>
                </a:highlight>
                <a:latin typeface="Consolas" panose="020B0609020204030204" pitchFamily="49" charset="0"/>
                <a:cs typeface="Consolas" panose="020B0609020204030204" pitchFamily="49" charset="0"/>
              </a:rPr>
              <a:t> [WS-1:0] S</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ADD</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W</a:t>
            </a:r>
            <a:r>
              <a:rPr lang="en-US" sz="1000" dirty="0">
                <a:solidFill>
                  <a:srgbClr val="000000"/>
                </a:solidFill>
                <a:highlight>
                  <a:srgbClr val="FFFFFF"/>
                </a:highlight>
                <a:latin typeface="Consolas" panose="020B0609020204030204" pitchFamily="49" charset="0"/>
                <a:cs typeface="Consolas" panose="020B0609020204030204" pitchFamily="49" charset="0"/>
              </a:rPr>
              <a:t>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err="1">
                <a:solidFill>
                  <a:srgbClr val="000000"/>
                </a:solidFill>
                <a:highlight>
                  <a:srgbClr val="FFFFFF"/>
                </a:highlight>
                <a:latin typeface="Consolas" panose="020B0609020204030204" pitchFamily="49" charset="0"/>
                <a:cs typeface="Consolas" panose="020B0609020204030204" pitchFamily="49" charset="0"/>
              </a:rPr>
              <a:t>dut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b="1" dirty="0">
              <a:solidFill>
                <a:srgbClr val="00008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8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A</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A</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B</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B</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 </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r>
              <a:rPr lang="pl-PL" sz="1000" dirty="0">
                <a:solidFill>
                  <a:srgbClr val="000000"/>
                </a:solidFill>
                <a:highlight>
                  <a:srgbClr val="FFFFFF"/>
                </a:highlight>
                <a:latin typeface="Consolas" panose="020B0609020204030204" pitchFamily="49" charset="0"/>
                <a:cs typeface="Consolas" panose="020B0609020204030204" pitchFamily="49" charset="0"/>
              </a:rPr>
              <a:t>S</a:t>
            </a:r>
            <a:r>
              <a:rPr lang="pl-PL"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b="1" dirty="0">
              <a:solidFill>
                <a:srgbClr val="000080"/>
              </a:solidFill>
              <a:highlight>
                <a:srgbClr val="FFFFFF"/>
              </a:highlight>
              <a:latin typeface="Consolas" panose="020B0609020204030204" pitchFamily="49" charset="0"/>
              <a:cs typeface="Consolas" panose="020B0609020204030204" pitchFamily="49" charset="0"/>
            </a:endParaRPr>
          </a:p>
          <a:p>
            <a:pPr>
              <a:spcBef>
                <a:spcPts val="0"/>
              </a:spcBef>
            </a:pPr>
            <a:r>
              <a:rPr lang="pl-PL" sz="1000" b="1" dirty="0">
                <a:solidFill>
                  <a:srgbClr val="000080"/>
                </a:solidFill>
                <a:highlight>
                  <a:srgbClr val="FFFFFF"/>
                </a:highlight>
                <a:latin typeface="Consolas" panose="020B0609020204030204" pitchFamily="49" charset="0"/>
                <a:cs typeface="Consolas" panose="020B0609020204030204" pitchFamily="49" charset="0"/>
              </a:rPr>
              <a:t>);</a:t>
            </a:r>
            <a:endParaRPr lang="pl-PL"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initial</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begin</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CLK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FF8000"/>
                </a:solidFill>
                <a:highlight>
                  <a:srgbClr val="FFFFFF"/>
                </a:highlight>
                <a:latin typeface="Consolas" panose="020B0609020204030204" pitchFamily="49" charset="0"/>
                <a:cs typeface="Consolas" panose="020B0609020204030204" pitchFamily="49" charset="0"/>
              </a:rPr>
              <a:t>0</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$monitor</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808080"/>
                </a:solidFill>
                <a:highlight>
                  <a:srgbClr val="FFFFFF"/>
                </a:highlight>
                <a:latin typeface="Consolas" panose="020B0609020204030204" pitchFamily="49" charset="0"/>
                <a:cs typeface="Consolas" panose="020B0609020204030204" pitchFamily="49" charset="0"/>
              </a:rPr>
              <a:t>"%0t:  S: %b"</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$time</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S</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end</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always</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FF8000"/>
                </a:solidFill>
                <a:highlight>
                  <a:srgbClr val="FFFFFF"/>
                </a:highlight>
                <a:latin typeface="Consolas" panose="020B0609020204030204" pitchFamily="49" charset="0"/>
                <a:cs typeface="Consolas" panose="020B0609020204030204" pitchFamily="49" charset="0"/>
              </a:rPr>
              <a:t>5</a:t>
            </a:r>
            <a:r>
              <a:rPr lang="en-US" sz="1000" dirty="0">
                <a:solidFill>
                  <a:srgbClr val="000000"/>
                </a:solidFill>
                <a:highlight>
                  <a:srgbClr val="FFFFFF"/>
                </a:highlight>
                <a:latin typeface="Consolas" panose="020B0609020204030204" pitchFamily="49" charset="0"/>
                <a:cs typeface="Consolas" panose="020B0609020204030204" pitchFamily="49" charset="0"/>
              </a:rPr>
              <a:t> CLK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always</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b="1" dirty="0" err="1">
                <a:solidFill>
                  <a:srgbClr val="0000FF"/>
                </a:solidFill>
                <a:highlight>
                  <a:srgbClr val="FFFFFF"/>
                </a:highlight>
                <a:latin typeface="Consolas" panose="020B0609020204030204" pitchFamily="49" charset="0"/>
                <a:cs typeface="Consolas" panose="020B0609020204030204" pitchFamily="49" charset="0"/>
              </a:rPr>
              <a:t>negedge</a:t>
            </a:r>
            <a:r>
              <a:rPr lang="en-US" sz="1000" dirty="0">
                <a:solidFill>
                  <a:srgbClr val="000000"/>
                </a:solidFill>
                <a:highlight>
                  <a:srgbClr val="FFFFFF"/>
                </a:highlight>
                <a:latin typeface="Consolas" panose="020B0609020204030204" pitchFamily="49" charset="0"/>
                <a:cs typeface="Consolas" panose="020B0609020204030204" pitchFamily="49" charset="0"/>
              </a:rPr>
              <a:t> CLK</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b="1" dirty="0">
                <a:solidFill>
                  <a:srgbClr val="0000FF"/>
                </a:solidFill>
                <a:highlight>
                  <a:srgbClr val="FFFFFF"/>
                </a:highlight>
                <a:latin typeface="Consolas" panose="020B0609020204030204" pitchFamily="49" charset="0"/>
                <a:cs typeface="Consolas" panose="020B0609020204030204" pitchFamily="49" charset="0"/>
              </a:rPr>
              <a:t>begin</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A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$random</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dirty="0">
                <a:solidFill>
                  <a:srgbClr val="000000"/>
                </a:solidFill>
                <a:highlight>
                  <a:srgbClr val="FFFFFF"/>
                </a:highlight>
                <a:latin typeface="Consolas" panose="020B0609020204030204" pitchFamily="49" charset="0"/>
                <a:cs typeface="Consolas" panose="020B0609020204030204" pitchFamily="49" charset="0"/>
              </a:rPr>
              <a:t>	B </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r>
              <a:rPr lang="en-US" sz="1000" dirty="0">
                <a:solidFill>
                  <a:srgbClr val="000000"/>
                </a:solidFill>
                <a:highlight>
                  <a:srgbClr val="FFFFFF"/>
                </a:highlight>
                <a:latin typeface="Consolas" panose="020B0609020204030204" pitchFamily="49" charset="0"/>
                <a:cs typeface="Consolas" panose="020B0609020204030204" pitchFamily="49" charset="0"/>
              </a:rPr>
              <a:t> </a:t>
            </a:r>
            <a:r>
              <a:rPr lang="en-US" sz="1000" dirty="0">
                <a:solidFill>
                  <a:srgbClr val="8000FF"/>
                </a:solidFill>
                <a:highlight>
                  <a:srgbClr val="FFFFFF"/>
                </a:highlight>
                <a:latin typeface="Consolas" panose="020B0609020204030204" pitchFamily="49" charset="0"/>
                <a:cs typeface="Consolas" panose="020B0609020204030204" pitchFamily="49" charset="0"/>
              </a:rPr>
              <a:t>$random</a:t>
            </a:r>
            <a:r>
              <a:rPr lang="en-US" sz="1000" b="1" dirty="0">
                <a:solidFill>
                  <a:srgbClr val="000080"/>
                </a:solidFill>
                <a:highlight>
                  <a:srgbClr val="FFFFFF"/>
                </a:highlight>
                <a:latin typeface="Consolas" panose="020B0609020204030204" pitchFamily="49" charset="0"/>
                <a:cs typeface="Consolas" panose="020B0609020204030204" pitchFamily="49" charset="0"/>
              </a:rPr>
              <a:t>;</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a:solidFill>
                  <a:srgbClr val="0000FF"/>
                </a:solidFill>
                <a:highlight>
                  <a:srgbClr val="FFFFFF"/>
                </a:highlight>
                <a:latin typeface="Consolas" panose="020B0609020204030204" pitchFamily="49" charset="0"/>
                <a:cs typeface="Consolas" panose="020B0609020204030204" pitchFamily="49" charset="0"/>
              </a:rPr>
              <a:t>end</a:t>
            </a: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endParaRPr lang="en-US" sz="1000" dirty="0">
              <a:solidFill>
                <a:srgbClr val="000000"/>
              </a:solidFill>
              <a:highlight>
                <a:srgbClr val="FFFFFF"/>
              </a:highlight>
              <a:latin typeface="Consolas" panose="020B0609020204030204" pitchFamily="49" charset="0"/>
              <a:cs typeface="Consolas" panose="020B0609020204030204" pitchFamily="49" charset="0"/>
            </a:endParaRPr>
          </a:p>
          <a:p>
            <a:pPr>
              <a:spcBef>
                <a:spcPts val="0"/>
              </a:spcBef>
            </a:pPr>
            <a:r>
              <a:rPr lang="en-US" sz="1000" b="1" dirty="0" err="1">
                <a:solidFill>
                  <a:srgbClr val="0000FF"/>
                </a:solidFill>
                <a:highlight>
                  <a:srgbClr val="FFFFFF"/>
                </a:highlight>
                <a:latin typeface="Consolas" panose="020B0609020204030204" pitchFamily="49" charset="0"/>
                <a:cs typeface="Consolas" panose="020B0609020204030204" pitchFamily="49" charset="0"/>
              </a:rPr>
              <a:t>endmodule</a:t>
            </a:r>
            <a:endParaRPr lang="en-US" sz="1000" dirty="0">
              <a:latin typeface="Consolas" panose="020B0609020204030204" pitchFamily="49" charset="0"/>
              <a:cs typeface="Consolas" panose="020B0609020204030204" pitchFamily="49" charset="0"/>
            </a:endParaRPr>
          </a:p>
        </p:txBody>
      </p:sp>
      <p:grpSp>
        <p:nvGrpSpPr>
          <p:cNvPr id="6" name="Group 5"/>
          <p:cNvGrpSpPr/>
          <p:nvPr/>
        </p:nvGrpSpPr>
        <p:grpSpPr>
          <a:xfrm>
            <a:off x="5877908" y="1753388"/>
            <a:ext cx="1917552" cy="2043979"/>
            <a:chOff x="5877908" y="1753388"/>
            <a:chExt cx="1917552" cy="2043979"/>
          </a:xfrm>
        </p:grpSpPr>
        <p:sp>
          <p:nvSpPr>
            <p:cNvPr id="9" name="Rounded Rectangle 8"/>
            <p:cNvSpPr/>
            <p:nvPr/>
          </p:nvSpPr>
          <p:spPr bwMode="auto">
            <a:xfrm>
              <a:off x="6494927" y="1753388"/>
              <a:ext cx="754849" cy="2043979"/>
            </a:xfrm>
            <a:prstGeom prst="roundRect">
              <a:avLst/>
            </a:prstGeom>
            <a:gradFill>
              <a:gsLst>
                <a:gs pos="0">
                  <a:srgbClr val="7030A0">
                    <a:shade val="30000"/>
                    <a:satMod val="115000"/>
                  </a:srgbClr>
                </a:gs>
                <a:gs pos="94000">
                  <a:srgbClr val="7030A0">
                    <a:shade val="67500"/>
                    <a:satMod val="115000"/>
                    <a:lumMod val="62000"/>
                    <a:lumOff val="38000"/>
                  </a:srgbClr>
                </a:gs>
                <a:gs pos="100000">
                  <a:srgbClr val="7030A0">
                    <a:shade val="100000"/>
                    <a:satMod val="115000"/>
                  </a:srgbClr>
                </a:gs>
              </a:gsLst>
              <a:lin ang="10800000" scaled="1"/>
            </a:gradFill>
            <a:ln w="12700" algn="ctr">
              <a:solidFill>
                <a:schemeClr val="bg1"/>
              </a:solidFill>
              <a:round/>
              <a:headEnd type="none" w="sm" len="sm"/>
              <a:tailEnd type="none" w="sm" len="sm"/>
            </a:ln>
            <a:effectLst>
              <a:outerShdw blurRad="50800" dist="38100" dir="5400000" algn="t" rotWithShape="0">
                <a:prstClr val="black">
                  <a:alpha val="40000"/>
                </a:prstClr>
              </a:outerShdw>
            </a:effectLst>
          </p:spPr>
          <p:txBody>
            <a:bodyPr wrap="square" lIns="0" tIns="0" rIns="0" bIns="0" rtlCol="0" anchor="ctr"/>
            <a:lstStyle/>
            <a:p>
              <a:pPr algn="ctr" eaLnBrk="0" hangingPunct="0"/>
              <a:r>
                <a:rPr lang="en-US" dirty="0">
                  <a:solidFill>
                    <a:schemeClr val="bg1"/>
                  </a:solidFill>
                </a:rPr>
                <a:t>ADD</a:t>
              </a:r>
              <a:endParaRPr lang="en-US" sz="1050" dirty="0">
                <a:solidFill>
                  <a:schemeClr val="bg1"/>
                </a:solidFill>
              </a:endParaRPr>
            </a:p>
          </p:txBody>
        </p:sp>
        <p:cxnSp>
          <p:nvCxnSpPr>
            <p:cNvPr id="13" name="Straight Arrow Connector 12"/>
            <p:cNvCxnSpPr/>
            <p:nvPr/>
          </p:nvCxnSpPr>
          <p:spPr>
            <a:xfrm flipV="1">
              <a:off x="6127931" y="2435484"/>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7249776" y="2770253"/>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6127931" y="3201749"/>
              <a:ext cx="366996" cy="341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77908" y="2312373"/>
              <a:ext cx="133050" cy="246221"/>
            </a:xfrm>
            <a:prstGeom prst="rect">
              <a:avLst/>
            </a:prstGeom>
            <a:noFill/>
          </p:spPr>
          <p:txBody>
            <a:bodyPr vert="horz" wrap="none" lIns="0" tIns="0" rIns="0" bIns="0" rtlCol="0">
              <a:spAutoFit/>
            </a:bodyPr>
            <a:lstStyle/>
            <a:p>
              <a:r>
                <a:rPr lang="en-US" sz="1600" dirty="0">
                  <a:solidFill>
                    <a:srgbClr val="003C71"/>
                  </a:solidFill>
                </a:rPr>
                <a:t>A</a:t>
              </a:r>
              <a:endParaRPr lang="en-US" sz="1100" dirty="0">
                <a:solidFill>
                  <a:srgbClr val="003C71"/>
                </a:solidFill>
              </a:endParaRPr>
            </a:p>
          </p:txBody>
        </p:sp>
        <p:sp>
          <p:nvSpPr>
            <p:cNvPr id="17" name="TextBox 16"/>
            <p:cNvSpPr txBox="1"/>
            <p:nvPr/>
          </p:nvSpPr>
          <p:spPr>
            <a:xfrm>
              <a:off x="5877908" y="3078638"/>
              <a:ext cx="126638" cy="246221"/>
            </a:xfrm>
            <a:prstGeom prst="rect">
              <a:avLst/>
            </a:prstGeom>
            <a:noFill/>
          </p:spPr>
          <p:txBody>
            <a:bodyPr vert="horz" wrap="none" lIns="0" tIns="0" rIns="0" bIns="0" rtlCol="0">
              <a:spAutoFit/>
            </a:bodyPr>
            <a:lstStyle/>
            <a:p>
              <a:r>
                <a:rPr lang="en-US" sz="1600" dirty="0">
                  <a:solidFill>
                    <a:srgbClr val="003C71"/>
                  </a:solidFill>
                </a:rPr>
                <a:t>B</a:t>
              </a:r>
              <a:endParaRPr lang="en-US" sz="1100" dirty="0">
                <a:solidFill>
                  <a:srgbClr val="003C71"/>
                </a:solidFill>
              </a:endParaRPr>
            </a:p>
          </p:txBody>
        </p:sp>
        <p:sp>
          <p:nvSpPr>
            <p:cNvPr id="18" name="TextBox 17"/>
            <p:cNvSpPr txBox="1"/>
            <p:nvPr/>
          </p:nvSpPr>
          <p:spPr>
            <a:xfrm>
              <a:off x="7673632" y="2645005"/>
              <a:ext cx="121828" cy="246221"/>
            </a:xfrm>
            <a:prstGeom prst="rect">
              <a:avLst/>
            </a:prstGeom>
            <a:noFill/>
          </p:spPr>
          <p:txBody>
            <a:bodyPr vert="horz" wrap="none" lIns="0" tIns="0" rIns="0" bIns="0" rtlCol="0">
              <a:spAutoFit/>
            </a:bodyPr>
            <a:lstStyle/>
            <a:p>
              <a:r>
                <a:rPr lang="en-US" sz="1600" dirty="0">
                  <a:solidFill>
                    <a:srgbClr val="003C71"/>
                  </a:solidFill>
                </a:rPr>
                <a:t>S</a:t>
              </a:r>
              <a:endParaRPr lang="en-US" sz="1100" dirty="0">
                <a:solidFill>
                  <a:srgbClr val="003C71"/>
                </a:solidFill>
              </a:endParaRPr>
            </a:p>
          </p:txBody>
        </p:sp>
      </p:grpSp>
      <p:sp>
        <p:nvSpPr>
          <p:cNvPr id="2" name="Slide Number Placeholder 1"/>
          <p:cNvSpPr>
            <a:spLocks noGrp="1"/>
          </p:cNvSpPr>
          <p:nvPr>
            <p:ph type="sldNum" sz="quarter" idx="12"/>
          </p:nvPr>
        </p:nvSpPr>
        <p:spPr/>
        <p:txBody>
          <a:bodyPr/>
          <a:lstStyle/>
          <a:p>
            <a:fld id="{EE2556C5-CE8C-6547-B838-EA80C61A4AF7}" type="slidenum">
              <a:rPr lang="en-US" smtClean="0"/>
              <a:pPr/>
              <a:t>35</a:t>
            </a:fld>
            <a:endParaRPr lang="en-US" dirty="0"/>
          </a:p>
        </p:txBody>
      </p:sp>
      <p:sp>
        <p:nvSpPr>
          <p:cNvPr id="3" name="Title 2"/>
          <p:cNvSpPr>
            <a:spLocks noGrp="1"/>
          </p:cNvSpPr>
          <p:nvPr>
            <p:ph type="title"/>
          </p:nvPr>
        </p:nvSpPr>
        <p:spPr/>
        <p:txBody>
          <a:bodyPr/>
          <a:lstStyle/>
          <a:p>
            <a:r>
              <a:rPr lang="en-US" dirty="0"/>
              <a:t>Example: lib/</a:t>
            </a:r>
            <a:r>
              <a:rPr lang="en-US" dirty="0" err="1"/>
              <a:t>bd</a:t>
            </a:r>
            <a:r>
              <a:rPr lang="en-US" dirty="0"/>
              <a:t>/math/</a:t>
            </a:r>
            <a:r>
              <a:rPr lang="en-US" dirty="0" err="1"/>
              <a:t>add.cast</a:t>
            </a:r>
            <a:r>
              <a:rPr lang="en-US" dirty="0"/>
              <a:t> </a:t>
            </a:r>
            <a:br>
              <a:rPr lang="en-US" dirty="0"/>
            </a:br>
            <a:endParaRPr lang="en-US" dirty="0"/>
          </a:p>
        </p:txBody>
      </p:sp>
      <p:sp>
        <p:nvSpPr>
          <p:cNvPr id="4" name="Content Placeholder 3"/>
          <p:cNvSpPr>
            <a:spLocks noGrp="1"/>
          </p:cNvSpPr>
          <p:nvPr>
            <p:ph sz="quarter" idx="13"/>
          </p:nvPr>
        </p:nvSpPr>
        <p:spPr>
          <a:xfrm>
            <a:off x="228507" y="1153785"/>
            <a:ext cx="4247869" cy="3425825"/>
          </a:xfrm>
        </p:spPr>
        <p:txBody>
          <a:bodyPr/>
          <a:lstStyle/>
          <a:p>
            <a:pPr>
              <a:spcBef>
                <a:spcPts val="0"/>
              </a:spcBef>
            </a:pPr>
            <a:r>
              <a:rPr lang="en-US" sz="1000" dirty="0">
                <a:solidFill>
                  <a:srgbClr val="008000"/>
                </a:solidFill>
                <a:latin typeface="Consolas" panose="020B0609020204030204" pitchFamily="49" charset="0"/>
                <a:ea typeface="Verdana" panose="020B0604030504040204" pitchFamily="34" charset="0"/>
                <a:cs typeface="Consolas" panose="020B0609020204030204" pitchFamily="49" charset="0"/>
              </a:rPr>
              <a:t>/** BD adder **/</a:t>
            </a:r>
          </a:p>
          <a:p>
            <a:pPr>
              <a:spcBef>
                <a:spcPts val="0"/>
              </a:spcBef>
            </a:pP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module</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lib.bd.math.add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endPar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endParaRPr>
          </a:p>
          <a:p>
            <a:pPr>
              <a:spcBef>
                <a:spcPts val="0"/>
              </a:spcBef>
            </a:pP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define</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ABSTRACT_ADD(</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W, WS)(</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-A, -B;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(WS) +S)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a,b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A?a</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B?b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S!a+b</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env</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digital</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subcells</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_(A);</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rsource_bd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 _(B);</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sink_bd</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(WS)  _(S);</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a:solidFill>
                  <a:srgbClr val="0000FF"/>
                </a:solidFill>
                <a:latin typeface="Consolas" panose="020B0609020204030204" pitchFamily="49" charset="0"/>
                <a:ea typeface="Verdana" panose="020B0604030504040204" pitchFamily="34" charset="0"/>
                <a:cs typeface="Consolas" panose="020B0609020204030204" pitchFamily="49" charset="0"/>
              </a:rPr>
              <a:t>directives</a:t>
            </a:r>
            <a:r>
              <a:rPr lang="en-US" sz="1000"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ntpc_spec</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a:t>
            </a:r>
            <a:r>
              <a:rPr lang="en-US" sz="1000" dirty="0" err="1">
                <a:solidFill>
                  <a:schemeClr val="tx1"/>
                </a:solidFill>
                <a:latin typeface="Consolas" panose="020B0609020204030204" pitchFamily="49" charset="0"/>
                <a:ea typeface="Verdana" panose="020B0604030504040204" pitchFamily="34" charset="0"/>
                <a:cs typeface="Consolas" panose="020B0609020204030204" pitchFamily="49" charset="0"/>
              </a:rPr>
              <a:t>S.C.q</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rgbClr val="FF8000"/>
                </a:solidFill>
                <a:latin typeface="Consolas" panose="020B0609020204030204" pitchFamily="49" charset="0"/>
                <a:ea typeface="Verdana" panose="020B0604030504040204" pitchFamily="34" charset="0"/>
                <a:cs typeface="Consolas" panose="020B0609020204030204" pitchFamily="49" charset="0"/>
              </a:rPr>
              <a:t> </a:t>
            </a: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36;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r>
              <a:rPr lang="en-US" sz="1000" dirty="0">
                <a:solidFill>
                  <a:schemeClr val="tx1"/>
                </a:solidFill>
                <a:latin typeface="Consolas" panose="020B0609020204030204" pitchFamily="49" charset="0"/>
                <a:ea typeface="Verdana" panose="020B0604030504040204" pitchFamily="34" charset="0"/>
                <a:cs typeface="Consolas" panose="020B0609020204030204" pitchFamily="49" charset="0"/>
              </a:rPr>
              <a:t>} </a:t>
            </a:r>
          </a:p>
          <a:p>
            <a:pPr>
              <a:spcBef>
                <a:spcPts val="0"/>
              </a:spcBef>
            </a:pPr>
            <a:endParaRPr lang="en-US" sz="1000" dirty="0">
              <a:latin typeface="Consolas" panose="020B0609020204030204" pitchFamily="49" charset="0"/>
              <a:ea typeface="Verdana" panose="020B0604030504040204" pitchFamily="34" charset="0"/>
              <a:cs typeface="Consolas" panose="020B0609020204030204" pitchFamily="49" charset="0"/>
            </a:endParaRPr>
          </a:p>
        </p:txBody>
      </p:sp>
    </p:spTree>
    <p:extLst>
      <p:ext uri="{BB962C8B-B14F-4D97-AF65-F5344CB8AC3E}">
        <p14:creationId xmlns:p14="http://schemas.microsoft.com/office/powerpoint/2010/main" val="51543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26"/>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P spid="2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36</a:t>
            </a:fld>
            <a:endParaRPr lang="en-US" dirty="0"/>
          </a:p>
        </p:txBody>
      </p:sp>
      <p:sp>
        <p:nvSpPr>
          <p:cNvPr id="3" name="Title 2"/>
          <p:cNvSpPr>
            <a:spLocks noGrp="1"/>
          </p:cNvSpPr>
          <p:nvPr>
            <p:ph type="title"/>
          </p:nvPr>
        </p:nvSpPr>
        <p:spPr/>
        <p:txBody>
          <a:bodyPr/>
          <a:lstStyle/>
          <a:p>
            <a:r>
              <a:rPr lang="en-US" dirty="0"/>
              <a:t>Setup for </a:t>
            </a:r>
            <a:r>
              <a:rPr lang="en-US" dirty="0" err="1"/>
              <a:t>jdsim</a:t>
            </a:r>
            <a:r>
              <a:rPr lang="en-US" dirty="0"/>
              <a:t> (assumes </a:t>
            </a:r>
            <a:r>
              <a:rPr lang="en-US" dirty="0" err="1"/>
              <a:t>csh</a:t>
            </a:r>
            <a:r>
              <a:rPr lang="en-US" dirty="0"/>
              <a:t> syntax)</a:t>
            </a:r>
          </a:p>
        </p:txBody>
      </p:sp>
      <p:sp>
        <p:nvSpPr>
          <p:cNvPr id="4" name="Content Placeholder 3"/>
          <p:cNvSpPr>
            <a:spLocks noGrp="1"/>
          </p:cNvSpPr>
          <p:nvPr>
            <p:ph sz="quarter" idx="13"/>
          </p:nvPr>
        </p:nvSpPr>
        <p:spPr>
          <a:xfrm>
            <a:off x="455613" y="1203325"/>
            <a:ext cx="8228012" cy="2841137"/>
          </a:xfrm>
        </p:spPr>
        <p:txBody>
          <a:bodyPr/>
          <a:lstStyle/>
          <a:p>
            <a:pPr>
              <a:spcBef>
                <a:spcPts val="0"/>
              </a:spcBef>
              <a:spcAft>
                <a:spcPts val="600"/>
              </a:spcAft>
            </a:pP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setenv</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MY_CAST_DIR $WARD/cast</a:t>
            </a:r>
          </a:p>
          <a:p>
            <a:pPr>
              <a:spcBef>
                <a:spcPts val="0"/>
              </a:spcBef>
              <a:spcAft>
                <a:spcPts val="600"/>
              </a:spcAft>
            </a:pP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setenv</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CAST_DIR /</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nfs</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sc</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proj</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ctg</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/mrl108/</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amlines</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hw</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/cast</a:t>
            </a:r>
          </a:p>
          <a:p>
            <a:pPr>
              <a:spcBef>
                <a:spcPts val="0"/>
              </a:spcBef>
              <a:spcAft>
                <a:spcPts val="600"/>
              </a:spcAft>
            </a:pP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setenv</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SPEC_DIR /</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nfs</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sc</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proj</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ctg</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/mrl108/</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amlines</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hw</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/731/spec</a:t>
            </a:r>
          </a:p>
          <a:p>
            <a:pPr>
              <a:spcBef>
                <a:spcPts val="0"/>
              </a:spcBef>
              <a:spcAft>
                <a:spcPts val="600"/>
              </a:spcAft>
            </a:pP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setenv</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FULCRUM /</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nfs</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sc</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proj</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ctg</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/mrl108/</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mrl</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/tools/bin/fulcrum</a:t>
            </a:r>
          </a:p>
          <a:p>
            <a:pPr>
              <a:spcBef>
                <a:spcPts val="0"/>
              </a:spcBef>
              <a:spcAft>
                <a:spcPts val="600"/>
              </a:spcAft>
            </a:pP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alias </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jdsim</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'$FULCRUM </a:t>
            </a:r>
            <a:r>
              <a:rPr lang="en-US" b="1" dirty="0" err="1">
                <a:solidFill>
                  <a:srgbClr val="7030A0"/>
                </a:solidFill>
                <a:latin typeface="Verdana" panose="020B0604030504040204" pitchFamily="34" charset="0"/>
                <a:ea typeface="Verdana" panose="020B0604030504040204" pitchFamily="34" charset="0"/>
                <a:cs typeface="Verdana" panose="020B0604030504040204" pitchFamily="34" charset="0"/>
              </a:rPr>
              <a:t>jdsim</a:t>
            </a:r>
            <a:r>
              <a:rPr lang="en-US" dirty="0">
                <a:solidFill>
                  <a:srgbClr val="7030A0"/>
                </a:solidFill>
                <a:latin typeface="Verdana" panose="020B0604030504040204" pitchFamily="34" charset="0"/>
                <a:ea typeface="Verdana" panose="020B0604030504040204" pitchFamily="34" charset="0"/>
                <a:cs typeface="Verdana" panose="020B0604030504040204" pitchFamily="34" charset="0"/>
              </a:rPr>
              <a:t> </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--max-heap-size=1G --cast-path=${MY_CAST_DIR}:${CAST_DIR}:${SPEC_DIR}'</a:t>
            </a:r>
          </a:p>
          <a:p>
            <a:pPr>
              <a:spcBef>
                <a:spcPts val="0"/>
              </a:spcBef>
              <a:spcAft>
                <a:spcPts val="600"/>
              </a:spcAft>
            </a:pP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mkdir</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 -p $MY_CAST_DIR/lib/</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bd</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/math</a:t>
            </a:r>
          </a:p>
          <a:p>
            <a:pPr>
              <a:spcBef>
                <a:spcPts val="0"/>
              </a:spcBef>
              <a:spcAft>
                <a:spcPts val="600"/>
              </a:spcAft>
            </a:pP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cd $MY_CAST_DIR/lib/</a:t>
            </a:r>
            <a:r>
              <a:rPr lang="en-US" dirty="0" err="1">
                <a:solidFill>
                  <a:schemeClr val="tx1"/>
                </a:solidFill>
                <a:latin typeface="Verdana" panose="020B0604030504040204" pitchFamily="34" charset="0"/>
                <a:ea typeface="Verdana" panose="020B0604030504040204" pitchFamily="34" charset="0"/>
                <a:cs typeface="Verdana" panose="020B0604030504040204" pitchFamily="34" charset="0"/>
              </a:rPr>
              <a:t>bd</a:t>
            </a: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rPr>
              <a:t>/math</a:t>
            </a:r>
          </a:p>
        </p:txBody>
      </p:sp>
      <p:sp>
        <p:nvSpPr>
          <p:cNvPr id="5" name="TextBox 4"/>
          <p:cNvSpPr txBox="1"/>
          <p:nvPr/>
        </p:nvSpPr>
        <p:spPr>
          <a:xfrm>
            <a:off x="457200" y="4155831"/>
            <a:ext cx="4050323" cy="338554"/>
          </a:xfrm>
          <a:prstGeom prst="rect">
            <a:avLst/>
          </a:prstGeom>
          <a:noFill/>
        </p:spPr>
        <p:txBody>
          <a:bodyPr vert="horz" wrap="square" lIns="0" tIns="0" rIns="0" bIns="0" rtlCol="0">
            <a:spAutoFit/>
          </a:bodyPr>
          <a:lstStyle/>
          <a:p>
            <a:r>
              <a:rPr lang="en-US" altLang="en-US" sz="1100" dirty="0"/>
              <a:t>*</a:t>
            </a:r>
            <a:r>
              <a:rPr lang="en-US" altLang="en-US" sz="1100" dirty="0" err="1"/>
              <a:t>jdsim</a:t>
            </a:r>
            <a:r>
              <a:rPr lang="en-US" altLang="en-US" sz="1100" dirty="0"/>
              <a:t> is a digital simulator that supports CAST based designs</a:t>
            </a:r>
          </a:p>
          <a:p>
            <a:endParaRPr lang="en-US" sz="1100" dirty="0" err="1">
              <a:solidFill>
                <a:srgbClr val="003C71"/>
              </a:solidFill>
            </a:endParaRPr>
          </a:p>
        </p:txBody>
      </p:sp>
    </p:spTree>
    <p:extLst>
      <p:ext uri="{BB962C8B-B14F-4D97-AF65-F5344CB8AC3E}">
        <p14:creationId xmlns:p14="http://schemas.microsoft.com/office/powerpoint/2010/main" val="29064078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37</a:t>
            </a:fld>
            <a:endParaRPr lang="en-US" dirty="0"/>
          </a:p>
        </p:txBody>
      </p:sp>
      <p:sp>
        <p:nvSpPr>
          <p:cNvPr id="3" name="Title 2"/>
          <p:cNvSpPr>
            <a:spLocks noGrp="1"/>
          </p:cNvSpPr>
          <p:nvPr>
            <p:ph type="title"/>
          </p:nvPr>
        </p:nvSpPr>
        <p:spPr/>
        <p:txBody>
          <a:bodyPr/>
          <a:lstStyle/>
          <a:p>
            <a:r>
              <a:rPr lang="en-US" dirty="0"/>
              <a:t>To Simulate: </a:t>
            </a:r>
            <a:r>
              <a:rPr lang="en-US" dirty="0" err="1"/>
              <a:t>jdsim</a:t>
            </a:r>
            <a:endParaRPr lang="en-US" dirty="0"/>
          </a:p>
        </p:txBody>
      </p:sp>
      <p:sp>
        <p:nvSpPr>
          <p:cNvPr id="4" name="Content Placeholder 3"/>
          <p:cNvSpPr>
            <a:spLocks noGrp="1"/>
          </p:cNvSpPr>
          <p:nvPr>
            <p:ph sz="quarter" idx="13"/>
          </p:nvPr>
        </p:nvSpPr>
        <p:spPr>
          <a:xfrm>
            <a:off x="486897" y="1177528"/>
            <a:ext cx="8228012" cy="3425825"/>
          </a:xfrm>
        </p:spPr>
        <p:txBody>
          <a:bodyPr/>
          <a:lstStyle/>
          <a:p>
            <a:pPr>
              <a:spcBef>
                <a:spcPts val="0"/>
              </a:spcBef>
            </a:pPr>
            <a:r>
              <a:rPr lang="en-US" sz="1600" dirty="0">
                <a:solidFill>
                  <a:schemeClr val="tx1"/>
                </a:solidFill>
                <a:latin typeface="Verdana" panose="020B0604030504040204" pitchFamily="34" charset="0"/>
                <a:ea typeface="Verdana" panose="020B0604030504040204" pitchFamily="34" charset="0"/>
                <a:cs typeface="Verdana" panose="020B0604030504040204" pitchFamily="34" charset="0"/>
              </a:rPr>
              <a:t>% fulcrum </a:t>
            </a:r>
            <a:r>
              <a:rPr lang="en-US" sz="1600" dirty="0" err="1">
                <a:solidFill>
                  <a:schemeClr val="tx1"/>
                </a:solidFill>
                <a:latin typeface="Verdana" panose="020B0604030504040204" pitchFamily="34" charset="0"/>
                <a:ea typeface="Verdana" panose="020B0604030504040204" pitchFamily="34" charset="0"/>
                <a:cs typeface="Verdana" panose="020B0604030504040204" pitchFamily="34" charset="0"/>
              </a:rPr>
              <a:t>jdsim</a:t>
            </a:r>
            <a:r>
              <a:rPr lang="en-US" sz="1600" dirty="0">
                <a:solidFill>
                  <a:schemeClr val="tx1"/>
                </a:solidFill>
                <a:latin typeface="Verdana" panose="020B0604030504040204" pitchFamily="34" charset="0"/>
                <a:ea typeface="Verdana" panose="020B0604030504040204" pitchFamily="34" charset="0"/>
                <a:cs typeface="Verdana" panose="020B0604030504040204" pitchFamily="34" charset="0"/>
              </a:rPr>
              <a:t> --cast-path=$CAST_DIR:$SPEC_DIR</a:t>
            </a:r>
            <a:endParaRPr lang="en-US" sz="1600" dirty="0">
              <a:latin typeface="Verdana" panose="020B0604030504040204" pitchFamily="34" charset="0"/>
              <a:ea typeface="Verdana" panose="020B0604030504040204" pitchFamily="34" charset="0"/>
              <a:cs typeface="Verdana" panose="020B0604030504040204" pitchFamily="34" charset="0"/>
            </a:endParaRPr>
          </a:p>
          <a:p>
            <a:pPr>
              <a:spcBef>
                <a:spcPts val="0"/>
              </a:spcBef>
            </a:pPr>
            <a:r>
              <a:rPr lang="en-US" sz="1600" dirty="0" err="1">
                <a:latin typeface="Verdana" panose="020B0604030504040204" pitchFamily="34" charset="0"/>
                <a:ea typeface="Verdana" panose="020B0604030504040204" pitchFamily="34" charset="0"/>
                <a:cs typeface="Verdana" panose="020B0604030504040204" pitchFamily="34" charset="0"/>
              </a:rPr>
              <a:t>cosimulate</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dirty="0" err="1">
                <a:latin typeface="Verdana" panose="020B0604030504040204" pitchFamily="34" charset="0"/>
                <a:ea typeface="Verdana" panose="020B0604030504040204" pitchFamily="34" charset="0"/>
                <a:cs typeface="Verdana" panose="020B0604030504040204" pitchFamily="34" charset="0"/>
              </a:rPr>
              <a:t>lib.bd.math.add.ABSTRACT_ADD</a:t>
            </a:r>
            <a:r>
              <a:rPr lang="en-US" sz="1600" dirty="0">
                <a:latin typeface="Verdana" panose="020B0604030504040204" pitchFamily="34" charset="0"/>
                <a:ea typeface="Verdana" panose="020B0604030504040204" pitchFamily="34" charset="0"/>
                <a:cs typeface="Verdana" panose="020B0604030504040204" pitchFamily="34" charset="0"/>
              </a:rPr>
              <a:t>(16,16){</a:t>
            </a:r>
            <a:r>
              <a:rPr lang="en-US" sz="1600" dirty="0" err="1">
                <a:latin typeface="Verdana" panose="020B0604030504040204" pitchFamily="34" charset="0"/>
                <a:ea typeface="Verdana" panose="020B0604030504040204" pitchFamily="34" charset="0"/>
                <a:cs typeface="Verdana" panose="020B0604030504040204" pitchFamily="34" charset="0"/>
              </a:rPr>
              <a:t>csp</a:t>
            </a:r>
            <a:r>
              <a:rPr lang="en-US" sz="1600" dirty="0">
                <a:latin typeface="Verdana" panose="020B0604030504040204" pitchFamily="34" charset="0"/>
                <a:ea typeface="Verdana" panose="020B0604030504040204" pitchFamily="34" charset="0"/>
                <a:cs typeface="Verdana" panose="020B0604030504040204" pitchFamily="34" charset="0"/>
              </a:rPr>
              <a:t>}:digital</a:t>
            </a: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devices</a:t>
            </a:r>
          </a:p>
          <a:p>
            <a:pPr marL="346075" lvl="2" indent="0">
              <a:spcBef>
                <a:spcPts val="0"/>
              </a:spcBef>
              <a:buNone/>
            </a:pPr>
            <a:r>
              <a:rPr lang="en-US" sz="800" dirty="0">
                <a:latin typeface="Verdana" panose="020B0604030504040204" pitchFamily="34" charset="0"/>
                <a:ea typeface="Verdana" panose="020B0604030504040204" pitchFamily="34" charset="0"/>
                <a:cs typeface="Verdana" panose="020B0604030504040204" pitchFamily="34" charset="0"/>
              </a:rPr>
              <a:t>*x               </a:t>
            </a: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reset</a:t>
            </a:r>
          </a:p>
          <a:p>
            <a:pPr>
              <a:spcBef>
                <a:spcPts val="0"/>
              </a:spcBef>
            </a:pPr>
            <a:r>
              <a:rPr lang="en-US" sz="1600" dirty="0" err="1">
                <a:latin typeface="Verdana" panose="020B0604030504040204" pitchFamily="34" charset="0"/>
                <a:ea typeface="Verdana" panose="020B0604030504040204" pitchFamily="34" charset="0"/>
                <a:cs typeface="Verdana" panose="020B0604030504040204" pitchFamily="34" charset="0"/>
              </a:rPr>
              <a:t>timed_random</a:t>
            </a:r>
            <a:endParaRPr lang="en-US" sz="1600" dirty="0">
              <a:latin typeface="Verdana" panose="020B0604030504040204" pitchFamily="34" charset="0"/>
              <a:ea typeface="Verdana" panose="020B0604030504040204" pitchFamily="34" charset="0"/>
              <a:cs typeface="Verdana" panose="020B0604030504040204" pitchFamily="34" charset="0"/>
            </a:endParaRPr>
          </a:p>
          <a:p>
            <a:pPr>
              <a:spcBef>
                <a:spcPts val="0"/>
              </a:spcBef>
            </a:pPr>
            <a:r>
              <a:rPr lang="en-US" sz="1600" dirty="0" err="1">
                <a:latin typeface="Verdana" panose="020B0604030504040204" pitchFamily="34" charset="0"/>
                <a:ea typeface="Verdana" panose="020B0604030504040204" pitchFamily="34" charset="0"/>
                <a:cs typeface="Verdana" panose="020B0604030504040204" pitchFamily="34" charset="0"/>
              </a:rPr>
              <a:t>timed_delay</a:t>
            </a:r>
            <a:r>
              <a:rPr lang="en-US" sz="1600" dirty="0">
                <a:latin typeface="Verdana" panose="020B0604030504040204" pitchFamily="34" charset="0"/>
                <a:ea typeface="Verdana" panose="020B0604030504040204" pitchFamily="34" charset="0"/>
                <a:cs typeface="Verdana" panose="020B0604030504040204" pitchFamily="34" charset="0"/>
              </a:rPr>
              <a:t> 0.9 1</a:t>
            </a:r>
          </a:p>
          <a:p>
            <a:pPr>
              <a:spcBef>
                <a:spcPts val="0"/>
              </a:spcBef>
            </a:pPr>
            <a:r>
              <a:rPr lang="en-US" sz="1600" dirty="0" err="1">
                <a:latin typeface="Verdana" panose="020B0604030504040204" pitchFamily="34" charset="0"/>
                <a:ea typeface="Verdana" panose="020B0604030504040204" pitchFamily="34" charset="0"/>
                <a:cs typeface="Verdana" panose="020B0604030504040204" pitchFamily="34" charset="0"/>
              </a:rPr>
              <a:t>log_channels</a:t>
            </a:r>
            <a:r>
              <a:rPr lang="en-US" sz="1600" dirty="0">
                <a:latin typeface="Verdana" panose="020B0604030504040204" pitchFamily="34" charset="0"/>
                <a:ea typeface="Verdana" panose="020B0604030504040204" pitchFamily="34" charset="0"/>
                <a:cs typeface="Verdana" panose="020B0604030504040204" pitchFamily="34" charset="0"/>
              </a:rPr>
              <a:t> x on</a:t>
            </a: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cycle 2000</a:t>
            </a:r>
          </a:p>
          <a:p>
            <a:pPr marL="346075" lvl="2" indent="0">
              <a:spcBef>
                <a:spcPts val="0"/>
              </a:spcBef>
              <a:buNone/>
            </a:pPr>
            <a:r>
              <a:rPr lang="en-US" sz="800" dirty="0">
                <a:latin typeface="Verdana" panose="020B0604030504040204" pitchFamily="34" charset="0"/>
                <a:ea typeface="Verdana" panose="020B0604030504040204" pitchFamily="34" charset="0"/>
                <a:cs typeface="Verdana" panose="020B0604030504040204" pitchFamily="34" charset="0"/>
              </a:rPr>
              <a:t>1300: x: received 0x8001 on channel </a:t>
            </a:r>
            <a:r>
              <a:rPr lang="en-US" sz="800" dirty="0" err="1">
                <a:latin typeface="Verdana" panose="020B0604030504040204" pitchFamily="34" charset="0"/>
                <a:ea typeface="Verdana" panose="020B0604030504040204" pitchFamily="34" charset="0"/>
                <a:cs typeface="Verdana" panose="020B0604030504040204" pitchFamily="34" charset="0"/>
              </a:rPr>
              <a:t>x.A</a:t>
            </a:r>
            <a:endParaRPr lang="en-US" sz="800" dirty="0">
              <a:latin typeface="Verdana" panose="020B0604030504040204" pitchFamily="34" charset="0"/>
              <a:ea typeface="Verdana" panose="020B0604030504040204" pitchFamily="34" charset="0"/>
              <a:cs typeface="Verdana" panose="020B0604030504040204" pitchFamily="34" charset="0"/>
            </a:endParaRPr>
          </a:p>
          <a:p>
            <a:pPr marL="346075" lvl="2" indent="0">
              <a:spcBef>
                <a:spcPts val="0"/>
              </a:spcBef>
              <a:buNone/>
            </a:pPr>
            <a:r>
              <a:rPr lang="en-US" sz="800" dirty="0">
                <a:latin typeface="Verdana" panose="020B0604030504040204" pitchFamily="34" charset="0"/>
                <a:ea typeface="Verdana" panose="020B0604030504040204" pitchFamily="34" charset="0"/>
                <a:cs typeface="Verdana" panose="020B0604030504040204" pitchFamily="34" charset="0"/>
              </a:rPr>
              <a:t>1300: x: received 0x801d on channel </a:t>
            </a:r>
            <a:r>
              <a:rPr lang="en-US" sz="800" dirty="0" err="1">
                <a:latin typeface="Verdana" panose="020B0604030504040204" pitchFamily="34" charset="0"/>
                <a:ea typeface="Verdana" panose="020B0604030504040204" pitchFamily="34" charset="0"/>
                <a:cs typeface="Verdana" panose="020B0604030504040204" pitchFamily="34" charset="0"/>
              </a:rPr>
              <a:t>x.B</a:t>
            </a:r>
            <a:endParaRPr lang="en-US" sz="800" dirty="0">
              <a:latin typeface="Verdana" panose="020B0604030504040204" pitchFamily="34" charset="0"/>
              <a:ea typeface="Verdana" panose="020B0604030504040204" pitchFamily="34" charset="0"/>
              <a:cs typeface="Verdana" panose="020B0604030504040204" pitchFamily="34" charset="0"/>
            </a:endParaRPr>
          </a:p>
          <a:p>
            <a:pPr marL="346075" lvl="2" indent="0">
              <a:spcBef>
                <a:spcPts val="0"/>
              </a:spcBef>
              <a:buNone/>
            </a:pPr>
            <a:r>
              <a:rPr lang="en-US" sz="800" dirty="0">
                <a:latin typeface="Verdana" panose="020B0604030504040204" pitchFamily="34" charset="0"/>
                <a:ea typeface="Verdana" panose="020B0604030504040204" pitchFamily="34" charset="0"/>
                <a:cs typeface="Verdana" panose="020B0604030504040204" pitchFamily="34" charset="0"/>
              </a:rPr>
              <a:t>1300:x: sent 0x1e on channel </a:t>
            </a:r>
            <a:r>
              <a:rPr lang="en-US" sz="800" dirty="0" err="1">
                <a:latin typeface="Verdana" panose="020B0604030504040204" pitchFamily="34" charset="0"/>
                <a:ea typeface="Verdana" panose="020B0604030504040204" pitchFamily="34" charset="0"/>
                <a:cs typeface="Verdana" panose="020B0604030504040204" pitchFamily="34" charset="0"/>
              </a:rPr>
              <a:t>x.S</a:t>
            </a:r>
            <a:endParaRPr lang="en-US" sz="800" dirty="0">
              <a:latin typeface="Verdana" panose="020B0604030504040204" pitchFamily="34" charset="0"/>
              <a:ea typeface="Verdana" panose="020B0604030504040204" pitchFamily="34" charset="0"/>
              <a:cs typeface="Verdana" panose="020B0604030504040204" pitchFamily="34" charset="0"/>
            </a:endParaRPr>
          </a:p>
          <a:p>
            <a:pPr marL="346075" lvl="2" indent="0">
              <a:spcBef>
                <a:spcPts val="0"/>
              </a:spcBef>
              <a:buNone/>
            </a:pPr>
            <a:r>
              <a:rPr lang="en-US" sz="800" dirty="0">
                <a:latin typeface="Verdana" panose="020B0604030504040204" pitchFamily="34" charset="0"/>
                <a:ea typeface="Verdana" panose="020B0604030504040204" pitchFamily="34" charset="0"/>
                <a:cs typeface="Verdana" panose="020B0604030504040204" pitchFamily="34" charset="0"/>
              </a:rPr>
              <a:t>3100: x: received 0xd804 on channel </a:t>
            </a:r>
            <a:r>
              <a:rPr lang="en-US" sz="800" dirty="0" err="1">
                <a:latin typeface="Verdana" panose="020B0604030504040204" pitchFamily="34" charset="0"/>
                <a:ea typeface="Verdana" panose="020B0604030504040204" pitchFamily="34" charset="0"/>
                <a:cs typeface="Verdana" panose="020B0604030504040204" pitchFamily="34" charset="0"/>
              </a:rPr>
              <a:t>x.A</a:t>
            </a:r>
            <a:endParaRPr lang="en-US" sz="800" dirty="0">
              <a:latin typeface="Verdana" panose="020B0604030504040204" pitchFamily="34" charset="0"/>
              <a:ea typeface="Verdana" panose="020B0604030504040204" pitchFamily="34" charset="0"/>
              <a:cs typeface="Verdana" panose="020B0604030504040204" pitchFamily="34" charset="0"/>
            </a:endParaRPr>
          </a:p>
          <a:p>
            <a:pPr marL="346075" lvl="2" indent="0">
              <a:spcBef>
                <a:spcPts val="0"/>
              </a:spcBef>
              <a:buNone/>
            </a:pPr>
            <a:r>
              <a:rPr lang="en-US" sz="800" dirty="0">
                <a:latin typeface="Verdana" panose="020B0604030504040204" pitchFamily="34" charset="0"/>
                <a:ea typeface="Verdana" panose="020B0604030504040204" pitchFamily="34" charset="0"/>
                <a:cs typeface="Verdana" panose="020B0604030504040204" pitchFamily="34" charset="0"/>
              </a:rPr>
              <a:t>3100: x: received 0xa04b on channel </a:t>
            </a:r>
            <a:r>
              <a:rPr lang="en-US" sz="800" dirty="0" err="1">
                <a:latin typeface="Verdana" panose="020B0604030504040204" pitchFamily="34" charset="0"/>
                <a:ea typeface="Verdana" panose="020B0604030504040204" pitchFamily="34" charset="0"/>
                <a:cs typeface="Verdana" panose="020B0604030504040204" pitchFamily="34" charset="0"/>
              </a:rPr>
              <a:t>x.B</a:t>
            </a:r>
            <a:endParaRPr lang="en-US" sz="800" dirty="0">
              <a:latin typeface="Verdana" panose="020B0604030504040204" pitchFamily="34" charset="0"/>
              <a:ea typeface="Verdana" panose="020B0604030504040204" pitchFamily="34" charset="0"/>
              <a:cs typeface="Verdana" panose="020B0604030504040204" pitchFamily="34" charset="0"/>
            </a:endParaRPr>
          </a:p>
          <a:p>
            <a:pPr marL="346075" lvl="2" indent="0">
              <a:spcBef>
                <a:spcPts val="0"/>
              </a:spcBef>
              <a:buNone/>
            </a:pPr>
            <a:r>
              <a:rPr lang="en-US" sz="800" dirty="0">
                <a:latin typeface="Verdana" panose="020B0604030504040204" pitchFamily="34" charset="0"/>
                <a:ea typeface="Verdana" panose="020B0604030504040204" pitchFamily="34" charset="0"/>
                <a:cs typeface="Verdana" panose="020B0604030504040204" pitchFamily="34" charset="0"/>
              </a:rPr>
              <a:t>3100:x: sent 0x784f on channel </a:t>
            </a:r>
            <a:r>
              <a:rPr lang="en-US" sz="800" dirty="0" err="1">
                <a:latin typeface="Verdana" panose="020B0604030504040204" pitchFamily="34" charset="0"/>
                <a:ea typeface="Verdana" panose="020B0604030504040204" pitchFamily="34" charset="0"/>
                <a:cs typeface="Verdana" panose="020B0604030504040204" pitchFamily="34" charset="0"/>
              </a:rPr>
              <a:t>x.S</a:t>
            </a:r>
            <a:r>
              <a:rPr lang="en-US" sz="800" dirty="0">
                <a:latin typeface="Verdana" panose="020B0604030504040204" pitchFamily="34" charset="0"/>
                <a:ea typeface="Verdana" panose="020B0604030504040204" pitchFamily="34" charset="0"/>
                <a:cs typeface="Verdana" panose="020B0604030504040204" pitchFamily="34" charset="0"/>
              </a:rPr>
              <a:t> </a:t>
            </a:r>
          </a:p>
          <a:p>
            <a:pPr>
              <a:spcBef>
                <a:spcPts val="0"/>
              </a:spcBef>
            </a:pPr>
            <a:r>
              <a:rPr lang="en-US" dirty="0">
                <a:latin typeface="Verdana" panose="020B0604030504040204" pitchFamily="34" charset="0"/>
                <a:ea typeface="Verdana" panose="020B0604030504040204" pitchFamily="34" charset="0"/>
                <a:cs typeface="Verdana" panose="020B0604030504040204" pitchFamily="34" charset="0"/>
              </a:rPr>
              <a:t>help</a:t>
            </a:r>
          </a:p>
          <a:p>
            <a:pPr>
              <a:spcBef>
                <a:spcPts val="0"/>
              </a:spcBef>
            </a:pPr>
            <a:r>
              <a:rPr lang="en-US" dirty="0">
                <a:latin typeface="Verdana" panose="020B0604030504040204" pitchFamily="34" charset="0"/>
                <a:ea typeface="Verdana" panose="020B0604030504040204" pitchFamily="34" charset="0"/>
                <a:cs typeface="Verdana" panose="020B0604030504040204" pitchFamily="34" charset="0"/>
              </a:rPr>
              <a:t>Ctrl-C</a:t>
            </a:r>
          </a:p>
        </p:txBody>
      </p:sp>
      <p:sp>
        <p:nvSpPr>
          <p:cNvPr id="5" name="Line Callout 1 4"/>
          <p:cNvSpPr/>
          <p:nvPr/>
        </p:nvSpPr>
        <p:spPr>
          <a:xfrm>
            <a:off x="7033515" y="826260"/>
            <a:ext cx="1811273" cy="299258"/>
          </a:xfrm>
          <a:prstGeom prst="borderCallout1">
            <a:avLst>
              <a:gd name="adj1" fmla="val 79190"/>
              <a:gd name="adj2" fmla="val -531"/>
              <a:gd name="adj3" fmla="val 148171"/>
              <a:gd name="adj4" fmla="val -49471"/>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Run </a:t>
            </a:r>
            <a:r>
              <a:rPr lang="en-US" sz="1200" dirty="0" err="1">
                <a:solidFill>
                  <a:schemeClr val="tx1"/>
                </a:solidFill>
              </a:rPr>
              <a:t>DSim</a:t>
            </a:r>
            <a:r>
              <a:rPr lang="en-US" sz="1200" dirty="0">
                <a:solidFill>
                  <a:schemeClr val="tx1"/>
                </a:solidFill>
              </a:rPr>
              <a:t> (aka </a:t>
            </a:r>
            <a:r>
              <a:rPr lang="en-US" sz="1200" dirty="0" err="1">
                <a:solidFill>
                  <a:schemeClr val="tx1"/>
                </a:solidFill>
              </a:rPr>
              <a:t>jdsim</a:t>
            </a:r>
            <a:r>
              <a:rPr lang="en-US" sz="1200" dirty="0">
                <a:solidFill>
                  <a:schemeClr val="tx1"/>
                </a:solidFill>
              </a:rPr>
              <a:t>)</a:t>
            </a:r>
          </a:p>
        </p:txBody>
      </p:sp>
      <p:sp>
        <p:nvSpPr>
          <p:cNvPr id="6" name="Line Callout 1 5"/>
          <p:cNvSpPr/>
          <p:nvPr/>
        </p:nvSpPr>
        <p:spPr>
          <a:xfrm>
            <a:off x="7209692" y="1234669"/>
            <a:ext cx="1817077" cy="441732"/>
          </a:xfrm>
          <a:prstGeom prst="borderCallout1">
            <a:avLst>
              <a:gd name="adj1" fmla="val 30725"/>
              <a:gd name="adj2" fmla="val -72"/>
              <a:gd name="adj3" fmla="val 52898"/>
              <a:gd name="adj4" fmla="val -52636"/>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Simulate the </a:t>
            </a:r>
            <a:r>
              <a:rPr lang="en-US" sz="1200" dirty="0" err="1">
                <a:solidFill>
                  <a:schemeClr val="tx1"/>
                </a:solidFill>
              </a:rPr>
              <a:t>csp</a:t>
            </a:r>
            <a:r>
              <a:rPr lang="en-US" sz="1200" dirty="0">
                <a:solidFill>
                  <a:schemeClr val="tx1"/>
                </a:solidFill>
              </a:rPr>
              <a:t> for ABSTRACT_ADD(16,16) </a:t>
            </a:r>
          </a:p>
        </p:txBody>
      </p:sp>
      <p:sp>
        <p:nvSpPr>
          <p:cNvPr id="7" name="Line Callout 1 6"/>
          <p:cNvSpPr/>
          <p:nvPr/>
        </p:nvSpPr>
        <p:spPr>
          <a:xfrm>
            <a:off x="3698815" y="2637692"/>
            <a:ext cx="2637508" cy="234934"/>
          </a:xfrm>
          <a:prstGeom prst="borderCallout1">
            <a:avLst>
              <a:gd name="adj1" fmla="val 52642"/>
              <a:gd name="adj2" fmla="val 150"/>
              <a:gd name="adj3" fmla="val 107137"/>
              <a:gd name="adj4" fmla="val -47269"/>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Prints all </a:t>
            </a:r>
            <a:r>
              <a:rPr lang="en-US" sz="1200" dirty="0" err="1">
                <a:solidFill>
                  <a:schemeClr val="tx1"/>
                </a:solidFill>
              </a:rPr>
              <a:t>csp</a:t>
            </a:r>
            <a:r>
              <a:rPr lang="en-US" sz="1200" dirty="0">
                <a:solidFill>
                  <a:schemeClr val="tx1"/>
                </a:solidFill>
              </a:rPr>
              <a:t> channel transactions</a:t>
            </a:r>
          </a:p>
        </p:txBody>
      </p:sp>
      <p:sp>
        <p:nvSpPr>
          <p:cNvPr id="8" name="Line Callout 1 7"/>
          <p:cNvSpPr/>
          <p:nvPr/>
        </p:nvSpPr>
        <p:spPr>
          <a:xfrm>
            <a:off x="3100299" y="3048450"/>
            <a:ext cx="3956993" cy="339519"/>
          </a:xfrm>
          <a:prstGeom prst="borderCallout1">
            <a:avLst>
              <a:gd name="adj1" fmla="val 50468"/>
              <a:gd name="adj2" fmla="val 258"/>
              <a:gd name="adj3" fmla="val 54302"/>
              <a:gd name="adj4" fmla="val -42141"/>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Cycle for 2000 time units (~1 cycle). During the cycle command </a:t>
            </a:r>
            <a:r>
              <a:rPr lang="en-US" sz="1200" dirty="0" err="1">
                <a:solidFill>
                  <a:schemeClr val="tx1"/>
                </a:solidFill>
              </a:rPr>
              <a:t>dsim</a:t>
            </a:r>
            <a:r>
              <a:rPr lang="en-US" sz="1200" dirty="0">
                <a:solidFill>
                  <a:schemeClr val="tx1"/>
                </a:solidFill>
              </a:rPr>
              <a:t> applies inputs and consumes outputs.</a:t>
            </a:r>
          </a:p>
        </p:txBody>
      </p:sp>
      <p:sp>
        <p:nvSpPr>
          <p:cNvPr id="9" name="Line Callout 1 8"/>
          <p:cNvSpPr/>
          <p:nvPr/>
        </p:nvSpPr>
        <p:spPr>
          <a:xfrm>
            <a:off x="2889285" y="4132385"/>
            <a:ext cx="4097669" cy="392723"/>
          </a:xfrm>
          <a:prstGeom prst="borderCallout1">
            <a:avLst>
              <a:gd name="adj1" fmla="val 50468"/>
              <a:gd name="adj2" fmla="val 258"/>
              <a:gd name="adj3" fmla="val 66242"/>
              <a:gd name="adj4" fmla="val -39709"/>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Press "ctrl-c" to halt the simulation. Executing "cycle" right after will continue the simulation from where it left. </a:t>
            </a:r>
          </a:p>
        </p:txBody>
      </p:sp>
      <p:sp>
        <p:nvSpPr>
          <p:cNvPr id="10" name="Line Callout 1 9"/>
          <p:cNvSpPr/>
          <p:nvPr/>
        </p:nvSpPr>
        <p:spPr>
          <a:xfrm>
            <a:off x="2333076" y="1946031"/>
            <a:ext cx="2637508" cy="234934"/>
          </a:xfrm>
          <a:prstGeom prst="borderCallout1">
            <a:avLst>
              <a:gd name="adj1" fmla="val 52642"/>
              <a:gd name="adj2" fmla="val 150"/>
              <a:gd name="adj3" fmla="val 107137"/>
              <a:gd name="adj4" fmla="val -47269"/>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Reset all variables to initial state</a:t>
            </a:r>
          </a:p>
        </p:txBody>
      </p:sp>
    </p:spTree>
    <p:extLst>
      <p:ext uri="{BB962C8B-B14F-4D97-AF65-F5344CB8AC3E}">
        <p14:creationId xmlns:p14="http://schemas.microsoft.com/office/powerpoint/2010/main" val="923871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38</a:t>
            </a:fld>
            <a:endParaRPr lang="en-US" dirty="0"/>
          </a:p>
        </p:txBody>
      </p:sp>
      <p:sp>
        <p:nvSpPr>
          <p:cNvPr id="3" name="Title 2"/>
          <p:cNvSpPr>
            <a:spLocks noGrp="1"/>
          </p:cNvSpPr>
          <p:nvPr>
            <p:ph type="title"/>
          </p:nvPr>
        </p:nvSpPr>
        <p:spPr/>
        <p:txBody>
          <a:bodyPr/>
          <a:lstStyle/>
          <a:p>
            <a:r>
              <a:rPr lang="en-US" dirty="0"/>
              <a:t>Intricacies of co-simulation</a:t>
            </a:r>
          </a:p>
        </p:txBody>
      </p:sp>
      <p:sp>
        <p:nvSpPr>
          <p:cNvPr id="4" name="Content Placeholder 3"/>
          <p:cNvSpPr>
            <a:spLocks noGrp="1"/>
          </p:cNvSpPr>
          <p:nvPr>
            <p:ph sz="quarter" idx="13"/>
          </p:nvPr>
        </p:nvSpPr>
        <p:spPr/>
        <p:txBody>
          <a:bodyPr/>
          <a:lstStyle/>
          <a:p>
            <a:pPr>
              <a:spcBef>
                <a:spcPts val="0"/>
              </a:spcBef>
            </a:pPr>
            <a:r>
              <a:rPr lang="en-US" sz="1400" dirty="0" err="1">
                <a:latin typeface="Verdana" panose="020B0604030504040204" pitchFamily="34" charset="0"/>
                <a:ea typeface="Verdana" panose="020B0604030504040204" pitchFamily="34" charset="0"/>
                <a:cs typeface="Verdana" panose="020B0604030504040204" pitchFamily="34" charset="0"/>
              </a:rPr>
              <a:t>cosimulate</a:t>
            </a:r>
            <a:r>
              <a:rPr lang="en-US" sz="1400" dirty="0">
                <a:latin typeface="Verdana" panose="020B0604030504040204" pitchFamily="34" charset="0"/>
                <a:ea typeface="Verdana" panose="020B0604030504040204" pitchFamily="34" charset="0"/>
                <a:cs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rPr>
              <a:t>lib.bd.math.multiply.MUL</a:t>
            </a:r>
            <a:r>
              <a:rPr lang="en-US" sz="1400" dirty="0">
                <a:latin typeface="Verdana" panose="020B0604030504040204" pitchFamily="34" charset="0"/>
                <a:ea typeface="Verdana" panose="020B0604030504040204" pitchFamily="34" charset="0"/>
                <a:cs typeface="Verdana" panose="020B0604030504040204" pitchFamily="34" charset="0"/>
              </a:rPr>
              <a:t>(16,4){</a:t>
            </a:r>
            <a:r>
              <a:rPr lang="en-US" sz="1400" dirty="0" err="1">
                <a:latin typeface="Verdana" panose="020B0604030504040204" pitchFamily="34" charset="0"/>
                <a:ea typeface="Verdana" panose="020B0604030504040204" pitchFamily="34" charset="0"/>
                <a:cs typeface="Verdana" panose="020B0604030504040204" pitchFamily="34" charset="0"/>
              </a:rPr>
              <a:t>csp,subcells,prs|prs,subcells,csp</a:t>
            </a:r>
            <a:r>
              <a:rPr lang="en-US" sz="1400" dirty="0">
                <a:latin typeface="Verdana" panose="020B0604030504040204" pitchFamily="34" charset="0"/>
                <a:ea typeface="Verdana" panose="020B0604030504040204" pitchFamily="34" charset="0"/>
                <a:cs typeface="Verdana" panose="020B0604030504040204" pitchFamily="34" charset="0"/>
              </a:rPr>
              <a:t>}:digital</a:t>
            </a:r>
          </a:p>
          <a:p>
            <a:pPr>
              <a:spcBef>
                <a:spcPts val="0"/>
              </a:spcBef>
            </a:pPr>
            <a:endParaRPr lang="en-US" sz="1600" dirty="0">
              <a:latin typeface="Verdana" panose="020B0604030504040204" pitchFamily="34" charset="0"/>
              <a:ea typeface="Verdana" panose="020B0604030504040204" pitchFamily="34" charset="0"/>
              <a:cs typeface="Verdana" panose="020B0604030504040204" pitchFamily="34" charset="0"/>
            </a:endParaRP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The { } is the “</a:t>
            </a:r>
            <a:r>
              <a:rPr lang="en-US" sz="1600" dirty="0" err="1">
                <a:latin typeface="Verdana" panose="020B0604030504040204" pitchFamily="34" charset="0"/>
                <a:ea typeface="Verdana" panose="020B0604030504040204" pitchFamily="34" charset="0"/>
                <a:cs typeface="Verdana" panose="020B0604030504040204" pitchFamily="34" charset="0"/>
              </a:rPr>
              <a:t>cosimulation</a:t>
            </a:r>
            <a:r>
              <a:rPr lang="en-US" sz="1600" dirty="0">
                <a:latin typeface="Verdana" panose="020B0604030504040204" pitchFamily="34" charset="0"/>
                <a:ea typeface="Verdana" panose="020B0604030504040204" pitchFamily="34" charset="0"/>
                <a:cs typeface="Verdana" panose="020B0604030504040204" pitchFamily="34" charset="0"/>
              </a:rPr>
              <a:t> spec” which says what levels you want to simulate.</a:t>
            </a: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The first says </a:t>
            </a:r>
            <a:r>
              <a:rPr lang="en-US" sz="1600" dirty="0" err="1">
                <a:latin typeface="Verdana" panose="020B0604030504040204" pitchFamily="34" charset="0"/>
                <a:ea typeface="Verdana" panose="020B0604030504040204" pitchFamily="34" charset="0"/>
                <a:cs typeface="Verdana" panose="020B0604030504040204" pitchFamily="34" charset="0"/>
              </a:rPr>
              <a:t>csp</a:t>
            </a:r>
            <a:r>
              <a:rPr lang="en-US" sz="1600" dirty="0">
                <a:latin typeface="Verdana" panose="020B0604030504040204" pitchFamily="34" charset="0"/>
                <a:ea typeface="Verdana" panose="020B0604030504040204" pitchFamily="34" charset="0"/>
                <a:cs typeface="Verdana" panose="020B0604030504040204" pitchFamily="34" charset="0"/>
              </a:rPr>
              <a:t> bodies take precedence over </a:t>
            </a:r>
            <a:r>
              <a:rPr lang="en-US" sz="1600" dirty="0" err="1">
                <a:latin typeface="Verdana" panose="020B0604030504040204" pitchFamily="34" charset="0"/>
                <a:ea typeface="Verdana" panose="020B0604030504040204" pitchFamily="34" charset="0"/>
                <a:cs typeface="Verdana" panose="020B0604030504040204" pitchFamily="34" charset="0"/>
              </a:rPr>
              <a:t>subcells</a:t>
            </a:r>
            <a:r>
              <a:rPr lang="en-US" sz="1600" dirty="0">
                <a:latin typeface="Verdana" panose="020B0604030504040204" pitchFamily="34" charset="0"/>
                <a:ea typeface="Verdana" panose="020B0604030504040204" pitchFamily="34" charset="0"/>
                <a:cs typeface="Verdana" panose="020B0604030504040204" pitchFamily="34" charset="0"/>
              </a:rPr>
              <a:t> or </a:t>
            </a:r>
            <a:r>
              <a:rPr lang="en-US" sz="1600" dirty="0" err="1">
                <a:latin typeface="Verdana" panose="020B0604030504040204" pitchFamily="34" charset="0"/>
                <a:ea typeface="Verdana" panose="020B0604030504040204" pitchFamily="34" charset="0"/>
                <a:cs typeface="Verdana" panose="020B0604030504040204" pitchFamily="34" charset="0"/>
              </a:rPr>
              <a:t>prs</a:t>
            </a:r>
            <a:r>
              <a:rPr lang="en-US" sz="1600" dirty="0">
                <a:latin typeface="Verdana" panose="020B0604030504040204" pitchFamily="34" charset="0"/>
                <a:ea typeface="Verdana" panose="020B0604030504040204" pitchFamily="34" charset="0"/>
                <a:cs typeface="Verdana" panose="020B0604030504040204" pitchFamily="34" charset="0"/>
              </a:rPr>
              <a:t>; “Highest level”.</a:t>
            </a: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The second says </a:t>
            </a:r>
            <a:r>
              <a:rPr lang="en-US" sz="1600" dirty="0" err="1">
                <a:latin typeface="Verdana" panose="020B0604030504040204" pitchFamily="34" charset="0"/>
                <a:ea typeface="Verdana" panose="020B0604030504040204" pitchFamily="34" charset="0"/>
                <a:cs typeface="Verdana" panose="020B0604030504040204" pitchFamily="34" charset="0"/>
              </a:rPr>
              <a:t>prs</a:t>
            </a:r>
            <a:r>
              <a:rPr lang="en-US" sz="1600" dirty="0">
                <a:latin typeface="Verdana" panose="020B0604030504040204" pitchFamily="34" charset="0"/>
                <a:ea typeface="Verdana" panose="020B0604030504040204" pitchFamily="34" charset="0"/>
                <a:cs typeface="Verdana" panose="020B0604030504040204" pitchFamily="34" charset="0"/>
              </a:rPr>
              <a:t> or </a:t>
            </a:r>
            <a:r>
              <a:rPr lang="en-US" sz="1600" dirty="0" err="1">
                <a:latin typeface="Verdana" panose="020B0604030504040204" pitchFamily="34" charset="0"/>
                <a:ea typeface="Verdana" panose="020B0604030504040204" pitchFamily="34" charset="0"/>
                <a:cs typeface="Verdana" panose="020B0604030504040204" pitchFamily="34" charset="0"/>
              </a:rPr>
              <a:t>subcells</a:t>
            </a:r>
            <a:r>
              <a:rPr lang="en-US" sz="1600" dirty="0">
                <a:latin typeface="Verdana" panose="020B0604030504040204" pitchFamily="34" charset="0"/>
                <a:ea typeface="Verdana" panose="020B0604030504040204" pitchFamily="34" charset="0"/>
                <a:cs typeface="Verdana" panose="020B0604030504040204" pitchFamily="34" charset="0"/>
              </a:rPr>
              <a:t> take precedence over </a:t>
            </a:r>
            <a:r>
              <a:rPr lang="en-US" sz="1600" dirty="0" err="1">
                <a:latin typeface="Verdana" panose="020B0604030504040204" pitchFamily="34" charset="0"/>
                <a:ea typeface="Verdana" panose="020B0604030504040204" pitchFamily="34" charset="0"/>
                <a:cs typeface="Verdana" panose="020B0604030504040204" pitchFamily="34" charset="0"/>
              </a:rPr>
              <a:t>csp</a:t>
            </a:r>
            <a:r>
              <a:rPr lang="en-US" sz="1600" dirty="0">
                <a:latin typeface="Verdana" panose="020B0604030504040204" pitchFamily="34" charset="0"/>
                <a:ea typeface="Verdana" panose="020B0604030504040204" pitchFamily="34" charset="0"/>
                <a:cs typeface="Verdana" panose="020B0604030504040204" pitchFamily="34" charset="0"/>
              </a:rPr>
              <a:t>; “Lowest level”.</a:t>
            </a: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The third says check the highest level against the lowest level.  This is the default and may be omitted.</a:t>
            </a:r>
          </a:p>
          <a:p>
            <a:pPr>
              <a:spcBef>
                <a:spcPts val="0"/>
              </a:spcBef>
            </a:pPr>
            <a:r>
              <a:rPr lang="en-US" sz="1600" dirty="0">
                <a:latin typeface="Verdana" panose="020B0604030504040204" pitchFamily="34" charset="0"/>
                <a:ea typeface="Verdana" panose="020B0604030504040204" pitchFamily="34" charset="0"/>
                <a:cs typeface="Verdana" panose="020B0604030504040204" pitchFamily="34" charset="0"/>
              </a:rPr>
              <a:t>You can pass </a:t>
            </a:r>
            <a:r>
              <a:rPr lang="en-US" sz="1600" dirty="0" err="1">
                <a:latin typeface="Verdana" panose="020B0604030504040204" pitchFamily="34" charset="0"/>
                <a:ea typeface="Verdana" panose="020B0604030504040204" pitchFamily="34" charset="0"/>
                <a:cs typeface="Verdana" panose="020B0604030504040204" pitchFamily="34" charset="0"/>
              </a:rPr>
              <a:t>metaparameters</a:t>
            </a:r>
            <a:r>
              <a:rPr lang="en-US" sz="1600" dirty="0">
                <a:latin typeface="Verdana" panose="020B0604030504040204" pitchFamily="34" charset="0"/>
                <a:ea typeface="Verdana" panose="020B0604030504040204" pitchFamily="34" charset="0"/>
                <a:cs typeface="Verdana" panose="020B0604030504040204" pitchFamily="34" charset="0"/>
              </a:rPr>
              <a:t> to the name </a:t>
            </a:r>
            <a:r>
              <a:rPr lang="en-US" sz="1600" dirty="0" err="1">
                <a:latin typeface="Verdana" panose="020B0604030504040204" pitchFamily="34" charset="0"/>
                <a:ea typeface="Verdana" panose="020B0604030504040204" pitchFamily="34" charset="0"/>
                <a:cs typeface="Verdana" panose="020B0604030504040204" pitchFamily="34" charset="0"/>
              </a:rPr>
              <a:t>env</a:t>
            </a:r>
            <a:r>
              <a:rPr lang="en-US" sz="1600" dirty="0">
                <a:latin typeface="Verdana" panose="020B0604030504040204" pitchFamily="34" charset="0"/>
                <a:ea typeface="Verdana" panose="020B0604030504040204" pitchFamily="34" charset="0"/>
                <a:cs typeface="Verdana" panose="020B0604030504040204" pitchFamily="34" charset="0"/>
              </a:rPr>
              <a:t> as well, if it needs them.</a:t>
            </a:r>
          </a:p>
          <a:p>
            <a:pPr>
              <a:spcBef>
                <a:spcPts val="0"/>
              </a:spcBef>
            </a:pPr>
            <a:endParaRPr lang="en-US" sz="1600" dirty="0">
              <a:latin typeface="Verdana" panose="020B0604030504040204" pitchFamily="34" charset="0"/>
              <a:ea typeface="Verdana" panose="020B0604030504040204" pitchFamily="34" charset="0"/>
              <a:cs typeface="Verdana" panose="020B0604030504040204" pitchFamily="34" charset="0"/>
            </a:endParaRPr>
          </a:p>
          <a:p>
            <a:pPr>
              <a:spcBef>
                <a:spcPts val="0"/>
              </a:spcBef>
            </a:pPr>
            <a:endParaRPr lang="en-US" sz="1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73708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39</a:t>
            </a:fld>
            <a:endParaRPr lang="en-US" dirty="0"/>
          </a:p>
        </p:txBody>
      </p:sp>
      <p:sp>
        <p:nvSpPr>
          <p:cNvPr id="3" name="Title 2"/>
          <p:cNvSpPr>
            <a:spLocks noGrp="1"/>
          </p:cNvSpPr>
          <p:nvPr>
            <p:ph type="title"/>
          </p:nvPr>
        </p:nvSpPr>
        <p:spPr/>
        <p:txBody>
          <a:bodyPr/>
          <a:lstStyle/>
          <a:p>
            <a:r>
              <a:rPr lang="en-US" dirty="0"/>
              <a:t>Other helpful DSIM tips</a:t>
            </a:r>
          </a:p>
        </p:txBody>
      </p:sp>
      <p:sp>
        <p:nvSpPr>
          <p:cNvPr id="4" name="Content Placeholder 3"/>
          <p:cNvSpPr>
            <a:spLocks noGrp="1"/>
          </p:cNvSpPr>
          <p:nvPr>
            <p:ph sz="quarter" idx="13"/>
          </p:nvPr>
        </p:nvSpPr>
        <p:spPr>
          <a:xfrm>
            <a:off x="400195" y="933162"/>
            <a:ext cx="8228012" cy="3425825"/>
          </a:xfrm>
        </p:spPr>
        <p:txBody>
          <a:bodyPr/>
          <a:lstStyle/>
          <a:p>
            <a:pPr marL="285750" indent="-285750">
              <a:buFont typeface="Arial" panose="020B0604020202020204" pitchFamily="34" charset="0"/>
              <a:buChar char="•"/>
            </a:pPr>
            <a:r>
              <a:rPr lang="en-US" dirty="0"/>
              <a:t>Print statements</a:t>
            </a:r>
          </a:p>
          <a:p>
            <a:pPr marL="285750" indent="-285750">
              <a:buFont typeface="Arial" panose="020B0604020202020204" pitchFamily="34" charset="0"/>
              <a:buChar char="•"/>
            </a:pPr>
            <a:endParaRPr lang="en-US" dirty="0"/>
          </a:p>
          <a:p>
            <a:endParaRPr lang="en-US" dirty="0"/>
          </a:p>
          <a:p>
            <a:pPr marL="285750" indent="-285750">
              <a:spcBef>
                <a:spcPts val="0"/>
              </a:spcBef>
              <a:buFont typeface="Arial" panose="020B0604020202020204" pitchFamily="34" charset="0"/>
              <a:buChar char="•"/>
            </a:pPr>
            <a:r>
              <a:rPr lang="en-US" dirty="0"/>
              <a:t>Watching nodes</a:t>
            </a:r>
          </a:p>
          <a:p>
            <a:pPr marL="511175" lvl="1" indent="-285750">
              <a:spcBef>
                <a:spcPts val="600"/>
              </a:spcBef>
              <a:buFont typeface="Arial" panose="020B0604020202020204" pitchFamily="34" charset="0"/>
              <a:buChar char="•"/>
            </a:pPr>
            <a:r>
              <a:rPr lang="en-US" sz="1200" dirty="0"/>
              <a:t>The watch command in DSIM prints the time a signal changes along with its new value as the simulation proceeds.</a:t>
            </a:r>
          </a:p>
          <a:p>
            <a:pPr marL="511175" lvl="1" indent="-285750">
              <a:spcBef>
                <a:spcPts val="600"/>
              </a:spcBef>
              <a:buFont typeface="Arial" panose="020B0604020202020204" pitchFamily="34" charset="0"/>
              <a:buChar char="•"/>
            </a:pPr>
            <a:endParaRPr lang="en-US" sz="1200" dirty="0"/>
          </a:p>
          <a:p>
            <a:pPr marL="511175" lvl="1" indent="-285750">
              <a:spcBef>
                <a:spcPts val="600"/>
              </a:spcBef>
              <a:buFont typeface="Arial" panose="020B0604020202020204" pitchFamily="34" charset="0"/>
              <a:buChar char="•"/>
            </a:pPr>
            <a:endParaRPr lang="en-US" sz="1200" dirty="0"/>
          </a:p>
          <a:p>
            <a:pPr marL="511175" lvl="1" indent="-285750">
              <a:spcBef>
                <a:spcPts val="600"/>
              </a:spcBef>
              <a:buFont typeface="Arial" panose="020B0604020202020204" pitchFamily="34" charset="0"/>
              <a:buChar char="•"/>
            </a:pPr>
            <a:endParaRPr lang="en-US" sz="1200" dirty="0"/>
          </a:p>
          <a:p>
            <a:pPr>
              <a:spcBef>
                <a:spcPts val="600"/>
              </a:spcBef>
            </a:pPr>
            <a:endParaRPr lang="en-US" sz="1100" dirty="0"/>
          </a:p>
          <a:p>
            <a:pPr marL="285750" indent="-285750">
              <a:buFont typeface="Arial" panose="020B0604020202020204" pitchFamily="34" charset="0"/>
              <a:buChar char="•"/>
            </a:pPr>
            <a:r>
              <a:rPr lang="en-US" dirty="0"/>
              <a:t>Help</a:t>
            </a:r>
          </a:p>
          <a:p>
            <a:pPr>
              <a:spcBef>
                <a:spcPts val="600"/>
              </a:spcBef>
            </a:pPr>
            <a:endParaRPr lang="en-US" sz="1200" dirty="0"/>
          </a:p>
        </p:txBody>
      </p:sp>
      <p:sp>
        <p:nvSpPr>
          <p:cNvPr id="5" name="TextBox 4"/>
          <p:cNvSpPr txBox="1"/>
          <p:nvPr/>
        </p:nvSpPr>
        <p:spPr>
          <a:xfrm>
            <a:off x="990599" y="1261830"/>
            <a:ext cx="4724400" cy="807913"/>
          </a:xfrm>
          <a:prstGeom prst="rect">
            <a:avLst/>
          </a:prstGeom>
          <a:solidFill>
            <a:schemeClr val="bg2">
              <a:lumMod val="40000"/>
              <a:lumOff val="60000"/>
            </a:schemeClr>
          </a:solidFill>
        </p:spPr>
        <p:txBody>
          <a:bodyPr vert="horz" wrap="square" lIns="0" tIns="0" rIns="0" bIns="0" rtlCol="0">
            <a:spAutoFit/>
          </a:bodyPr>
          <a:lstStyle/>
          <a:p>
            <a:pPr>
              <a:defRPr/>
            </a:pPr>
            <a:r>
              <a:rPr lang="en-US" sz="105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a:t>
            </a:r>
            <a:r>
              <a:rPr lang="en-US" sz="105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050" dirty="0"/>
              <a:t>{ </a:t>
            </a:r>
          </a:p>
          <a:p>
            <a:pPr>
              <a:defRPr/>
            </a:pPr>
            <a:r>
              <a:rPr lang="en-US" sz="1050" dirty="0"/>
              <a:t>       </a:t>
            </a:r>
            <a:r>
              <a:rPr lang="en-US" sz="1050" dirty="0" err="1"/>
              <a:t>int</a:t>
            </a:r>
            <a:r>
              <a:rPr lang="en-US" sz="1050" dirty="0"/>
              <a:t> size = 1 &lt;&lt; (Z*log2(Y)); </a:t>
            </a:r>
            <a:r>
              <a:rPr lang="en-US" sz="1050" dirty="0" err="1"/>
              <a:t>int</a:t>
            </a:r>
            <a:r>
              <a:rPr lang="en-US" sz="1050" dirty="0"/>
              <a:t> </a:t>
            </a:r>
            <a:r>
              <a:rPr lang="en-US" sz="1050" dirty="0" err="1"/>
              <a:t>xz,xb,xcin</a:t>
            </a:r>
            <a:r>
              <a:rPr lang="en-US" sz="1050" dirty="0"/>
              <a:t>;</a:t>
            </a:r>
          </a:p>
          <a:p>
            <a:pPr>
              <a:defRPr/>
            </a:pPr>
            <a:r>
              <a:rPr lang="en-US" sz="1050" dirty="0"/>
              <a:t>      *[</a:t>
            </a:r>
            <a:r>
              <a:rPr lang="en-US" sz="1050" dirty="0" err="1"/>
              <a:t>A?xa</a:t>
            </a:r>
            <a:r>
              <a:rPr lang="en-US" sz="1050" dirty="0"/>
              <a:t>, </a:t>
            </a:r>
            <a:r>
              <a:rPr lang="en-US" sz="1050" dirty="0" err="1"/>
              <a:t>B?xb</a:t>
            </a:r>
            <a:r>
              <a:rPr lang="en-US" sz="1050" dirty="0"/>
              <a:t>, </a:t>
            </a:r>
            <a:r>
              <a:rPr lang="en-US" sz="1050" dirty="0" err="1"/>
              <a:t>CIN?xcin</a:t>
            </a:r>
            <a:r>
              <a:rPr lang="en-US" sz="1050" dirty="0"/>
              <a:t>; S!(</a:t>
            </a:r>
            <a:r>
              <a:rPr lang="en-US" sz="1050" dirty="0" err="1"/>
              <a:t>xa+xb+xcin</a:t>
            </a:r>
            <a:r>
              <a:rPr lang="en-US" sz="1050" dirty="0"/>
              <a:t>)%size, COUT!(</a:t>
            </a:r>
            <a:r>
              <a:rPr lang="en-US" sz="1050" dirty="0" err="1"/>
              <a:t>xa+xb+xcin</a:t>
            </a:r>
            <a:r>
              <a:rPr lang="en-US" sz="1050" dirty="0"/>
              <a:t>)/size;</a:t>
            </a:r>
          </a:p>
          <a:p>
            <a:pPr>
              <a:defRPr/>
            </a:pPr>
            <a:r>
              <a:rPr lang="en-US" sz="1050" dirty="0"/>
              <a:t>       print(0xa,xa);print(0xb,xb) ] </a:t>
            </a:r>
          </a:p>
          <a:p>
            <a:pPr>
              <a:defRPr/>
            </a:pPr>
            <a:r>
              <a:rPr lang="en-US" sz="1050" dirty="0"/>
              <a:t>  }</a:t>
            </a:r>
          </a:p>
        </p:txBody>
      </p:sp>
      <p:sp>
        <p:nvSpPr>
          <p:cNvPr id="6" name="TextBox 5"/>
          <p:cNvSpPr txBox="1"/>
          <p:nvPr/>
        </p:nvSpPr>
        <p:spPr>
          <a:xfrm>
            <a:off x="999171" y="2805026"/>
            <a:ext cx="3640503" cy="1107996"/>
          </a:xfrm>
          <a:prstGeom prst="rect">
            <a:avLst/>
          </a:prstGeom>
          <a:solidFill>
            <a:schemeClr val="bg2">
              <a:lumMod val="40000"/>
              <a:lumOff val="60000"/>
            </a:schemeClr>
          </a:solidFill>
        </p:spPr>
        <p:txBody>
          <a:bodyPr wrap="square">
            <a:spAutoFit/>
          </a:bodyPr>
          <a:lstStyle/>
          <a:p>
            <a:pPr>
              <a:defRPr/>
            </a:pPr>
            <a:r>
              <a:rPr lang="en-US" sz="1100" b="0" dirty="0" err="1"/>
              <a:t>DSim</a:t>
            </a:r>
            <a:r>
              <a:rPr lang="en-US" sz="1100" b="0" dirty="0"/>
              <a:t>&gt; watch x.S.C.*</a:t>
            </a:r>
          </a:p>
          <a:p>
            <a:pPr>
              <a:defRPr/>
            </a:pPr>
            <a:r>
              <a:rPr lang="en-US" sz="1100" b="0" dirty="0" err="1"/>
              <a:t>DSim</a:t>
            </a:r>
            <a:r>
              <a:rPr lang="en-US" sz="1100" b="0" dirty="0"/>
              <a:t>&gt; cycle</a:t>
            </a:r>
          </a:p>
          <a:p>
            <a:pPr>
              <a:defRPr/>
            </a:pPr>
            <a:r>
              <a:rPr lang="en-US" sz="1100" b="0" dirty="0"/>
              <a:t> @1000 _env.S.C.q:1 (x.</a:t>
            </a:r>
            <a:r>
              <a:rPr lang="en-US" sz="1100" dirty="0"/>
              <a:t> </a:t>
            </a:r>
            <a:r>
              <a:rPr lang="en-US" sz="1100" dirty="0" err="1"/>
              <a:t>S.C.q</a:t>
            </a:r>
            <a:r>
              <a:rPr lang="en-US" sz="1100" b="0" dirty="0"/>
              <a:t>)</a:t>
            </a:r>
          </a:p>
          <a:p>
            <a:pPr>
              <a:defRPr/>
            </a:pPr>
            <a:r>
              <a:rPr lang="en-US" sz="1100" b="0" dirty="0"/>
              <a:t> @1300 _env.S</a:t>
            </a:r>
            <a:r>
              <a:rPr lang="en-US" sz="1100" dirty="0"/>
              <a:t>.C</a:t>
            </a:r>
            <a:r>
              <a:rPr lang="en-US" sz="1100" b="0" dirty="0"/>
              <a:t>.a:1 (</a:t>
            </a:r>
            <a:r>
              <a:rPr lang="en-US" sz="1100" dirty="0"/>
              <a:t>x. </a:t>
            </a:r>
            <a:r>
              <a:rPr lang="en-US" sz="1100" dirty="0" err="1"/>
              <a:t>S.C.a</a:t>
            </a:r>
            <a:r>
              <a:rPr lang="en-US" sz="1100" b="0" dirty="0"/>
              <a:t>)</a:t>
            </a:r>
          </a:p>
          <a:p>
            <a:pPr>
              <a:defRPr/>
            </a:pPr>
            <a:r>
              <a:rPr lang="en-US" sz="1100" b="0" dirty="0"/>
              <a:t> @1600 _env.</a:t>
            </a:r>
            <a:r>
              <a:rPr lang="en-US" sz="1100" dirty="0"/>
              <a:t>S.C.q</a:t>
            </a:r>
            <a:r>
              <a:rPr lang="en-US" sz="1100" b="0" dirty="0"/>
              <a:t>:0 (</a:t>
            </a:r>
            <a:r>
              <a:rPr lang="en-US" sz="1100" dirty="0"/>
              <a:t>x. </a:t>
            </a:r>
            <a:r>
              <a:rPr lang="en-US" sz="1100" dirty="0" err="1"/>
              <a:t>S.C.q</a:t>
            </a:r>
            <a:r>
              <a:rPr lang="en-US" sz="1100" b="0" dirty="0"/>
              <a:t>)   </a:t>
            </a:r>
          </a:p>
          <a:p>
            <a:pPr>
              <a:defRPr/>
            </a:pPr>
            <a:r>
              <a:rPr lang="en-US" sz="1100" b="0" dirty="0"/>
              <a:t> @1800 _env.S</a:t>
            </a:r>
            <a:r>
              <a:rPr lang="en-US" sz="1100" dirty="0"/>
              <a:t>.C.a</a:t>
            </a:r>
            <a:r>
              <a:rPr lang="en-US" sz="1100" b="0" dirty="0"/>
              <a:t>:0 (</a:t>
            </a:r>
            <a:r>
              <a:rPr lang="en-US" sz="1100" dirty="0"/>
              <a:t>x. </a:t>
            </a:r>
            <a:r>
              <a:rPr lang="en-US" sz="1100" dirty="0" err="1"/>
              <a:t>S.C.a</a:t>
            </a:r>
            <a:r>
              <a:rPr lang="en-US" sz="1100" b="0" dirty="0"/>
              <a:t>)</a:t>
            </a:r>
          </a:p>
        </p:txBody>
      </p:sp>
      <p:sp>
        <p:nvSpPr>
          <p:cNvPr id="7" name="TextBox 6"/>
          <p:cNvSpPr txBox="1"/>
          <p:nvPr/>
        </p:nvSpPr>
        <p:spPr>
          <a:xfrm>
            <a:off x="971462" y="4277959"/>
            <a:ext cx="3640503" cy="430887"/>
          </a:xfrm>
          <a:prstGeom prst="rect">
            <a:avLst/>
          </a:prstGeom>
          <a:solidFill>
            <a:schemeClr val="bg2">
              <a:lumMod val="40000"/>
              <a:lumOff val="60000"/>
            </a:schemeClr>
          </a:solidFill>
        </p:spPr>
        <p:txBody>
          <a:bodyPr wrap="square">
            <a:spAutoFit/>
          </a:bodyPr>
          <a:lstStyle/>
          <a:p>
            <a:pPr>
              <a:defRPr/>
            </a:pPr>
            <a:r>
              <a:rPr lang="en-US" sz="1100" b="0" dirty="0" err="1"/>
              <a:t>DSim</a:t>
            </a:r>
            <a:r>
              <a:rPr lang="en-US" sz="1100" b="0" dirty="0"/>
              <a:t>&gt; help</a:t>
            </a:r>
          </a:p>
          <a:p>
            <a:pPr>
              <a:defRPr/>
            </a:pPr>
            <a:r>
              <a:rPr lang="en-US" sz="1100" b="0" dirty="0" err="1"/>
              <a:t>DSim</a:t>
            </a:r>
            <a:r>
              <a:rPr lang="en-US" sz="1100" b="0" dirty="0"/>
              <a:t>&gt; help watch</a:t>
            </a:r>
          </a:p>
        </p:txBody>
      </p:sp>
    </p:spTree>
    <p:extLst>
      <p:ext uri="{BB962C8B-B14F-4D97-AF65-F5344CB8AC3E}">
        <p14:creationId xmlns:p14="http://schemas.microsoft.com/office/powerpoint/2010/main" val="242564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40</a:t>
            </a:fld>
            <a:endParaRPr lang="en-US" dirty="0"/>
          </a:p>
        </p:txBody>
      </p:sp>
      <p:sp>
        <p:nvSpPr>
          <p:cNvPr id="3" name="Title 2"/>
          <p:cNvSpPr>
            <a:spLocks noGrp="1"/>
          </p:cNvSpPr>
          <p:nvPr>
            <p:ph type="title"/>
          </p:nvPr>
        </p:nvSpPr>
        <p:spPr/>
        <p:txBody>
          <a:bodyPr/>
          <a:lstStyle/>
          <a:p>
            <a:r>
              <a:rPr lang="en-US" dirty="0"/>
              <a:t>Task 1: Create a new cell, add a targeted test</a:t>
            </a:r>
          </a:p>
        </p:txBody>
      </p:sp>
      <p:sp>
        <p:nvSpPr>
          <p:cNvPr id="4" name="Content Placeholder 3"/>
          <p:cNvSpPr>
            <a:spLocks noGrp="1"/>
          </p:cNvSpPr>
          <p:nvPr>
            <p:ph sz="quarter" idx="13"/>
          </p:nvPr>
        </p:nvSpPr>
        <p:spPr/>
        <p:txBody>
          <a:bodyPr/>
          <a:lstStyle/>
          <a:p>
            <a:r>
              <a:rPr lang="en-US" dirty="0"/>
              <a:t>Create $MY_CAST_DIR/lib/</a:t>
            </a:r>
            <a:r>
              <a:rPr lang="en-US" dirty="0" err="1"/>
              <a:t>bd</a:t>
            </a:r>
            <a:r>
              <a:rPr lang="en-US" dirty="0"/>
              <a:t>/math/</a:t>
            </a:r>
            <a:r>
              <a:rPr lang="en-US" dirty="0" err="1"/>
              <a:t>my_add.cast</a:t>
            </a:r>
            <a:endParaRPr lang="en-US" dirty="0"/>
          </a:p>
          <a:p>
            <a:r>
              <a:rPr lang="en-US" dirty="0"/>
              <a:t>Declare module and import ABSTRACT_ADD.</a:t>
            </a:r>
          </a:p>
          <a:p>
            <a:r>
              <a:rPr lang="en-US" dirty="0"/>
              <a:t>Define MY_ADD &lt;: ABSTRACT_ADD with appropriate </a:t>
            </a:r>
            <a:r>
              <a:rPr lang="en-US" dirty="0" err="1"/>
              <a:t>metaparams</a:t>
            </a:r>
            <a:r>
              <a:rPr lang="en-US" dirty="0"/>
              <a:t>.</a:t>
            </a:r>
          </a:p>
          <a:p>
            <a:r>
              <a:rPr lang="en-US" dirty="0"/>
              <a:t>Add </a:t>
            </a:r>
            <a:r>
              <a:rPr lang="en-US" dirty="0" err="1"/>
              <a:t>env</a:t>
            </a:r>
            <a:r>
              <a:rPr lang="en-US" dirty="0"/>
              <a:t> { targeted { </a:t>
            </a:r>
            <a:r>
              <a:rPr lang="en-US" dirty="0" err="1"/>
              <a:t>csp</a:t>
            </a:r>
            <a:r>
              <a:rPr lang="en-US" dirty="0"/>
              <a:t> { … } } }</a:t>
            </a:r>
          </a:p>
          <a:p>
            <a:r>
              <a:rPr lang="en-US" dirty="0"/>
              <a:t>Write </a:t>
            </a:r>
            <a:r>
              <a:rPr lang="en-US" dirty="0" err="1"/>
              <a:t>env</a:t>
            </a:r>
            <a:r>
              <a:rPr lang="en-US" dirty="0"/>
              <a:t> CSP to send all possible input combinations to A and B.</a:t>
            </a:r>
          </a:p>
          <a:p>
            <a:r>
              <a:rPr lang="en-US" dirty="0"/>
              <a:t>Receive result back on S for each iteration.</a:t>
            </a:r>
          </a:p>
          <a:p>
            <a:r>
              <a:rPr lang="en-US" dirty="0"/>
              <a:t>Add debugging print(“A=“ + a + “ B=“ + b + “ S=“ + s);</a:t>
            </a:r>
          </a:p>
          <a:p>
            <a:r>
              <a:rPr lang="en-US" dirty="0"/>
              <a:t>Test in DSim with “</a:t>
            </a:r>
            <a:r>
              <a:rPr lang="en-US" dirty="0" err="1"/>
              <a:t>cosimulate</a:t>
            </a:r>
            <a:r>
              <a:rPr lang="en-US" dirty="0"/>
              <a:t> </a:t>
            </a:r>
            <a:r>
              <a:rPr lang="en-US" dirty="0" err="1"/>
              <a:t>lib.bd.math.my_add.MY_ADD</a:t>
            </a:r>
            <a:r>
              <a:rPr lang="en-US" dirty="0"/>
              <a:t>(4,4):targeted” </a:t>
            </a:r>
          </a:p>
          <a:p>
            <a:endParaRPr lang="en-US" dirty="0"/>
          </a:p>
        </p:txBody>
      </p:sp>
    </p:spTree>
    <p:extLst>
      <p:ext uri="{BB962C8B-B14F-4D97-AF65-F5344CB8AC3E}">
        <p14:creationId xmlns:p14="http://schemas.microsoft.com/office/powerpoint/2010/main" val="3510126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49232" y="2244965"/>
            <a:ext cx="5033406" cy="943818"/>
          </a:xfrm>
        </p:spPr>
        <p:txBody>
          <a:bodyPr/>
          <a:lstStyle/>
          <a:p>
            <a:pPr algn="l"/>
            <a:r>
              <a:rPr lang="en-US" dirty="0"/>
              <a:t>ADVANCED DESIGN EXAMPLE: </a:t>
            </a:r>
            <a:br>
              <a:rPr lang="en-US" dirty="0"/>
            </a:br>
            <a:r>
              <a:rPr lang="en-US" dirty="0"/>
              <a:t>Mandelbrot set coprocessor</a:t>
            </a:r>
          </a:p>
        </p:txBody>
      </p:sp>
      <p:sp>
        <p:nvSpPr>
          <p:cNvPr id="2" name="Slide Number Placeholder 1"/>
          <p:cNvSpPr>
            <a:spLocks noGrp="1"/>
          </p:cNvSpPr>
          <p:nvPr>
            <p:ph type="sldNum" sz="quarter" idx="4294967295"/>
          </p:nvPr>
        </p:nvSpPr>
        <p:spPr>
          <a:xfrm>
            <a:off x="7010400" y="4824413"/>
            <a:ext cx="2133600" cy="273050"/>
          </a:xfrm>
        </p:spPr>
        <p:txBody>
          <a:bodyPr/>
          <a:lstStyle/>
          <a:p>
            <a:fld id="{EE2556C5-CE8C-6547-B838-EA80C61A4AF7}" type="slidenum">
              <a:rPr lang="en-US" smtClean="0"/>
              <a:pPr/>
              <a:t>41</a:t>
            </a:fld>
            <a:endParaRPr lang="en-US" dirty="0"/>
          </a:p>
        </p:txBody>
      </p:sp>
    </p:spTree>
    <p:extLst>
      <p:ext uri="{BB962C8B-B14F-4D97-AF65-F5344CB8AC3E}">
        <p14:creationId xmlns:p14="http://schemas.microsoft.com/office/powerpoint/2010/main" val="342901474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the Mandelbrot set?</a:t>
            </a:r>
          </a:p>
        </p:txBody>
      </p:sp>
      <p:sp>
        <p:nvSpPr>
          <p:cNvPr id="5" name="Content Placeholder 4"/>
          <p:cNvSpPr>
            <a:spLocks noGrp="1"/>
          </p:cNvSpPr>
          <p:nvPr>
            <p:ph sz="quarter" idx="13"/>
          </p:nvPr>
        </p:nvSpPr>
        <p:spPr>
          <a:xfrm>
            <a:off x="455613" y="1203325"/>
            <a:ext cx="5079555" cy="3425825"/>
          </a:xfrm>
        </p:spPr>
        <p:txBody>
          <a:bodyPr/>
          <a:lstStyle/>
          <a:p>
            <a:r>
              <a:rPr lang="en-US" dirty="0"/>
              <a:t>An infinitely complex fractal generated by a trivial bit of math as follows:</a:t>
            </a:r>
          </a:p>
          <a:p>
            <a:pPr lvl="1"/>
            <a:r>
              <a:rPr lang="en-US" dirty="0"/>
              <a:t>For complex numbers Z and C</a:t>
            </a:r>
          </a:p>
          <a:p>
            <a:pPr lvl="1"/>
            <a:r>
              <a:rPr lang="en-US" dirty="0"/>
              <a:t>Initially Z=0</a:t>
            </a:r>
          </a:p>
          <a:p>
            <a:pPr lvl="1"/>
            <a:r>
              <a:rPr lang="en-US" dirty="0"/>
              <a:t>Iterate Z=Z</a:t>
            </a:r>
            <a:r>
              <a:rPr lang="en-US" baseline="30000" dirty="0"/>
              <a:t>2</a:t>
            </a:r>
            <a:r>
              <a:rPr lang="en-US" dirty="0"/>
              <a:t> +C</a:t>
            </a:r>
          </a:p>
          <a:p>
            <a:pPr lvl="1"/>
            <a:r>
              <a:rPr lang="en-US" dirty="0"/>
              <a:t>End when |Z|&gt;2 or after a maximum iteration count.</a:t>
            </a:r>
          </a:p>
          <a:p>
            <a:pPr lvl="1"/>
            <a:r>
              <a:rPr lang="en-US" dirty="0"/>
              <a:t>Plot the C {real, imaginary} points where the max is reached.</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04154" y="743188"/>
            <a:ext cx="3339846" cy="3339846"/>
          </a:xfrm>
          <a:prstGeom prst="rect">
            <a:avLst/>
          </a:prstGeom>
        </p:spPr>
      </p:pic>
    </p:spTree>
    <p:extLst>
      <p:ext uri="{BB962C8B-B14F-4D97-AF65-F5344CB8AC3E}">
        <p14:creationId xmlns:p14="http://schemas.microsoft.com/office/powerpoint/2010/main" val="533213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43</a:t>
            </a:fld>
            <a:endParaRPr lang="en-US" dirty="0"/>
          </a:p>
        </p:txBody>
      </p:sp>
      <p:sp>
        <p:nvSpPr>
          <p:cNvPr id="3" name="Title 2"/>
          <p:cNvSpPr>
            <a:spLocks noGrp="1"/>
          </p:cNvSpPr>
          <p:nvPr>
            <p:ph type="title"/>
          </p:nvPr>
        </p:nvSpPr>
        <p:spPr/>
        <p:txBody>
          <a:bodyPr/>
          <a:lstStyle/>
          <a:p>
            <a:r>
              <a:rPr lang="en-US" dirty="0"/>
              <a:t>Module </a:t>
            </a:r>
            <a:r>
              <a:rPr lang="en-US" dirty="0" err="1"/>
              <a:t>core.mandelbrot.abstract</a:t>
            </a:r>
            <a:endParaRPr lang="en-US" dirty="0"/>
          </a:p>
        </p:txBody>
      </p:sp>
      <p:sp>
        <p:nvSpPr>
          <p:cNvPr id="4" name="Content Placeholder 3"/>
          <p:cNvSpPr>
            <a:spLocks noGrp="1"/>
          </p:cNvSpPr>
          <p:nvPr>
            <p:ph sz="quarter" idx="13"/>
          </p:nvPr>
        </p:nvSpPr>
        <p:spPr>
          <a:xfrm>
            <a:off x="503425" y="842845"/>
            <a:ext cx="8228012" cy="3878567"/>
          </a:xfrm>
        </p:spPr>
        <p:txBody>
          <a:bodyPr/>
          <a:lstStyle/>
          <a:p>
            <a:pPr>
              <a:spcBef>
                <a:spcPts val="0"/>
              </a:spcBef>
            </a:pPr>
            <a:r>
              <a:rPr lang="en-US" sz="1400" dirty="0">
                <a:solidFill>
                  <a:srgbClr val="008000"/>
                </a:solidFill>
                <a:latin typeface="Consolas" panose="020B0609020204030204" pitchFamily="49" charset="0"/>
                <a:ea typeface="Verdana" panose="020B0604030504040204" pitchFamily="34" charset="0"/>
                <a:cs typeface="Consolas" panose="020B0609020204030204" pitchFamily="49" charset="0"/>
              </a:rPr>
              <a:t>/** Attributes for Mandelbrot engines, parameterized by bit width. **/</a:t>
            </a:r>
          </a:p>
          <a:p>
            <a:pPr>
              <a:spcBef>
                <a:spcPts val="0"/>
              </a:spcBef>
            </a:pPr>
            <a:r>
              <a:rPr lang="en-US" sz="1400" b="1" dirty="0">
                <a:solidFill>
                  <a:srgbClr val="0000FF"/>
                </a:solidFill>
                <a:latin typeface="Consolas" panose="020B0609020204030204" pitchFamily="49" charset="0"/>
                <a:ea typeface="Verdana" panose="020B0604030504040204" pitchFamily="34" charset="0"/>
                <a:cs typeface="Consolas" panose="020B0609020204030204" pitchFamily="49" charset="0"/>
              </a:rPr>
              <a:t>define</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mandelbrot</a:t>
            </a:r>
            <a:r>
              <a:rPr lang="en-US" sz="1100" dirty="0">
                <a:latin typeface="Consolas" panose="020B0609020204030204" pitchFamily="49" charset="0"/>
                <a:cs typeface="Consolas" panose="020B0609020204030204" pitchFamily="49" charset="0"/>
              </a:rPr>
              <a:t>(</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100" dirty="0">
                <a:latin typeface="Consolas" panose="020B0609020204030204" pitchFamily="49" charset="0"/>
                <a:cs typeface="Consolas" panose="020B0609020204030204" pitchFamily="49" charset="0"/>
              </a:rPr>
              <a:t> W) </a:t>
            </a:r>
            <a:r>
              <a:rPr lang="en-US" sz="1400" b="1" dirty="0">
                <a:solidFill>
                  <a:srgbClr val="0000FF"/>
                </a:solidFill>
                <a:latin typeface="Consolas" panose="020B0609020204030204" pitchFamily="49" charset="0"/>
                <a:ea typeface="Verdana" panose="020B0604030504040204" pitchFamily="34" charset="0"/>
                <a:cs typeface="Consolas" panose="020B0609020204030204" pitchFamily="49" charset="0"/>
              </a:rPr>
              <a:t>attributes</a:t>
            </a:r>
            <a:r>
              <a:rPr lang="en-US" sz="1100" dirty="0">
                <a:latin typeface="Consolas" panose="020B0609020204030204" pitchFamily="49" charset="0"/>
                <a:cs typeface="Consolas" panose="020B0609020204030204" pitchFamily="49" charset="0"/>
              </a:rPr>
              <a:t> {</a:t>
            </a:r>
          </a:p>
          <a:p>
            <a:pPr>
              <a:spcBef>
                <a:spcPts val="0"/>
              </a:spcBef>
            </a:pP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100" dirty="0">
                <a:latin typeface="Consolas" panose="020B0609020204030204" pitchFamily="49" charset="0"/>
                <a:cs typeface="Consolas" panose="020B0609020204030204" pitchFamily="49" charset="0"/>
              </a:rPr>
              <a:t> W_TOP  =  4;       </a:t>
            </a:r>
            <a:r>
              <a:rPr lang="en-US" sz="1400" dirty="0">
                <a:solidFill>
                  <a:srgbClr val="008000"/>
                </a:solidFill>
                <a:latin typeface="Consolas" panose="020B0609020204030204" pitchFamily="49" charset="0"/>
                <a:ea typeface="Verdana" panose="020B0604030504040204" pitchFamily="34" charset="0"/>
                <a:cs typeface="Consolas" panose="020B0609020204030204" pitchFamily="49" charset="0"/>
              </a:rPr>
              <a:t>// bits above decimal point to represent -8.0 to 8.0</a:t>
            </a:r>
          </a:p>
          <a:p>
            <a:pPr>
              <a:spcBef>
                <a:spcPts val="0"/>
              </a:spcBef>
            </a:pPr>
            <a:r>
              <a:rPr lang="en-US" sz="1100" dirty="0">
                <a:latin typeface="Consolas" panose="020B0609020204030204" pitchFamily="49" charset="0"/>
                <a:cs typeface="Consolas" panose="020B0609020204030204" pitchFamily="49" charset="0"/>
              </a:rPr>
              <a:t> </a:t>
            </a:r>
            <a:r>
              <a:rPr lang="en-US" sz="14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4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100" dirty="0">
                <a:latin typeface="Consolas" panose="020B0609020204030204" pitchFamily="49" charset="0"/>
                <a:cs typeface="Consolas" panose="020B0609020204030204" pitchFamily="49" charset="0"/>
              </a:rPr>
              <a:t>W_ITER = 16;       </a:t>
            </a:r>
            <a:r>
              <a:rPr lang="en-US" sz="1400" dirty="0">
                <a:solidFill>
                  <a:srgbClr val="008000"/>
                </a:solidFill>
                <a:latin typeface="Consolas" panose="020B0609020204030204" pitchFamily="49" charset="0"/>
                <a:ea typeface="Verdana" panose="020B0604030504040204" pitchFamily="34" charset="0"/>
                <a:cs typeface="Consolas" panose="020B0609020204030204" pitchFamily="49" charset="0"/>
              </a:rPr>
              <a:t>// bits of iteration counters</a:t>
            </a:r>
          </a:p>
          <a:p>
            <a:pPr>
              <a:spcBef>
                <a:spcPts val="0"/>
              </a:spcBef>
            </a:pP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100" dirty="0">
                <a:latin typeface="Consolas" panose="020B0609020204030204" pitchFamily="49" charset="0"/>
                <a:cs typeface="Consolas" panose="020B0609020204030204" pitchFamily="49" charset="0"/>
              </a:rPr>
              <a:t> SHIFT  = W-W_TOP;  </a:t>
            </a:r>
            <a:r>
              <a:rPr lang="en-US" sz="1400" dirty="0">
                <a:solidFill>
                  <a:srgbClr val="008000"/>
                </a:solidFill>
                <a:latin typeface="Consolas" panose="020B0609020204030204" pitchFamily="49" charset="0"/>
                <a:ea typeface="Verdana" panose="020B0604030504040204" pitchFamily="34" charset="0"/>
                <a:cs typeface="Consolas" panose="020B0609020204030204" pitchFamily="49" charset="0"/>
              </a:rPr>
              <a:t>// how much to downshift after multiplication</a:t>
            </a:r>
          </a:p>
          <a:p>
            <a:pPr>
              <a:spcBef>
                <a:spcPts val="0"/>
              </a:spcBef>
            </a:pP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400" b="1" dirty="0">
                <a:solidFill>
                  <a:srgbClr val="0000FF"/>
                </a:solidFill>
                <a:latin typeface="Consolas" panose="020B0609020204030204" pitchFamily="49" charset="0"/>
                <a:ea typeface="Verdana" panose="020B0604030504040204" pitchFamily="34" charset="0"/>
                <a:cs typeface="Consolas" panose="020B0609020204030204" pitchFamily="49" charset="0"/>
              </a:rPr>
              <a:t> </a:t>
            </a:r>
            <a:r>
              <a:rPr lang="en-US" sz="1100" dirty="0">
                <a:latin typeface="Consolas" panose="020B0609020204030204" pitchFamily="49" charset="0"/>
                <a:cs typeface="Consolas" panose="020B0609020204030204" pitchFamily="49" charset="0"/>
              </a:rPr>
              <a:t>SCALE  = 2**SHIFT; </a:t>
            </a:r>
            <a:r>
              <a:rPr lang="en-US" sz="1400" dirty="0">
                <a:solidFill>
                  <a:srgbClr val="008000"/>
                </a:solidFill>
                <a:latin typeface="Consolas" panose="020B0609020204030204" pitchFamily="49" charset="0"/>
                <a:ea typeface="Verdana" panose="020B0604030504040204" pitchFamily="34" charset="0"/>
                <a:cs typeface="Consolas" panose="020B0609020204030204" pitchFamily="49" charset="0"/>
              </a:rPr>
              <a:t>// how much to multiply by to convert to fixed point</a:t>
            </a:r>
          </a:p>
          <a:p>
            <a:pPr>
              <a:spcBef>
                <a:spcPts val="0"/>
              </a:spcBef>
            </a:pP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csp</a:t>
            </a:r>
            <a:r>
              <a:rPr lang="en-US" sz="1100" dirty="0">
                <a:latin typeface="Consolas" panose="020B0609020204030204" pitchFamily="49" charset="0"/>
                <a:cs typeface="Consolas" panose="020B0609020204030204" pitchFamily="49" charset="0"/>
              </a:rPr>
              <a:t> {</a:t>
            </a:r>
          </a:p>
          <a:p>
            <a:pPr>
              <a:spcBef>
                <a:spcPts val="0"/>
              </a:spcBef>
            </a:pPr>
            <a:r>
              <a:rPr lang="en-US" sz="1100" dirty="0">
                <a:latin typeface="Consolas" panose="020B0609020204030204" pitchFamily="49" charset="0"/>
                <a:cs typeface="Consolas" panose="020B0609020204030204" pitchFamily="49" charset="0"/>
              </a:rPr>
              <a:t>    </a:t>
            </a:r>
            <a:r>
              <a:rPr lang="en-US" sz="1400" dirty="0">
                <a:solidFill>
                  <a:srgbClr val="008000"/>
                </a:solidFill>
                <a:latin typeface="Consolas" panose="020B0609020204030204" pitchFamily="49" charset="0"/>
                <a:ea typeface="Verdana" panose="020B0604030504040204" pitchFamily="34" charset="0"/>
                <a:cs typeface="Consolas" panose="020B0609020204030204" pitchFamily="49" charset="0"/>
              </a:rPr>
              <a:t>// single iteration of Mandelbrot set computation</a:t>
            </a:r>
          </a:p>
          <a:p>
            <a:pPr>
              <a:spcBef>
                <a:spcPts val="0"/>
              </a:spcBef>
            </a:pPr>
            <a:r>
              <a:rPr lang="en-US" sz="1100" dirty="0">
                <a:latin typeface="Consolas" panose="020B0609020204030204" pitchFamily="49" charset="0"/>
                <a:cs typeface="Consolas" panose="020B0609020204030204" pitchFamily="49" charset="0"/>
              </a:rPr>
              <a:t>    </a:t>
            </a:r>
            <a:r>
              <a:rPr lang="en-US" sz="1400" b="1" dirty="0">
                <a:solidFill>
                  <a:srgbClr val="0000FF"/>
                </a:solidFill>
                <a:latin typeface="Consolas" panose="020B0609020204030204" pitchFamily="49" charset="0"/>
                <a:ea typeface="Verdana" panose="020B0604030504040204" pitchFamily="34" charset="0"/>
                <a:cs typeface="Consolas" panose="020B0609020204030204" pitchFamily="49" charset="0"/>
              </a:rPr>
              <a:t>function</a:t>
            </a:r>
            <a:r>
              <a:rPr lang="en-US" sz="1100" dirty="0">
                <a:latin typeface="Consolas" panose="020B0609020204030204" pitchFamily="49" charset="0"/>
                <a:cs typeface="Consolas" panose="020B0609020204030204" pitchFamily="49" charset="0"/>
              </a:rPr>
              <a:t> iterate(</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sint</a:t>
            </a:r>
            <a:r>
              <a:rPr lang="en-US" sz="1100" dirty="0">
                <a:latin typeface="Consolas" panose="020B0609020204030204" pitchFamily="49" charset="0"/>
                <a:cs typeface="Consolas" panose="020B0609020204030204" pitchFamily="49" charset="0"/>
              </a:rPr>
              <a:t>(W) -</a:t>
            </a:r>
            <a:r>
              <a:rPr lang="en-US" sz="1100" dirty="0" err="1">
                <a:latin typeface="Consolas" panose="020B0609020204030204" pitchFamily="49" charset="0"/>
                <a:cs typeface="Consolas" panose="020B0609020204030204" pitchFamily="49" charset="0"/>
              </a:rPr>
              <a:t>cr</a:t>
            </a:r>
            <a:r>
              <a:rPr lang="en-US" sz="1100" dirty="0">
                <a:latin typeface="Consolas" panose="020B0609020204030204" pitchFamily="49" charset="0"/>
                <a:cs typeface="Consolas" panose="020B0609020204030204" pitchFamily="49" charset="0"/>
              </a:rPr>
              <a:t>, -ci, -+</a:t>
            </a:r>
            <a:r>
              <a:rPr lang="en-US" sz="1100" dirty="0" err="1">
                <a:latin typeface="Consolas" panose="020B0609020204030204" pitchFamily="49" charset="0"/>
                <a:cs typeface="Consolas" panose="020B0609020204030204" pitchFamily="49" charset="0"/>
              </a:rPr>
              <a:t>zr</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zi</a:t>
            </a: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int</a:t>
            </a:r>
            <a:r>
              <a:rPr lang="en-US" sz="1100" dirty="0">
                <a:latin typeface="Consolas" panose="020B0609020204030204" pitchFamily="49" charset="0"/>
                <a:cs typeface="Consolas" panose="020B0609020204030204" pitchFamily="49" charset="0"/>
              </a:rPr>
              <a:t>(W_ITER) -+</a:t>
            </a:r>
            <a:r>
              <a:rPr lang="en-US" sz="1100" dirty="0" err="1">
                <a:latin typeface="Consolas" panose="020B0609020204030204" pitchFamily="49" charset="0"/>
                <a:cs typeface="Consolas" panose="020B0609020204030204" pitchFamily="49" charset="0"/>
              </a:rPr>
              <a:t>iter</a:t>
            </a:r>
            <a:r>
              <a:rPr lang="en-US" sz="1100" dirty="0">
                <a:latin typeface="Consolas" panose="020B0609020204030204" pitchFamily="49" charset="0"/>
                <a:cs typeface="Consolas" panose="020B0609020204030204" pitchFamily="49" charset="0"/>
              </a:rPr>
              <a:t>) :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bool</a:t>
            </a:r>
            <a:r>
              <a:rPr lang="en-US" sz="1100" dirty="0">
                <a:latin typeface="Consolas" panose="020B0609020204030204" pitchFamily="49" charset="0"/>
                <a:cs typeface="Consolas" panose="020B0609020204030204" pitchFamily="49" charset="0"/>
              </a:rPr>
              <a:t> =</a:t>
            </a:r>
          </a:p>
          <a:p>
            <a:pPr>
              <a:spcBef>
                <a:spcPts val="0"/>
              </a:spcBef>
            </a:pP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sint</a:t>
            </a:r>
            <a:r>
              <a:rPr lang="en-US" sz="1100" dirty="0">
                <a:latin typeface="Consolas" panose="020B0609020204030204" pitchFamily="49" charset="0"/>
                <a:cs typeface="Consolas" panose="020B0609020204030204" pitchFamily="49" charset="0"/>
              </a:rPr>
              <a:t>(W) </a:t>
            </a:r>
            <a:r>
              <a:rPr lang="en-US" sz="1100" dirty="0" err="1">
                <a:latin typeface="Consolas" panose="020B0609020204030204" pitchFamily="49" charset="0"/>
                <a:cs typeface="Consolas" panose="020B0609020204030204" pitchFamily="49" charset="0"/>
              </a:rPr>
              <a:t>zr_zr</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zr</a:t>
            </a:r>
            <a:r>
              <a:rPr lang="en-US" sz="1100" dirty="0">
                <a:latin typeface="Consolas" panose="020B0609020204030204" pitchFamily="49" charset="0"/>
                <a:cs typeface="Consolas" panose="020B0609020204030204" pitchFamily="49" charset="0"/>
              </a:rPr>
              <a:t>*</a:t>
            </a:r>
            <a:r>
              <a:rPr lang="en-US" sz="1100" dirty="0" err="1">
                <a:latin typeface="Consolas" panose="020B0609020204030204" pitchFamily="49" charset="0"/>
                <a:cs typeface="Consolas" panose="020B0609020204030204" pitchFamily="49" charset="0"/>
              </a:rPr>
              <a:t>zr</a:t>
            </a:r>
            <a:r>
              <a:rPr lang="en-US" sz="1100" dirty="0">
                <a:latin typeface="Consolas" panose="020B0609020204030204" pitchFamily="49" charset="0"/>
                <a:cs typeface="Consolas" panose="020B0609020204030204" pitchFamily="49" charset="0"/>
              </a:rPr>
              <a:t>&gt;&gt;SHIFT;</a:t>
            </a:r>
          </a:p>
          <a:p>
            <a:pPr>
              <a:spcBef>
                <a:spcPts val="0"/>
              </a:spcBef>
            </a:pP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sint</a:t>
            </a:r>
            <a:r>
              <a:rPr lang="en-US" sz="1100" dirty="0">
                <a:latin typeface="Consolas" panose="020B0609020204030204" pitchFamily="49" charset="0"/>
                <a:cs typeface="Consolas" panose="020B0609020204030204" pitchFamily="49" charset="0"/>
              </a:rPr>
              <a:t>(W) </a:t>
            </a:r>
            <a:r>
              <a:rPr lang="en-US" sz="1100" dirty="0" err="1">
                <a:latin typeface="Consolas" panose="020B0609020204030204" pitchFamily="49" charset="0"/>
                <a:cs typeface="Consolas" panose="020B0609020204030204" pitchFamily="49" charset="0"/>
              </a:rPr>
              <a:t>zi_zi</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zi</a:t>
            </a:r>
            <a:r>
              <a:rPr lang="en-US" sz="1100" dirty="0">
                <a:latin typeface="Consolas" panose="020B0609020204030204" pitchFamily="49" charset="0"/>
                <a:cs typeface="Consolas" panose="020B0609020204030204" pitchFamily="49" charset="0"/>
              </a:rPr>
              <a:t>*</a:t>
            </a:r>
            <a:r>
              <a:rPr lang="en-US" sz="1100" dirty="0" err="1">
                <a:latin typeface="Consolas" panose="020B0609020204030204" pitchFamily="49" charset="0"/>
                <a:cs typeface="Consolas" panose="020B0609020204030204" pitchFamily="49" charset="0"/>
              </a:rPr>
              <a:t>zi</a:t>
            </a:r>
            <a:r>
              <a:rPr lang="en-US" sz="1100" dirty="0">
                <a:latin typeface="Consolas" panose="020B0609020204030204" pitchFamily="49" charset="0"/>
                <a:cs typeface="Consolas" panose="020B0609020204030204" pitchFamily="49" charset="0"/>
              </a:rPr>
              <a:t>&gt;&gt;SHIFT;</a:t>
            </a:r>
          </a:p>
          <a:p>
            <a:pPr>
              <a:spcBef>
                <a:spcPts val="0"/>
              </a:spcBef>
            </a:pPr>
            <a:r>
              <a:rPr lang="en-US" sz="1100" dirty="0">
                <a:latin typeface="Consolas" panose="020B0609020204030204" pitchFamily="49" charset="0"/>
                <a:cs typeface="Consolas" panose="020B0609020204030204" pitchFamily="49" charset="0"/>
              </a:rPr>
              <a:t>       </a:t>
            </a:r>
            <a:r>
              <a:rPr lang="en-US" sz="1400" b="1" dirty="0" err="1">
                <a:solidFill>
                  <a:srgbClr val="0000FF"/>
                </a:solidFill>
                <a:latin typeface="Consolas" panose="020B0609020204030204" pitchFamily="49" charset="0"/>
                <a:ea typeface="Verdana" panose="020B0604030504040204" pitchFamily="34" charset="0"/>
                <a:cs typeface="Consolas" panose="020B0609020204030204" pitchFamily="49" charset="0"/>
              </a:rPr>
              <a:t>sint</a:t>
            </a:r>
            <a:r>
              <a:rPr lang="en-US" sz="1100" dirty="0">
                <a:latin typeface="Consolas" panose="020B0609020204030204" pitchFamily="49" charset="0"/>
                <a:cs typeface="Consolas" panose="020B0609020204030204" pitchFamily="49" charset="0"/>
              </a:rPr>
              <a:t>(W) </a:t>
            </a:r>
            <a:r>
              <a:rPr lang="en-US" sz="1100" dirty="0" err="1">
                <a:latin typeface="Consolas" panose="020B0609020204030204" pitchFamily="49" charset="0"/>
                <a:cs typeface="Consolas" panose="020B0609020204030204" pitchFamily="49" charset="0"/>
              </a:rPr>
              <a:t>zr_zi</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zr</a:t>
            </a:r>
            <a:r>
              <a:rPr lang="en-US" sz="1100" dirty="0">
                <a:latin typeface="Consolas" panose="020B0609020204030204" pitchFamily="49" charset="0"/>
                <a:cs typeface="Consolas" panose="020B0609020204030204" pitchFamily="49" charset="0"/>
              </a:rPr>
              <a:t>*</a:t>
            </a:r>
            <a:r>
              <a:rPr lang="en-US" sz="1100" dirty="0" err="1">
                <a:latin typeface="Consolas" panose="020B0609020204030204" pitchFamily="49" charset="0"/>
                <a:cs typeface="Consolas" panose="020B0609020204030204" pitchFamily="49" charset="0"/>
              </a:rPr>
              <a:t>zi</a:t>
            </a:r>
            <a:r>
              <a:rPr lang="en-US" sz="1100" dirty="0">
                <a:latin typeface="Consolas" panose="020B0609020204030204" pitchFamily="49" charset="0"/>
                <a:cs typeface="Consolas" panose="020B0609020204030204" pitchFamily="49" charset="0"/>
              </a:rPr>
              <a:t>&gt;&gt;SHIFT;</a:t>
            </a:r>
          </a:p>
          <a:p>
            <a:pPr>
              <a:spcBef>
                <a:spcPts val="0"/>
              </a:spcBef>
            </a:pP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zr</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cr</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zr_zr</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zi_zi</a:t>
            </a:r>
            <a:r>
              <a:rPr lang="en-US" sz="1100" dirty="0">
                <a:latin typeface="Consolas" panose="020B0609020204030204" pitchFamily="49" charset="0"/>
                <a:cs typeface="Consolas" panose="020B0609020204030204" pitchFamily="49" charset="0"/>
              </a:rPr>
              <a:t>;</a:t>
            </a:r>
          </a:p>
          <a:p>
            <a:pPr>
              <a:spcBef>
                <a:spcPts val="0"/>
              </a:spcBef>
            </a:pP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zi</a:t>
            </a:r>
            <a:r>
              <a:rPr lang="en-US" sz="1100" dirty="0">
                <a:latin typeface="Consolas" panose="020B0609020204030204" pitchFamily="49" charset="0"/>
                <a:cs typeface="Consolas" panose="020B0609020204030204" pitchFamily="49" charset="0"/>
              </a:rPr>
              <a:t> = ci + 2*</a:t>
            </a:r>
            <a:r>
              <a:rPr lang="en-US" sz="1100" dirty="0" err="1">
                <a:latin typeface="Consolas" panose="020B0609020204030204" pitchFamily="49" charset="0"/>
                <a:cs typeface="Consolas" panose="020B0609020204030204" pitchFamily="49" charset="0"/>
              </a:rPr>
              <a:t>zr_zi</a:t>
            </a:r>
            <a:r>
              <a:rPr lang="en-US" sz="1100" dirty="0">
                <a:latin typeface="Consolas" panose="020B0609020204030204" pitchFamily="49" charset="0"/>
                <a:cs typeface="Consolas" panose="020B0609020204030204" pitchFamily="49" charset="0"/>
              </a:rPr>
              <a:t>;</a:t>
            </a:r>
          </a:p>
          <a:p>
            <a:pPr>
              <a:spcBef>
                <a:spcPts val="0"/>
              </a:spcBef>
            </a:pP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iter</a:t>
            </a:r>
            <a:r>
              <a:rPr lang="en-US" sz="1100" dirty="0">
                <a:latin typeface="Consolas" panose="020B0609020204030204" pitchFamily="49" charset="0"/>
                <a:cs typeface="Consolas" panose="020B0609020204030204" pitchFamily="49" charset="0"/>
              </a:rPr>
              <a:t>--;</a:t>
            </a:r>
          </a:p>
          <a:p>
            <a:pPr>
              <a:spcBef>
                <a:spcPts val="0"/>
              </a:spcBef>
            </a:pPr>
            <a:r>
              <a:rPr lang="en-US" sz="1100" dirty="0">
                <a:latin typeface="Consolas" panose="020B0609020204030204" pitchFamily="49" charset="0"/>
                <a:cs typeface="Consolas" panose="020B0609020204030204" pitchFamily="49" charset="0"/>
              </a:rPr>
              <a:t>       iterate = </a:t>
            </a:r>
            <a:r>
              <a:rPr lang="en-US" sz="1100" dirty="0" err="1">
                <a:latin typeface="Consolas" panose="020B0609020204030204" pitchFamily="49" charset="0"/>
                <a:cs typeface="Consolas" panose="020B0609020204030204" pitchFamily="49" charset="0"/>
              </a:rPr>
              <a:t>iter</a:t>
            </a:r>
            <a:r>
              <a:rPr lang="en-US" sz="1100" dirty="0">
                <a:latin typeface="Consolas" panose="020B0609020204030204" pitchFamily="49" charset="0"/>
                <a:cs typeface="Consolas" panose="020B0609020204030204" pitchFamily="49" charset="0"/>
              </a:rPr>
              <a:t>==0 | </a:t>
            </a:r>
            <a:r>
              <a:rPr lang="en-US" sz="1100" dirty="0" err="1">
                <a:latin typeface="Consolas" panose="020B0609020204030204" pitchFamily="49" charset="0"/>
                <a:cs typeface="Consolas" panose="020B0609020204030204" pitchFamily="49" charset="0"/>
              </a:rPr>
              <a:t>zr_zr</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zi_zi</a:t>
            </a:r>
            <a:r>
              <a:rPr lang="en-US" sz="1100" dirty="0">
                <a:latin typeface="Consolas" panose="020B0609020204030204" pitchFamily="49" charset="0"/>
                <a:cs typeface="Consolas" panose="020B0609020204030204" pitchFamily="49" charset="0"/>
              </a:rPr>
              <a:t> &gt; 4&lt;&lt;SHIFT</a:t>
            </a:r>
          </a:p>
          <a:p>
            <a:pPr>
              <a:spcBef>
                <a:spcPts val="0"/>
              </a:spcBef>
            </a:pPr>
            <a:r>
              <a:rPr lang="en-US" sz="1100" dirty="0">
                <a:latin typeface="Consolas" panose="020B0609020204030204" pitchFamily="49" charset="0"/>
                <a:cs typeface="Consolas" panose="020B0609020204030204" pitchFamily="49" charset="0"/>
              </a:rPr>
              <a:t>       );</a:t>
            </a:r>
          </a:p>
          <a:p>
            <a:pPr>
              <a:spcBef>
                <a:spcPts val="0"/>
              </a:spcBef>
            </a:pPr>
            <a:r>
              <a:rPr lang="en-US" sz="1100" dirty="0">
                <a:latin typeface="Consolas" panose="020B0609020204030204" pitchFamily="49" charset="0"/>
                <a:cs typeface="Consolas" panose="020B0609020204030204" pitchFamily="49" charset="0"/>
              </a:rPr>
              <a:t>  }</a:t>
            </a:r>
          </a:p>
          <a:p>
            <a:pPr>
              <a:spcBef>
                <a:spcPts val="0"/>
              </a:spcBef>
            </a:pPr>
            <a:r>
              <a:rPr lang="en-US" sz="1100" dirty="0">
                <a:latin typeface="Consolas" panose="020B0609020204030204" pitchFamily="49" charset="0"/>
                <a:cs typeface="Consolas" panose="020B0609020204030204" pitchFamily="49" charset="0"/>
              </a:rPr>
              <a:t>}</a:t>
            </a:r>
          </a:p>
          <a:p>
            <a:pPr>
              <a:spcBef>
                <a:spcPts val="0"/>
              </a:spcBef>
            </a:pPr>
            <a:endParaRPr lang="en-US" sz="1100" dirty="0"/>
          </a:p>
        </p:txBody>
      </p:sp>
    </p:spTree>
    <p:extLst>
      <p:ext uri="{BB962C8B-B14F-4D97-AF65-F5344CB8AC3E}">
        <p14:creationId xmlns:p14="http://schemas.microsoft.com/office/powerpoint/2010/main" val="4132811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44</a:t>
            </a:fld>
            <a:endParaRPr lang="en-US" dirty="0"/>
          </a:p>
        </p:txBody>
      </p:sp>
      <p:sp>
        <p:nvSpPr>
          <p:cNvPr id="3" name="Title 2"/>
          <p:cNvSpPr>
            <a:spLocks noGrp="1"/>
          </p:cNvSpPr>
          <p:nvPr>
            <p:ph type="title"/>
          </p:nvPr>
        </p:nvSpPr>
        <p:spPr/>
        <p:txBody>
          <a:bodyPr/>
          <a:lstStyle/>
          <a:p>
            <a:r>
              <a:rPr lang="en-US" dirty="0"/>
              <a:t>Review and Simulate</a:t>
            </a:r>
          </a:p>
        </p:txBody>
      </p:sp>
      <p:sp>
        <p:nvSpPr>
          <p:cNvPr id="4" name="Content Placeholder 3"/>
          <p:cNvSpPr>
            <a:spLocks noGrp="1"/>
          </p:cNvSpPr>
          <p:nvPr>
            <p:ph sz="quarter" idx="13"/>
          </p:nvPr>
        </p:nvSpPr>
        <p:spPr>
          <a:xfrm>
            <a:off x="455613" y="1203325"/>
            <a:ext cx="4606458" cy="3425825"/>
          </a:xfrm>
        </p:spPr>
        <p:txBody>
          <a:bodyPr/>
          <a:lstStyle/>
          <a:p>
            <a:r>
              <a:rPr lang="en-US" dirty="0"/>
              <a:t>Read:</a:t>
            </a:r>
          </a:p>
          <a:p>
            <a:r>
              <a:rPr lang="en-US" sz="1400" dirty="0"/>
              <a:t>$CAST_DIR/core/</a:t>
            </a:r>
            <a:r>
              <a:rPr lang="en-US" sz="1400" dirty="0" err="1"/>
              <a:t>mandelbrot</a:t>
            </a:r>
            <a:r>
              <a:rPr lang="en-US" sz="1400" dirty="0"/>
              <a:t>/</a:t>
            </a:r>
            <a:r>
              <a:rPr lang="en-US" sz="1400" dirty="0" err="1"/>
              <a:t>abstract.cast</a:t>
            </a:r>
            <a:endParaRPr lang="en-US" sz="1400" dirty="0"/>
          </a:p>
          <a:p>
            <a:r>
              <a:rPr lang="en-US" dirty="0" err="1"/>
              <a:t>Dsim</a:t>
            </a:r>
            <a:r>
              <a:rPr lang="en-US" dirty="0"/>
              <a:t>:</a:t>
            </a:r>
          </a:p>
          <a:p>
            <a:r>
              <a:rPr lang="en-US" sz="1400" dirty="0" err="1"/>
              <a:t>cosimulate</a:t>
            </a:r>
            <a:r>
              <a:rPr lang="en-US" sz="1400" dirty="0"/>
              <a:t> </a:t>
            </a:r>
            <a:r>
              <a:rPr lang="en-US" sz="1400" dirty="0" err="1"/>
              <a:t>core.mandelbrot.abstract.ABSTRACT_MANDELBROT</a:t>
            </a:r>
            <a:r>
              <a:rPr lang="en-US" sz="1400" dirty="0"/>
              <a:t>(32):</a:t>
            </a:r>
            <a:r>
              <a:rPr lang="en-US" sz="1400" dirty="0" err="1"/>
              <a:t>mandelbrot_full</a:t>
            </a:r>
            <a:r>
              <a:rPr lang="en-US" sz="1400" dirty="0"/>
              <a:t>(40,100)</a:t>
            </a:r>
          </a:p>
          <a:p>
            <a:r>
              <a:rPr lang="en-US" dirty="0"/>
              <a:t>Produces:</a:t>
            </a:r>
          </a:p>
          <a:p>
            <a:endParaRPr lang="en-US" sz="1400" dirty="0"/>
          </a:p>
          <a:p>
            <a:endParaRPr lang="en-US" sz="1400" dirty="0"/>
          </a:p>
        </p:txBody>
      </p:sp>
      <p:sp>
        <p:nvSpPr>
          <p:cNvPr id="8" name="TextBox 7"/>
          <p:cNvSpPr txBox="1"/>
          <p:nvPr/>
        </p:nvSpPr>
        <p:spPr>
          <a:xfrm>
            <a:off x="6250210" y="300943"/>
            <a:ext cx="2481414" cy="4308872"/>
          </a:xfrm>
          <a:prstGeom prst="rect">
            <a:avLst/>
          </a:prstGeom>
          <a:noFill/>
        </p:spPr>
        <p:txBody>
          <a:bodyPr vert="horz" wrap="square" lIns="0" tIns="0" rIns="0" bIns="0" rtlCol="0">
            <a:spAutoFit/>
          </a:bodyPr>
          <a:lstStyle/>
          <a:p>
            <a:r>
              <a:rPr lang="en-US" sz="700" dirty="0">
                <a:solidFill>
                  <a:srgbClr val="003C71"/>
                </a:solidFill>
                <a:latin typeface="Consolas" panose="020B0609020204030204" pitchFamily="49" charset="0"/>
                <a:cs typeface="Consolas" panose="020B0609020204030204" pitchFamily="49" charset="0"/>
              </a:rPr>
              <a:t>72002: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144002: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216002: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288002: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360002: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432002: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504002: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576002: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648002: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720002: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792002: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864002: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936002: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           </a:t>
            </a:r>
          </a:p>
          <a:p>
            <a:r>
              <a:rPr lang="en-US" sz="700" dirty="0">
                <a:solidFill>
                  <a:srgbClr val="003C71"/>
                </a:solidFill>
                <a:latin typeface="Consolas" panose="020B0609020204030204" pitchFamily="49" charset="0"/>
                <a:cs typeface="Consolas" panose="020B0609020204030204" pitchFamily="49" charset="0"/>
              </a:rPr>
              <a:t>1008002: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1080002: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1152002: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1224002: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1296002: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       </a:t>
            </a:r>
          </a:p>
          <a:p>
            <a:r>
              <a:rPr lang="en-US" sz="700" dirty="0">
                <a:solidFill>
                  <a:srgbClr val="003C71"/>
                </a:solidFill>
                <a:latin typeface="Consolas" panose="020B0609020204030204" pitchFamily="49" charset="0"/>
                <a:cs typeface="Consolas" panose="020B0609020204030204" pitchFamily="49" charset="0"/>
              </a:rPr>
              <a:t>1368002: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1440002: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1512002: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 ************************         </a:t>
            </a:r>
          </a:p>
          <a:p>
            <a:r>
              <a:rPr lang="en-US" sz="700" dirty="0">
                <a:solidFill>
                  <a:srgbClr val="003C71"/>
                </a:solidFill>
                <a:latin typeface="Consolas" panose="020B0609020204030204" pitchFamily="49" charset="0"/>
                <a:cs typeface="Consolas" panose="020B0609020204030204" pitchFamily="49" charset="0"/>
              </a:rPr>
              <a:t>1584002: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1656002: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1728002: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       </a:t>
            </a:r>
          </a:p>
          <a:p>
            <a:r>
              <a:rPr lang="en-US" sz="700" dirty="0">
                <a:solidFill>
                  <a:srgbClr val="003C71"/>
                </a:solidFill>
                <a:latin typeface="Consolas" panose="020B0609020204030204" pitchFamily="49" charset="0"/>
                <a:cs typeface="Consolas" panose="020B0609020204030204" pitchFamily="49" charset="0"/>
              </a:rPr>
              <a:t>1800002: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1872002: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1944002: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2016002: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2088002: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           </a:t>
            </a:r>
          </a:p>
          <a:p>
            <a:r>
              <a:rPr lang="en-US" sz="700" dirty="0">
                <a:solidFill>
                  <a:srgbClr val="003C71"/>
                </a:solidFill>
                <a:latin typeface="Consolas" panose="020B0609020204030204" pitchFamily="49" charset="0"/>
                <a:cs typeface="Consolas" panose="020B0609020204030204" pitchFamily="49" charset="0"/>
              </a:rPr>
              <a:t>2160002: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2232002: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2304002: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              </a:t>
            </a:r>
          </a:p>
          <a:p>
            <a:r>
              <a:rPr lang="en-US" sz="700" dirty="0">
                <a:solidFill>
                  <a:srgbClr val="003C71"/>
                </a:solidFill>
                <a:latin typeface="Consolas" panose="020B0609020204030204" pitchFamily="49" charset="0"/>
                <a:cs typeface="Consolas" panose="020B0609020204030204" pitchFamily="49" charset="0"/>
              </a:rPr>
              <a:t>2376002: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2448002: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2520002: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2592002: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2664002: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2736002: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2808002: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a:p>
            <a:r>
              <a:rPr lang="en-US" sz="700" dirty="0">
                <a:solidFill>
                  <a:srgbClr val="003C71"/>
                </a:solidFill>
                <a:latin typeface="Consolas" panose="020B0609020204030204" pitchFamily="49" charset="0"/>
                <a:cs typeface="Consolas" panose="020B0609020204030204" pitchFamily="49" charset="0"/>
              </a:rPr>
              <a:t>2880002: _</a:t>
            </a:r>
            <a:r>
              <a:rPr lang="en-US" sz="700" dirty="0" err="1">
                <a:solidFill>
                  <a:srgbClr val="003C71"/>
                </a:solidFill>
                <a:latin typeface="Consolas" panose="020B0609020204030204" pitchFamily="49" charset="0"/>
                <a:cs typeface="Consolas" panose="020B0609020204030204" pitchFamily="49" charset="0"/>
              </a:rPr>
              <a:t>env</a:t>
            </a:r>
            <a:r>
              <a:rPr lang="en-US" sz="700" dirty="0">
                <a:solidFill>
                  <a:srgbClr val="003C71"/>
                </a:solidFill>
                <a:latin typeface="Consolas" panose="020B0609020204030204" pitchFamily="49" charset="0"/>
                <a:cs typeface="Consolas" panose="020B0609020204030204" pitchFamily="49" charset="0"/>
              </a:rPr>
              <a:t>: </a:t>
            </a:r>
          </a:p>
        </p:txBody>
      </p:sp>
      <p:sp>
        <p:nvSpPr>
          <p:cNvPr id="9" name="Right Arrow 8"/>
          <p:cNvSpPr/>
          <p:nvPr/>
        </p:nvSpPr>
        <p:spPr>
          <a:xfrm>
            <a:off x="1589741" y="3281081"/>
            <a:ext cx="3926541" cy="161903"/>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6296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45</a:t>
            </a:fld>
            <a:endParaRPr lang="en-US" dirty="0"/>
          </a:p>
        </p:txBody>
      </p:sp>
      <p:sp>
        <p:nvSpPr>
          <p:cNvPr id="3" name="Title 2"/>
          <p:cNvSpPr>
            <a:spLocks noGrp="1"/>
          </p:cNvSpPr>
          <p:nvPr>
            <p:ph type="title"/>
          </p:nvPr>
        </p:nvSpPr>
        <p:spPr/>
        <p:txBody>
          <a:bodyPr/>
          <a:lstStyle/>
          <a:p>
            <a:r>
              <a:rPr lang="en-US" dirty="0"/>
              <a:t>Synthesizable CSP</a:t>
            </a:r>
          </a:p>
        </p:txBody>
      </p:sp>
      <p:sp>
        <p:nvSpPr>
          <p:cNvPr id="4" name="Content Placeholder 3"/>
          <p:cNvSpPr>
            <a:spLocks noGrp="1"/>
          </p:cNvSpPr>
          <p:nvPr>
            <p:ph sz="quarter" idx="13"/>
          </p:nvPr>
        </p:nvSpPr>
        <p:spPr/>
        <p:txBody>
          <a:bodyPr/>
          <a:lstStyle/>
          <a:p>
            <a:r>
              <a:rPr lang="en-US" dirty="0"/>
              <a:t>There are many restrictions on CSP to be synthesizable.</a:t>
            </a:r>
          </a:p>
          <a:p>
            <a:r>
              <a:rPr lang="en-US" dirty="0"/>
              <a:t>Inner loops are unrolled at synthesis time, so cannot take a variable number of iterations.  To avoid, rewrite as a single outer loop with case statements based on a new state variable to distinguish what to do on each cycle.</a:t>
            </a:r>
          </a:p>
          <a:p>
            <a:r>
              <a:rPr lang="en-US" dirty="0"/>
              <a:t>Each channel can only be sent/received 0 or 1 times per outer loop.  Again, the solution is to rewrite as a state machine with explicit “cycles”.</a:t>
            </a:r>
          </a:p>
          <a:p>
            <a:r>
              <a:rPr lang="en-US" dirty="0"/>
              <a:t>Also important to declare variable widths.  Otherwise it assumes 129 bits and may or may not be able to optimize out unused bits.</a:t>
            </a:r>
          </a:p>
          <a:p>
            <a:r>
              <a:rPr lang="en-US" dirty="0"/>
              <a:t>Some functions are features of CSP are not synthesizable.  Strings, asserts, print, etc.</a:t>
            </a:r>
          </a:p>
        </p:txBody>
      </p:sp>
    </p:spTree>
    <p:extLst>
      <p:ext uri="{BB962C8B-B14F-4D97-AF65-F5344CB8AC3E}">
        <p14:creationId xmlns:p14="http://schemas.microsoft.com/office/powerpoint/2010/main" val="33305739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46</a:t>
            </a:fld>
            <a:endParaRPr lang="en-US" dirty="0"/>
          </a:p>
        </p:txBody>
      </p:sp>
      <p:sp>
        <p:nvSpPr>
          <p:cNvPr id="3" name="Title 2"/>
          <p:cNvSpPr>
            <a:spLocks noGrp="1"/>
          </p:cNvSpPr>
          <p:nvPr>
            <p:ph type="title"/>
          </p:nvPr>
        </p:nvSpPr>
        <p:spPr/>
        <p:txBody>
          <a:bodyPr/>
          <a:lstStyle/>
          <a:p>
            <a:r>
              <a:rPr lang="en-US" dirty="0"/>
              <a:t>Task 1: Synthesizable Mandelbrot Engine</a:t>
            </a:r>
          </a:p>
        </p:txBody>
      </p:sp>
      <p:sp>
        <p:nvSpPr>
          <p:cNvPr id="4" name="Content Placeholder 3"/>
          <p:cNvSpPr>
            <a:spLocks noGrp="1"/>
          </p:cNvSpPr>
          <p:nvPr>
            <p:ph sz="quarter" idx="13"/>
          </p:nvPr>
        </p:nvSpPr>
        <p:spPr/>
        <p:txBody>
          <a:bodyPr/>
          <a:lstStyle/>
          <a:p>
            <a:r>
              <a:rPr lang="en-US" dirty="0"/>
              <a:t>Define cell BASE_MANDELBROT &lt;: ABSTRACT_MANDELBROT in a new module.</a:t>
            </a:r>
          </a:p>
          <a:p>
            <a:r>
              <a:rPr lang="en-US" dirty="0"/>
              <a:t>Add a </a:t>
            </a:r>
            <a:r>
              <a:rPr lang="en-US" dirty="0" err="1"/>
              <a:t>subcells</a:t>
            </a:r>
            <a:r>
              <a:rPr lang="en-US" dirty="0"/>
              <a:t> body and instantiate CORE_MANDELBROT in it.</a:t>
            </a:r>
          </a:p>
          <a:p>
            <a:r>
              <a:rPr lang="en-US" dirty="0"/>
              <a:t>Define CORE_MANDELBROT with synthesizable CSP.</a:t>
            </a:r>
          </a:p>
          <a:p>
            <a:r>
              <a:rPr lang="en-US" dirty="0" err="1"/>
              <a:t>Cosimulate</a:t>
            </a:r>
            <a:r>
              <a:rPr lang="en-US" dirty="0"/>
              <a:t> BASE_MANDELBROT to test correctness.</a:t>
            </a:r>
          </a:p>
          <a:p>
            <a:r>
              <a:rPr lang="en-US" dirty="0"/>
              <a:t>Note that you can’t refine a cell to add new CSP if the parent already has CSP.  That’s why we have to put CORE_MANDELBROT in a </a:t>
            </a:r>
            <a:r>
              <a:rPr lang="en-US" dirty="0" err="1"/>
              <a:t>subcell</a:t>
            </a:r>
            <a:r>
              <a:rPr lang="en-US" dirty="0"/>
              <a:t> instead.  Confusing!</a:t>
            </a:r>
          </a:p>
        </p:txBody>
      </p:sp>
    </p:spTree>
    <p:extLst>
      <p:ext uri="{BB962C8B-B14F-4D97-AF65-F5344CB8AC3E}">
        <p14:creationId xmlns:p14="http://schemas.microsoft.com/office/powerpoint/2010/main" val="268394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47</a:t>
            </a:fld>
            <a:endParaRPr lang="en-US" dirty="0"/>
          </a:p>
        </p:txBody>
      </p:sp>
      <p:sp>
        <p:nvSpPr>
          <p:cNvPr id="3" name="Title 2"/>
          <p:cNvSpPr>
            <a:spLocks noGrp="1"/>
          </p:cNvSpPr>
          <p:nvPr>
            <p:ph type="title"/>
          </p:nvPr>
        </p:nvSpPr>
        <p:spPr/>
        <p:txBody>
          <a:bodyPr/>
          <a:lstStyle/>
          <a:p>
            <a:r>
              <a:rPr lang="en-US" dirty="0"/>
              <a:t>Task 2: Decompose to be more optimal</a:t>
            </a:r>
          </a:p>
        </p:txBody>
      </p:sp>
      <p:sp>
        <p:nvSpPr>
          <p:cNvPr id="4" name="Content Placeholder 3"/>
          <p:cNvSpPr>
            <a:spLocks noGrp="1"/>
          </p:cNvSpPr>
          <p:nvPr>
            <p:ph sz="quarter" idx="13"/>
          </p:nvPr>
        </p:nvSpPr>
        <p:spPr/>
        <p:txBody>
          <a:bodyPr/>
          <a:lstStyle/>
          <a:p>
            <a:r>
              <a:rPr lang="en-US" dirty="0"/>
              <a:t>Although synthesizable now, the design will literally synthesize to 3 multipliers and 4 adders and 1 comparison of fixed-point numbers, plus some additional logic for </a:t>
            </a:r>
            <a:r>
              <a:rPr lang="en-US" dirty="0" err="1"/>
              <a:t>iter</a:t>
            </a:r>
            <a:r>
              <a:rPr lang="en-US" dirty="0"/>
              <a:t> and done.</a:t>
            </a:r>
          </a:p>
          <a:p>
            <a:r>
              <a:rPr lang="en-US" dirty="0"/>
              <a:t>This is quite large, and will not run fast because of the data dependency from one cycle to the next.</a:t>
            </a:r>
          </a:p>
          <a:p>
            <a:r>
              <a:rPr lang="en-US" dirty="0"/>
              <a:t>Instead, import </a:t>
            </a:r>
            <a:r>
              <a:rPr lang="en-US" dirty="0" err="1"/>
              <a:t>lib.bd.math.multiply.ABSTRACT_MUL</a:t>
            </a:r>
            <a:r>
              <a:rPr lang="en-US" dirty="0"/>
              <a:t> and add a single instance of this in CORE_MANDELBROT’s </a:t>
            </a:r>
            <a:r>
              <a:rPr lang="en-US" dirty="0" err="1"/>
              <a:t>subcells</a:t>
            </a:r>
            <a:r>
              <a:rPr lang="en-US" dirty="0"/>
              <a:t> body.</a:t>
            </a:r>
          </a:p>
          <a:p>
            <a:r>
              <a:rPr lang="en-US" dirty="0"/>
              <a:t>Remove all the a*b&gt;&gt;SHIFT statements from the CSP and instead send the operands on channels to the ABSTRACT_MUL and receive the result.</a:t>
            </a:r>
          </a:p>
          <a:p>
            <a:r>
              <a:rPr lang="en-US" dirty="0"/>
              <a:t>You can do this edit locally as a “remote procedure call”.</a:t>
            </a:r>
          </a:p>
        </p:txBody>
      </p:sp>
    </p:spTree>
    <p:extLst>
      <p:ext uri="{BB962C8B-B14F-4D97-AF65-F5344CB8AC3E}">
        <p14:creationId xmlns:p14="http://schemas.microsoft.com/office/powerpoint/2010/main" val="1716676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48</a:t>
            </a:fld>
            <a:endParaRPr lang="en-US" dirty="0"/>
          </a:p>
        </p:txBody>
      </p:sp>
      <p:sp>
        <p:nvSpPr>
          <p:cNvPr id="3" name="Title 2"/>
          <p:cNvSpPr>
            <a:spLocks noGrp="1"/>
          </p:cNvSpPr>
          <p:nvPr>
            <p:ph type="title"/>
          </p:nvPr>
        </p:nvSpPr>
        <p:spPr/>
        <p:txBody>
          <a:bodyPr/>
          <a:lstStyle/>
          <a:p>
            <a:r>
              <a:rPr lang="en-US" dirty="0"/>
              <a:t>Task 3: Optimize the RPC</a:t>
            </a:r>
          </a:p>
        </p:txBody>
      </p:sp>
      <p:sp>
        <p:nvSpPr>
          <p:cNvPr id="4" name="Content Placeholder 3"/>
          <p:cNvSpPr>
            <a:spLocks noGrp="1"/>
          </p:cNvSpPr>
          <p:nvPr>
            <p:ph sz="quarter" idx="13"/>
          </p:nvPr>
        </p:nvSpPr>
        <p:spPr/>
        <p:txBody>
          <a:bodyPr/>
          <a:lstStyle/>
          <a:p>
            <a:r>
              <a:rPr lang="en-US" sz="1600" dirty="0"/>
              <a:t>However, an RPC creates a difficult to synthesize performance bottleneck.  It will try to receive the results of the multiplies in the same cycle it sends the operands.</a:t>
            </a:r>
          </a:p>
          <a:p>
            <a:r>
              <a:rPr lang="en-US" sz="1600" dirty="0"/>
              <a:t>It is better to receive the results on the next cycle instead.  Use state variables to defer the receive of the product until the cycle after you send the operands to the multiplier.</a:t>
            </a:r>
          </a:p>
          <a:p>
            <a:r>
              <a:rPr lang="en-US" sz="1600" dirty="0"/>
              <a:t>Try to compute the adds and compares as soon as you have enough information.</a:t>
            </a:r>
          </a:p>
          <a:p>
            <a:r>
              <a:rPr lang="en-US" sz="1600" dirty="0"/>
              <a:t>You will need more state variables in CORE_MANDELBROT to hold temporary data.</a:t>
            </a:r>
          </a:p>
          <a:p>
            <a:r>
              <a:rPr lang="en-US" sz="1600" dirty="0"/>
              <a:t>Also rewrite your state machine to send and receive at most 1 token on the channels to the multiplier per outer loop.</a:t>
            </a:r>
          </a:p>
          <a:p>
            <a:r>
              <a:rPr lang="en-US" sz="1600" dirty="0"/>
              <a:t>Now you should have something which is reasonably optimized and synthesizable!</a:t>
            </a:r>
          </a:p>
        </p:txBody>
      </p:sp>
    </p:spTree>
    <p:extLst>
      <p:ext uri="{BB962C8B-B14F-4D97-AF65-F5344CB8AC3E}">
        <p14:creationId xmlns:p14="http://schemas.microsoft.com/office/powerpoint/2010/main" val="1867307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49</a:t>
            </a:fld>
            <a:endParaRPr lang="en-US" dirty="0"/>
          </a:p>
        </p:txBody>
      </p:sp>
      <p:sp>
        <p:nvSpPr>
          <p:cNvPr id="3" name="Title 2"/>
          <p:cNvSpPr>
            <a:spLocks noGrp="1"/>
          </p:cNvSpPr>
          <p:nvPr>
            <p:ph type="title"/>
          </p:nvPr>
        </p:nvSpPr>
        <p:spPr/>
        <p:txBody>
          <a:bodyPr/>
          <a:lstStyle/>
          <a:p>
            <a:r>
              <a:rPr lang="en-US" dirty="0"/>
              <a:t>Run APR</a:t>
            </a:r>
          </a:p>
        </p:txBody>
      </p:sp>
      <p:sp>
        <p:nvSpPr>
          <p:cNvPr id="4" name="Content Placeholder 3"/>
          <p:cNvSpPr>
            <a:spLocks noGrp="1"/>
          </p:cNvSpPr>
          <p:nvPr>
            <p:ph sz="quarter" idx="13"/>
          </p:nvPr>
        </p:nvSpPr>
        <p:spPr/>
        <p:txBody>
          <a:bodyPr/>
          <a:lstStyle/>
          <a:p>
            <a:pPr>
              <a:spcBef>
                <a:spcPts val="0"/>
              </a:spcBef>
            </a:pPr>
            <a:r>
              <a:rPr lang="en-US" dirty="0"/>
              <a:t>proteus \</a:t>
            </a:r>
          </a:p>
          <a:p>
            <a:pPr>
              <a:spcBef>
                <a:spcPts val="0"/>
              </a:spcBef>
            </a:pPr>
            <a:r>
              <a:rPr lang="en-US" dirty="0"/>
              <a:t>--abstract=</a:t>
            </a:r>
            <a:r>
              <a:rPr lang="en-US" dirty="0" err="1"/>
              <a:t>core.mandelbrot.abstract.ABSTRACT_MANDELBROT</a:t>
            </a:r>
            <a:r>
              <a:rPr lang="en-US" dirty="0"/>
              <a:t>(32) \</a:t>
            </a:r>
          </a:p>
          <a:p>
            <a:pPr>
              <a:spcBef>
                <a:spcPts val="0"/>
              </a:spcBef>
            </a:pPr>
            <a:r>
              <a:rPr lang="en-US" dirty="0"/>
              <a:t>--base=</a:t>
            </a:r>
            <a:r>
              <a:rPr lang="en-US" dirty="0" err="1"/>
              <a:t>core.mandelbrot.base.BASE_MANDELBROT</a:t>
            </a:r>
            <a:r>
              <a:rPr lang="en-US" dirty="0"/>
              <a:t>(32) \</a:t>
            </a:r>
          </a:p>
          <a:p>
            <a:pPr>
              <a:spcBef>
                <a:spcPts val="0"/>
              </a:spcBef>
            </a:pPr>
            <a:r>
              <a:rPr lang="en-US" dirty="0"/>
              <a:t>--cell=core.mandelbrot.base.BASE_MANDELBROT.1000</a:t>
            </a:r>
          </a:p>
          <a:p>
            <a:pPr>
              <a:spcBef>
                <a:spcPts val="0"/>
              </a:spcBef>
            </a:pPr>
            <a:endParaRPr lang="en-US" b="1" dirty="0"/>
          </a:p>
        </p:txBody>
      </p:sp>
    </p:spTree>
    <p:extLst>
      <p:ext uri="{BB962C8B-B14F-4D97-AF65-F5344CB8AC3E}">
        <p14:creationId xmlns:p14="http://schemas.microsoft.com/office/powerpoint/2010/main" val="23929765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50</a:t>
            </a:fld>
            <a:endParaRPr lang="en-US" dirty="0"/>
          </a:p>
        </p:txBody>
      </p:sp>
      <p:sp>
        <p:nvSpPr>
          <p:cNvPr id="3" name="Title 2"/>
          <p:cNvSpPr>
            <a:spLocks noGrp="1"/>
          </p:cNvSpPr>
          <p:nvPr>
            <p:ph type="title"/>
          </p:nvPr>
        </p:nvSpPr>
        <p:spPr/>
        <p:txBody>
          <a:bodyPr/>
          <a:lstStyle/>
          <a:p>
            <a:r>
              <a:rPr lang="en-US" dirty="0"/>
              <a:t>Task 4: Use a soft-macro multiplier</a:t>
            </a:r>
          </a:p>
        </p:txBody>
      </p:sp>
      <p:sp>
        <p:nvSpPr>
          <p:cNvPr id="4" name="Content Placeholder 3"/>
          <p:cNvSpPr>
            <a:spLocks noGrp="1"/>
          </p:cNvSpPr>
          <p:nvPr>
            <p:ph sz="quarter" idx="13"/>
          </p:nvPr>
        </p:nvSpPr>
        <p:spPr>
          <a:xfrm>
            <a:off x="455613" y="1203325"/>
            <a:ext cx="8228012" cy="3425825"/>
          </a:xfrm>
        </p:spPr>
        <p:txBody>
          <a:bodyPr/>
          <a:lstStyle/>
          <a:p>
            <a:r>
              <a:rPr lang="en-US" dirty="0"/>
              <a:t>Create SOFT_MANDELBROT &lt;: BASE_MANDELBROT</a:t>
            </a:r>
          </a:p>
          <a:p>
            <a:r>
              <a:rPr lang="en-US" dirty="0"/>
              <a:t>Add:</a:t>
            </a:r>
          </a:p>
          <a:p>
            <a:pPr>
              <a:spcBef>
                <a:spcPts val="0"/>
              </a:spcBef>
            </a:pPr>
            <a:r>
              <a:rPr lang="en-US" sz="1400" dirty="0">
                <a:latin typeface="Consolas" panose="020B0609020204030204" pitchFamily="49" charset="0"/>
                <a:cs typeface="Consolas" panose="020B0609020204030204" pitchFamily="49" charset="0"/>
              </a:rPr>
              <a:t>subtypes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ABSTRACT_MUL(W,W,W,SHIFT,1) :&gt; MUL(W,W,W,SHIFT,1) </a:t>
            </a:r>
            <a:r>
              <a:rPr lang="en-US" sz="1400" dirty="0" err="1">
                <a:latin typeface="Consolas" panose="020B0609020204030204" pitchFamily="49" charset="0"/>
                <a:cs typeface="Consolas" panose="020B0609020204030204" pitchFamily="49" charset="0"/>
              </a:rPr>
              <a:t>mul</a:t>
            </a:r>
            <a:r>
              <a:rPr lang="en-US" sz="1400" dirty="0">
                <a:latin typeface="Consolas" panose="020B0609020204030204" pitchFamily="49" charset="0"/>
                <a:cs typeface="Consolas" panose="020B0609020204030204" pitchFamily="49" charset="0"/>
              </a:rPr>
              <a:t>;</a:t>
            </a:r>
          </a:p>
          <a:p>
            <a:pPr>
              <a:spcBef>
                <a:spcPts val="0"/>
              </a:spcBef>
            </a:pPr>
            <a:r>
              <a:rPr lang="en-US" sz="1400" dirty="0">
                <a:latin typeface="Consolas" panose="020B0609020204030204" pitchFamily="49" charset="0"/>
                <a:cs typeface="Consolas" panose="020B0609020204030204" pitchFamily="49" charset="0"/>
              </a:rPr>
              <a:t>}</a:t>
            </a:r>
          </a:p>
          <a:p>
            <a:r>
              <a:rPr lang="en-US" dirty="0"/>
              <a:t>This refines the multiplier instance </a:t>
            </a:r>
            <a:r>
              <a:rPr lang="en-US"/>
              <a:t>from synthesizable </a:t>
            </a:r>
            <a:r>
              <a:rPr lang="en-US" dirty="0"/>
              <a:t>CSP to a soft-macro design.</a:t>
            </a:r>
          </a:p>
          <a:p>
            <a:r>
              <a:rPr lang="en-US" dirty="0"/>
              <a:t>This will take more work to run through proteus because we need to use Supersize to choose what subtypes to use for the soft macros.  TBD.</a:t>
            </a:r>
          </a:p>
        </p:txBody>
      </p:sp>
    </p:spTree>
    <p:extLst>
      <p:ext uri="{BB962C8B-B14F-4D97-AF65-F5344CB8AC3E}">
        <p14:creationId xmlns:p14="http://schemas.microsoft.com/office/powerpoint/2010/main" val="1527451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Int_PPT Template_ClearPro_16x9">
  <a:themeElements>
    <a:clrScheme name="Intel Color Palette">
      <a:dk1>
        <a:sysClr val="windowText" lastClr="000000"/>
      </a:dk1>
      <a:lt1>
        <a:sysClr val="window" lastClr="FFFFFF"/>
      </a:lt1>
      <a:dk2>
        <a:srgbClr val="003C71"/>
      </a:dk2>
      <a:lt2>
        <a:srgbClr val="B1BABF"/>
      </a:lt2>
      <a:accent1>
        <a:srgbClr val="0071C5"/>
      </a:accent1>
      <a:accent2>
        <a:srgbClr val="00AEEF"/>
      </a:accent2>
      <a:accent3>
        <a:srgbClr val="F3D54E"/>
      </a:accent3>
      <a:accent4>
        <a:srgbClr val="FFA300"/>
      </a:accent4>
      <a:accent5>
        <a:srgbClr val="FC4C02"/>
      </a:accent5>
      <a:accent6>
        <a:srgbClr val="C3D600"/>
      </a:accent6>
      <a:hlink>
        <a:srgbClr val="0071C5"/>
      </a:hlink>
      <a:folHlink>
        <a:srgbClr val="00AEEF"/>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spAutoFit/>
      </a:bodyPr>
      <a:lstStyle>
        <a:defPPr>
          <a:defRPr sz="1100" dirty="0" err="1" smtClean="0">
            <a:solidFill>
              <a:srgbClr val="003C71"/>
            </a:solidFill>
          </a:defRPr>
        </a:defPPr>
      </a:lstStyle>
    </a:txDef>
  </a:objectDefaults>
  <a:extraClrSchemeLst/>
  <a:extLst>
    <a:ext uri="{05A4C25C-085E-4340-85A3-A5531E510DB2}">
      <thm15:themeFamily xmlns:thm15="http://schemas.microsoft.com/office/thememl/2012/main" name="Intel_PPT_Template_Clear_16x9_061715.pptx" id="{8E2BCB3A-FA0F-4275-9C15-06DC90756A5D}" vid="{A4654EB3-73DA-4AF8-908F-0592557A5E75}"/>
    </a:ext>
  </a:extLst>
</a:theme>
</file>

<file path=ppt/theme/theme2.xml><?xml version="1.0" encoding="utf-8"?>
<a:theme xmlns:a="http://schemas.openxmlformats.org/drawingml/2006/main" name="1_intel16x9">
  <a:themeElements>
    <a:clrScheme name="intel2015">
      <a:dk1>
        <a:sysClr val="windowText" lastClr="000000"/>
      </a:dk1>
      <a:lt1>
        <a:sysClr val="window" lastClr="FFFFFF"/>
      </a:lt1>
      <a:dk2>
        <a:srgbClr val="0071C5"/>
      </a:dk2>
      <a:lt2>
        <a:srgbClr val="FFFFFF"/>
      </a:lt2>
      <a:accent1>
        <a:srgbClr val="00AEEF"/>
      </a:accent1>
      <a:accent2>
        <a:srgbClr val="C4D600"/>
      </a:accent2>
      <a:accent3>
        <a:srgbClr val="F3D54E"/>
      </a:accent3>
      <a:accent4>
        <a:srgbClr val="FFA300"/>
      </a:accent4>
      <a:accent5>
        <a:srgbClr val="FC4C02"/>
      </a:accent5>
      <a:accent6>
        <a:srgbClr val="003C71"/>
      </a:accent6>
      <a:hlink>
        <a:srgbClr val="F3D54E"/>
      </a:hlink>
      <a:folHlink>
        <a:srgbClr val="FFFFFF"/>
      </a:folHlink>
    </a:clrScheme>
    <a:fontScheme name="intel2015">
      <a:majorFont>
        <a:latin typeface="Intel Clear Pro"/>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noFill/>
          <a:prstDash val="solid"/>
          <a:round/>
          <a:headEnd type="none" w="med" len="med"/>
          <a:tailEnd type="none" w="med" len="med"/>
        </a:ln>
        <a:effectLst/>
      </a:spPr>
      <a:bodyPr vert="horz" wrap="square" lIns="91372" tIns="45688" rIns="91372" bIns="45688" numCol="1" rtlCol="0" anchor="t" anchorCtr="1" compatLnSpc="1">
        <a:prstTxWarp prst="textNoShape">
          <a:avLst/>
        </a:prstTxWarp>
        <a:noAutofit/>
      </a:bodyPr>
      <a:lstStyle>
        <a:defPPr marL="0" marR="0" indent="0" algn="ctr" defTabSz="914400" rtl="0" eaLnBrk="1" fontAlgn="base" latinLnBrk="0" hangingPunct="1">
          <a:lnSpc>
            <a:spcPct val="95000"/>
          </a:lnSpc>
          <a:spcBef>
            <a:spcPct val="30000"/>
          </a:spcBef>
          <a:spcAft>
            <a:spcPct val="0"/>
          </a:spcAft>
          <a:buClr>
            <a:schemeClr val="tx1"/>
          </a:buClr>
          <a:buSzTx/>
          <a:buFont typeface="Wingdings" pitchFamily="2" charset="2"/>
          <a:buNone/>
          <a:tabLst/>
          <a:defRPr kumimoji="0" sz="2000" b="0" i="0" u="none" strike="noStrike" cap="none" normalizeH="0" baseline="0" smtClean="0">
            <a:ln>
              <a:noFill/>
            </a:ln>
            <a:solidFill>
              <a:srgbClr val="FFFFFF"/>
            </a:solidFill>
            <a:effectLst>
              <a:outerShdw blurRad="38100" dist="38100" dir="2700000" algn="tl">
                <a:srgbClr val="000000">
                  <a:alpha val="43137"/>
                </a:srgbClr>
              </a:outerShdw>
            </a:effectLst>
            <a:latin typeface="Arial Narrow" pitchFamily="34"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372" tIns="45688" rIns="91372" bIns="45688" numCol="1" anchor="t" anchorCtr="1" compatLnSpc="1">
        <a:prstTxWarp prst="textNoShape">
          <a:avLst/>
        </a:prstTxWarp>
        <a:spAutoFit/>
      </a:bodyPr>
      <a:lstStyle>
        <a:defPPr marL="0" marR="0" indent="0" algn="ctr" defTabSz="914400" rtl="0" eaLnBrk="1" fontAlgn="base" latinLnBrk="0" hangingPunct="1">
          <a:lnSpc>
            <a:spcPct val="95000"/>
          </a:lnSpc>
          <a:spcBef>
            <a:spcPct val="30000"/>
          </a:spcBef>
          <a:spcAft>
            <a:spcPct val="0"/>
          </a:spcAft>
          <a:buClr>
            <a:schemeClr val="tx1"/>
          </a:buClr>
          <a:buSzTx/>
          <a:buFont typeface="Wingdings" pitchFamily="2" charset="2"/>
          <a:buNone/>
          <a:tabLst/>
          <a:defRPr kumimoji="0" lang="en-US" sz="2000" b="0" i="0" u="none" strike="noStrike" cap="none" normalizeH="0" baseline="0" smtClean="0">
            <a:ln>
              <a:noFill/>
            </a:ln>
            <a:solidFill>
              <a:srgbClr val="FFFFFF"/>
            </a:solidFill>
            <a:effectLst>
              <a:outerShdw blurRad="38100" dist="38100" dir="2700000" algn="tl">
                <a:srgbClr val="000000">
                  <a:alpha val="43137"/>
                </a:srgbClr>
              </a:outerShdw>
            </a:effectLst>
            <a:latin typeface="Arial Narrow" pitchFamily="34" charset="0"/>
            <a:cs typeface="Arial" charset="0"/>
          </a:defRPr>
        </a:defPPr>
      </a:lstStyle>
    </a:lnDef>
    <a:txDef>
      <a:spPr>
        <a:noFill/>
      </a:spPr>
      <a:bodyPr wrap="none" rtlCol="0">
        <a:spAutoFit/>
      </a:bodyPr>
      <a:lstStyle>
        <a:defPPr>
          <a:defRPr sz="3200" dirty="0"/>
        </a:defPPr>
      </a:lstStyle>
    </a:txDef>
  </a:objectDefaults>
  <a:extraClrSchemeLst>
    <a:extraClrScheme>
      <a:clrScheme name="2_Architectur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Architectur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2_Architectur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Architectur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Architectur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Architectur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2_Architectur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Architecture 8">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5BB3B9"/>
        </a:hlink>
        <a:folHlink>
          <a:srgbClr val="CC00FF"/>
        </a:folHlink>
      </a:clrScheme>
      <a:clrMap bg1="dk2" tx1="lt1" bg2="dk1" tx2="lt2" accent1="accent1" accent2="accent2" accent3="accent3" accent4="accent4" accent5="accent5" accent6="accent6" hlink="hlink" folHlink="folHlink"/>
    </a:extraClrScheme>
    <a:extraClrScheme>
      <a:clrScheme name="2_Architecture 9">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FFCC00"/>
        </a:hlink>
        <a:folHlink>
          <a:srgbClr val="CC00FF"/>
        </a:folHlink>
      </a:clrScheme>
      <a:clrMap bg1="dk2" tx1="lt1" bg2="dk1" tx2="lt2" accent1="accent1" accent2="accent2" accent3="accent3" accent4="accent4" accent5="accent5" accent6="accent6" hlink="hlink" folHlink="folHlink"/>
    </a:extraClrScheme>
    <a:extraClrScheme>
      <a:clrScheme name="2_Architecture 10">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FF"/>
        </a:folHlink>
      </a:clrScheme>
      <a:clrMap bg1="dk2" tx1="lt1" bg2="dk1" tx2="lt2" accent1="accent1" accent2="accent2" accent3="accent3" accent4="accent4" accent5="accent5" accent6="accent6" hlink="hlink" folHlink="folHlink"/>
    </a:extraClrScheme>
    <a:extraClrScheme>
      <a:clrScheme name="2_Architecture 11">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99"/>
        </a:folHlink>
      </a:clrScheme>
      <a:clrMap bg1="dk2" tx1="lt1" bg2="dk1" tx2="lt2" accent1="accent1" accent2="accent2" accent3="accent3" accent4="accent4" accent5="accent5" accent6="accent6" hlink="hlink" folHlink="folHlink"/>
    </a:extraClrScheme>
    <a:extraClrScheme>
      <a:clrScheme name="2_Architecture 12">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AA014C"/>
        </a:folHlink>
      </a:clrScheme>
      <a:clrMap bg1="dk2" tx1="lt1" bg2="dk1" tx2="lt2" accent1="accent1" accent2="accent2" accent3="accent3" accent4="accent4" accent5="accent5" accent6="accent6" hlink="hlink" folHlink="folHlink"/>
    </a:extraClrScheme>
    <a:extraClrScheme>
      <a:clrScheme name="2_Architecture 13">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2_Architecture 14">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2_Architecture 15">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AA014C"/>
        </a:folHlink>
      </a:clrScheme>
      <a:clrMap bg1="dk2" tx1="lt1" bg2="dk1" tx2="lt2" accent1="accent1" accent2="accent2" accent3="accent3" accent4="accent4" accent5="accent5" accent6="accent6" hlink="hlink" folHlink="folHlink"/>
    </a:extraClrScheme>
    <a:extraClrScheme>
      <a:clrScheme name="2_Architecture 16">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F3016E"/>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D67A1EEB2A14488F2FC0E49EA11031" ma:contentTypeVersion="16" ma:contentTypeDescription="Create a new document." ma:contentTypeScope="" ma:versionID="944da53c19b5766364fdc272185b8e1b">
  <xsd:schema xmlns:xsd="http://www.w3.org/2001/XMLSchema" xmlns:xs="http://www.w3.org/2001/XMLSchema" xmlns:p="http://schemas.microsoft.com/office/2006/metadata/properties" xmlns:ns2="c125c4f9-e72a-475a-b177-64ab125d7c2b" xmlns:ns3="9ea4360f-9fe5-430f-b307-f6218fa4e165" targetNamespace="http://schemas.microsoft.com/office/2006/metadata/properties" ma:root="true" ma:fieldsID="e17914818d6e94d20b95df49e669db0f" ns2:_="" ns3:_="">
    <xsd:import namespace="c125c4f9-e72a-475a-b177-64ab125d7c2b"/>
    <xsd:import namespace="9ea4360f-9fe5-430f-b307-f6218fa4e16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25c4f9-e72a-475a-b177-64ab125d7c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a4360f-9fe5-430f-b307-f6218fa4e16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1CE12E-EECE-4F73-A813-86A03EBCEB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25c4f9-e72a-475a-b177-64ab125d7c2b"/>
    <ds:schemaRef ds:uri="9ea4360f-9fe5-430f-b307-f6218fa4e1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6BBAF5-8B01-494F-AB85-0877CD0EBCFB}">
  <ds:schemaRefs>
    <ds:schemaRef ds:uri="http://purl.org/dc/elements/1.1/"/>
    <ds:schemaRef ds:uri="http://schemas.microsoft.com/office/2006/documentManagement/types"/>
    <ds:schemaRef ds:uri="http://www.w3.org/XML/1998/namespace"/>
    <ds:schemaRef ds:uri="9ea4360f-9fe5-430f-b307-f6218fa4e165"/>
    <ds:schemaRef ds:uri="http://purl.org/dc/dcmitype/"/>
    <ds:schemaRef ds:uri="http://schemas.microsoft.com/office/infopath/2007/PartnerControls"/>
    <ds:schemaRef ds:uri="http://schemas.openxmlformats.org/package/2006/metadata/core-properties"/>
    <ds:schemaRef ds:uri="c125c4f9-e72a-475a-b177-64ab125d7c2b"/>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B000DC79-19F7-4934-AB21-800C60CCC7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6300</Words>
  <Application>Microsoft Office PowerPoint</Application>
  <PresentationFormat>On-screen Show (16:9)</PresentationFormat>
  <Paragraphs>897</Paragraphs>
  <Slides>50</Slides>
  <Notes>8</Notes>
  <HiddenSlides>0</HiddenSlides>
  <MMClips>0</MMClips>
  <ScaleCrop>false</ScaleCrop>
  <HeadingPairs>
    <vt:vector size="4" baseType="variant">
      <vt:variant>
        <vt:lpstr>Theme</vt:lpstr>
      </vt:variant>
      <vt:variant>
        <vt:i4>2</vt:i4>
      </vt:variant>
      <vt:variant>
        <vt:lpstr>Slide Titles</vt:lpstr>
      </vt:variant>
      <vt:variant>
        <vt:i4>50</vt:i4>
      </vt:variant>
    </vt:vector>
  </HeadingPairs>
  <TitlesOfParts>
    <vt:vector size="52" baseType="lpstr">
      <vt:lpstr>Int_PPT Template_ClearPro_16x9</vt:lpstr>
      <vt:lpstr>1_intel16x9</vt:lpstr>
      <vt:lpstr>CAST Tutorial </vt:lpstr>
      <vt:lpstr>Caltech Asynchronous Synthesis Tools</vt:lpstr>
      <vt:lpstr>Why Another HDL?</vt:lpstr>
      <vt:lpstr>Intricacies of CAST</vt:lpstr>
      <vt:lpstr>DESIGN PHILOSOPHY</vt:lpstr>
      <vt:lpstr>Decomposition</vt:lpstr>
      <vt:lpstr>Communication as a Primitive</vt:lpstr>
      <vt:lpstr>Communication at the circuit level</vt:lpstr>
      <vt:lpstr>Design Verification</vt:lpstr>
      <vt:lpstr>Automated Asynchronous design flow</vt:lpstr>
      <vt:lpstr>Async custom-library flows</vt:lpstr>
      <vt:lpstr>Diving into CAST SYNTAX</vt:lpstr>
      <vt:lpstr>Structure of a CAST file</vt:lpstr>
      <vt:lpstr>Example: lib/bd/math/add.cast  </vt:lpstr>
      <vt:lpstr>Synchronous adder circuit</vt:lpstr>
      <vt:lpstr>Asynchronous adder circuit</vt:lpstr>
      <vt:lpstr>Cell Definitions</vt:lpstr>
      <vt:lpstr>Cell Definition details</vt:lpstr>
      <vt:lpstr>Channel definition details</vt:lpstr>
      <vt:lpstr>Refinement and Inheritance</vt:lpstr>
      <vt:lpstr>Iterators and Selection</vt:lpstr>
      <vt:lpstr>CAST Sub-Languages</vt:lpstr>
      <vt:lpstr>CSP</vt:lpstr>
      <vt:lpstr>CSP Block: Features</vt:lpstr>
      <vt:lpstr>CSP Syntax: Variables and Constants</vt:lpstr>
      <vt:lpstr>CSP Syntax: Statements and Expressions</vt:lpstr>
      <vt:lpstr>CSP Syntax: Communication and Flow Control</vt:lpstr>
      <vt:lpstr>CSP Syntax: Structures and Functions</vt:lpstr>
      <vt:lpstr>SUBCELLS</vt:lpstr>
      <vt:lpstr>Subcells Block</vt:lpstr>
      <vt:lpstr>SUBCELLS Deep-dive</vt:lpstr>
      <vt:lpstr>PowerPoint Presentation</vt:lpstr>
      <vt:lpstr>Subcells Syntax</vt:lpstr>
      <vt:lpstr>DSIM</vt:lpstr>
      <vt:lpstr>Example: lib/bd/math/add.cast  </vt:lpstr>
      <vt:lpstr>Setup for jdsim (assumes csh syntax)</vt:lpstr>
      <vt:lpstr>To Simulate: jdsim</vt:lpstr>
      <vt:lpstr>Intricacies of co-simulation</vt:lpstr>
      <vt:lpstr>Other helpful DSIM tips</vt:lpstr>
      <vt:lpstr>Task 1: Create a new cell, add a targeted test</vt:lpstr>
      <vt:lpstr>ADVANCED DESIGN EXAMPLE:  Mandelbrot set coprocessor</vt:lpstr>
      <vt:lpstr>What is the Mandelbrot set?</vt:lpstr>
      <vt:lpstr>Module core.mandelbrot.abstract</vt:lpstr>
      <vt:lpstr>Review and Simulate</vt:lpstr>
      <vt:lpstr>Synthesizable CSP</vt:lpstr>
      <vt:lpstr>Task 1: Synthesizable Mandelbrot Engine</vt:lpstr>
      <vt:lpstr>Task 2: Decompose to be more optimal</vt:lpstr>
      <vt:lpstr>Task 3: Optimize the RPC</vt:lpstr>
      <vt:lpstr>Run APR</vt:lpstr>
      <vt:lpstr>Task 4: Use a soft-macro multiplier</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CTPClassification=CTP_IC:VisualMarkings=, CTPClassification=CTP_IC, CTPClassification=CTP_NT</cp:keywords>
  <cp:lastModifiedBy/>
  <cp:revision>2</cp:revision>
  <dcterms:created xsi:type="dcterms:W3CDTF">2014-08-28T18:09:05Z</dcterms:created>
  <dcterms:modified xsi:type="dcterms:W3CDTF">2025-11-15T19:40:56Z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2a12bddc-17ba-4a61-9069-bc09ae49b254</vt:lpwstr>
  </property>
  <property fmtid="{D5CDD505-2E9C-101B-9397-08002B2CF9AE}" pid="3" name="CTP_BU">
    <vt:lpwstr>NA</vt:lpwstr>
  </property>
  <property fmtid="{D5CDD505-2E9C-101B-9397-08002B2CF9AE}" pid="4" name="CTP_TimeStamp">
    <vt:lpwstr>2019-10-18 21:17:31Z</vt:lpwstr>
  </property>
  <property fmtid="{D5CDD505-2E9C-101B-9397-08002B2CF9AE}" pid="5" name="CTPClassification">
    <vt:lpwstr>CTP_NT</vt:lpwstr>
  </property>
  <property fmtid="{D5CDD505-2E9C-101B-9397-08002B2CF9AE}" pid="6" name="CTP_IDSID">
    <vt:lpwstr>NA</vt:lpwstr>
  </property>
  <property fmtid="{D5CDD505-2E9C-101B-9397-08002B2CF9AE}" pid="7" name="CTP_WWID">
    <vt:lpwstr>NA</vt:lpwstr>
  </property>
  <property fmtid="{D5CDD505-2E9C-101B-9397-08002B2CF9AE}" pid="8" name="ContentTypeId">
    <vt:lpwstr>0x010100FFD67A1EEB2A14488F2FC0E49EA11031</vt:lpwstr>
  </property>
  <property fmtid="{D5CDD505-2E9C-101B-9397-08002B2CF9AE}" pid="9" name="Order">
    <vt:r8>200</vt:r8>
  </property>
</Properties>
</file>