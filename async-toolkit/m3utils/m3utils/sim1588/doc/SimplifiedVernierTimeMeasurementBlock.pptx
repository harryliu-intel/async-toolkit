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8" y="3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9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6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6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2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7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7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0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9696-4631-44AA-8454-0A766881B718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B72ED-4A6E-468D-8A2E-1989A154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6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in2.yan@intel.com" TargetMode="External"/><Relationship Id="rId2" Type="http://schemas.openxmlformats.org/officeDocument/2006/relationships/hyperlink" Target="mailto:mika.nystroem@inte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7405" y="967904"/>
            <a:ext cx="6137189" cy="21274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New &amp; Improved Vernier Time- Measurement Block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Mika </a:t>
            </a:r>
            <a:r>
              <a:rPr lang="en-US" dirty="0" err="1" smtClean="0"/>
              <a:t>Nyström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mika.nystroem@intel.com</a:t>
            </a:r>
            <a:endParaRPr lang="en-US" dirty="0" smtClean="0"/>
          </a:p>
          <a:p>
            <a:r>
              <a:rPr lang="en-US" dirty="0" err="1" smtClean="0"/>
              <a:t>Jin</a:t>
            </a:r>
            <a:r>
              <a:rPr lang="en-US" dirty="0" smtClean="0"/>
              <a:t> Yan </a:t>
            </a:r>
            <a:r>
              <a:rPr lang="en-US" dirty="0" smtClean="0">
                <a:hlinkClick r:id="rId3"/>
              </a:rPr>
              <a:t>jin2.yan@intel.com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priority: to support 1588 timestamping in </a:t>
            </a:r>
            <a:r>
              <a:rPr lang="en-US" dirty="0" err="1" smtClean="0"/>
              <a:t>Rockvale</a:t>
            </a:r>
            <a:endParaRPr lang="en-US" dirty="0" smtClean="0"/>
          </a:p>
          <a:p>
            <a:pPr lvl="1"/>
            <a:r>
              <a:rPr lang="en-US" dirty="0" smtClean="0"/>
              <a:t>Tight error budget (~1ns per timestamp, NAC had 3ns port-to-port)</a:t>
            </a:r>
          </a:p>
          <a:p>
            <a:pPr lvl="1"/>
            <a:r>
              <a:rPr lang="en-US" dirty="0" smtClean="0"/>
              <a:t>Clock-domain crossings must necessarily exist (networking: external data is on own clock)</a:t>
            </a:r>
          </a:p>
          <a:p>
            <a:r>
              <a:rPr lang="en-US" dirty="0" smtClean="0"/>
              <a:t>Second priority: timestamping in general</a:t>
            </a:r>
          </a:p>
          <a:p>
            <a:pPr lvl="1"/>
            <a:r>
              <a:rPr lang="en-US" dirty="0" smtClean="0"/>
              <a:t>Aim at a simple, easy to understand interface</a:t>
            </a:r>
          </a:p>
          <a:p>
            <a:pPr lvl="1"/>
            <a:r>
              <a:rPr lang="en-US" dirty="0" smtClean="0"/>
              <a:t>Easy integration</a:t>
            </a:r>
          </a:p>
          <a:p>
            <a:pPr lvl="1"/>
            <a:r>
              <a:rPr lang="en-US" dirty="0" smtClean="0"/>
              <a:t>Good accuracy, good performance with noisy clocks</a:t>
            </a:r>
          </a:p>
          <a:p>
            <a:r>
              <a:rPr lang="en-US" dirty="0" smtClean="0"/>
              <a:t>Already have something similar in </a:t>
            </a:r>
            <a:r>
              <a:rPr lang="en-US" dirty="0" err="1" smtClean="0"/>
              <a:t>Rimmon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7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event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882" y="1027906"/>
            <a:ext cx="7350905" cy="4024135"/>
          </a:xfrm>
        </p:spPr>
      </p:pic>
      <p:sp>
        <p:nvSpPr>
          <p:cNvPr id="7" name="TextBox 6"/>
          <p:cNvSpPr txBox="1"/>
          <p:nvPr/>
        </p:nvSpPr>
        <p:spPr>
          <a:xfrm>
            <a:off x="648730" y="5690286"/>
            <a:ext cx="7739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time of the event is defined as the time of the rising, receiving clock edge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4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in terms of events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7470"/>
            <a:ext cx="7588419" cy="5403579"/>
          </a:xfrm>
        </p:spPr>
      </p:pic>
      <p:sp>
        <p:nvSpPr>
          <p:cNvPr id="5" name="TextBox 4"/>
          <p:cNvSpPr txBox="1"/>
          <p:nvPr/>
        </p:nvSpPr>
        <p:spPr>
          <a:xfrm>
            <a:off x="6535271" y="1354580"/>
            <a:ext cx="5002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long between event0 and event1?</a:t>
            </a:r>
          </a:p>
        </p:txBody>
      </p:sp>
    </p:spTree>
    <p:extLst>
      <p:ext uri="{BB962C8B-B14F-4D97-AF65-F5344CB8AC3E}">
        <p14:creationId xmlns:p14="http://schemas.microsoft.com/office/powerpoint/2010/main" val="215189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Representing a past event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948" y="1690688"/>
            <a:ext cx="3875516" cy="3806923"/>
          </a:xfrm>
        </p:spPr>
      </p:pic>
      <p:sp>
        <p:nvSpPr>
          <p:cNvPr id="5" name="TextBox 4"/>
          <p:cNvSpPr txBox="1"/>
          <p:nvPr/>
        </p:nvSpPr>
        <p:spPr>
          <a:xfrm>
            <a:off x="430306" y="2796989"/>
            <a:ext cx="90819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Represent a past event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 current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 time offset (the age of the past event)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(If it’s a current event, the offset is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r>
              <a:rPr lang="en-US" sz="2000" dirty="0" smtClean="0"/>
              <a:t>In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1-GHz 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dt</a:t>
            </a:r>
            <a:r>
              <a:rPr lang="en-US" sz="2000" dirty="0" smtClean="0"/>
              <a:t> is in picoseconds (</a:t>
            </a:r>
            <a:r>
              <a:rPr lang="en-US" sz="2000" dirty="0" err="1" smtClean="0"/>
              <a:t>ps</a:t>
            </a:r>
            <a:r>
              <a:rPr lang="en-US" sz="20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Represent that an event took place at 16:50:39.000000000000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 smtClean="0"/>
              <a:t>Using this representation, we </a:t>
            </a:r>
            <a:r>
              <a:rPr lang="en-US" sz="2000" smtClean="0"/>
              <a:t>can easily solve </a:t>
            </a:r>
            <a:r>
              <a:rPr lang="en-US" sz="2000" dirty="0" smtClean="0"/>
              <a:t>our problem by bringing the two events </a:t>
            </a:r>
          </a:p>
          <a:p>
            <a:r>
              <a:rPr lang="en-US" sz="2000" dirty="0" smtClean="0"/>
              <a:t>into physical proximity and subtracting their </a:t>
            </a:r>
            <a:r>
              <a:rPr lang="en-US" sz="2000" dirty="0" err="1" smtClean="0"/>
              <a:t>dt’s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424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Forwarding an event in time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80" y="1812178"/>
            <a:ext cx="7264522" cy="4351338"/>
          </a:xfrm>
        </p:spPr>
      </p:pic>
    </p:spTree>
    <p:extLst>
      <p:ext uri="{BB962C8B-B14F-4D97-AF65-F5344CB8AC3E}">
        <p14:creationId xmlns:p14="http://schemas.microsoft.com/office/powerpoint/2010/main" val="156926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Forwarding an event in time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76" y="1825625"/>
            <a:ext cx="7034048" cy="4351338"/>
          </a:xfrm>
        </p:spPr>
      </p:pic>
    </p:spTree>
    <p:extLst>
      <p:ext uri="{BB962C8B-B14F-4D97-AF65-F5344CB8AC3E}">
        <p14:creationId xmlns:p14="http://schemas.microsoft.com/office/powerpoint/2010/main" val="145419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clock domains?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574" y="2017059"/>
            <a:ext cx="4199502" cy="2997715"/>
          </a:xfrm>
        </p:spPr>
      </p:pic>
      <p:sp>
        <p:nvSpPr>
          <p:cNvPr id="5" name="TextBox 4"/>
          <p:cNvSpPr txBox="1"/>
          <p:nvPr/>
        </p:nvSpPr>
        <p:spPr>
          <a:xfrm>
            <a:off x="5957047" y="3515916"/>
            <a:ext cx="5802038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Auxiliary 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Clock periods (binary numbers)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Reset handshakes: resets in </a:t>
            </a:r>
            <a:r>
              <a:rPr lang="en-US" sz="2200" dirty="0" err="1" smtClean="0"/>
              <a:t>clkA</a:t>
            </a:r>
            <a:r>
              <a:rPr lang="en-US" sz="2200" dirty="0" smtClean="0"/>
              <a:t>, </a:t>
            </a:r>
            <a:r>
              <a:rPr lang="en-US" sz="2200" dirty="0" err="1" smtClean="0"/>
              <a:t>clkB</a:t>
            </a:r>
            <a:r>
              <a:rPr lang="en-US" sz="2200" dirty="0" smtClean="0"/>
              <a:t>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Clear handshake (</a:t>
            </a:r>
            <a:r>
              <a:rPr lang="en-US" sz="2200" dirty="0" err="1" smtClean="0"/>
              <a:t>clkA</a:t>
            </a:r>
            <a:r>
              <a:rPr lang="en-US" sz="2200" dirty="0" smtClean="0"/>
              <a:t> domain)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Parameterized by size of constants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dirty="0" smtClean="0"/>
              <a:t>Otherwise, intended to be automatic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1096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operation (briefly)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clkB</a:t>
            </a:r>
            <a:r>
              <a:rPr lang="en-US" dirty="0" smtClean="0"/>
              <a:t> (period </a:t>
            </a:r>
            <a:r>
              <a:rPr lang="en-US" dirty="0" err="1" smtClean="0"/>
              <a:t>pB</a:t>
            </a:r>
            <a:r>
              <a:rPr lang="en-US" dirty="0" smtClean="0"/>
              <a:t>) events to be received in </a:t>
            </a:r>
            <a:r>
              <a:rPr lang="en-US" dirty="0" err="1" smtClean="0"/>
              <a:t>clkA</a:t>
            </a:r>
            <a:r>
              <a:rPr lang="en-US" dirty="0" smtClean="0"/>
              <a:t> (period </a:t>
            </a:r>
            <a:r>
              <a:rPr lang="en-US" dirty="0" err="1" smtClean="0"/>
              <a:t>pA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Compute phase of </a:t>
            </a:r>
            <a:r>
              <a:rPr lang="en-US" dirty="0" err="1" smtClean="0"/>
              <a:t>clkB</a:t>
            </a:r>
            <a:r>
              <a:rPr lang="en-US" dirty="0" smtClean="0"/>
              <a:t> w.r.t. A</a:t>
            </a:r>
          </a:p>
          <a:p>
            <a:r>
              <a:rPr lang="en-US" dirty="0" smtClean="0"/>
              <a:t>Ask: “how long before </a:t>
            </a:r>
            <a:r>
              <a:rPr lang="en-US" dirty="0" err="1" smtClean="0"/>
              <a:t>clkA</a:t>
            </a:r>
            <a:r>
              <a:rPr lang="en-US" dirty="0" smtClean="0"/>
              <a:t> rose did </a:t>
            </a:r>
            <a:r>
              <a:rPr lang="en-US" dirty="0" err="1" smtClean="0"/>
              <a:t>clkB</a:t>
            </a:r>
            <a:r>
              <a:rPr lang="en-US" dirty="0" smtClean="0"/>
              <a:t> rise”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01" y="4765564"/>
            <a:ext cx="3805375" cy="8640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0" y="3795303"/>
            <a:ext cx="2871182" cy="9702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23315"/>
            <a:ext cx="2930632" cy="9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8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operation (briefly)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31" y="2499954"/>
            <a:ext cx="3144170" cy="713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2659" y="1690688"/>
            <a:ext cx="92246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How long before </a:t>
            </a:r>
            <a:r>
              <a:rPr lang="en-US" sz="2400" dirty="0" err="1" smtClean="0"/>
              <a:t>clkA</a:t>
            </a:r>
            <a:r>
              <a:rPr lang="en-US" sz="2400" dirty="0" smtClean="0"/>
              <a:t> did </a:t>
            </a:r>
            <a:r>
              <a:rPr lang="en-US" sz="2400" dirty="0" err="1" smtClean="0"/>
              <a:t>clkB</a:t>
            </a:r>
            <a:r>
              <a:rPr lang="en-US" sz="2400" dirty="0" smtClean="0"/>
              <a:t> tick?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But the question </a:t>
            </a:r>
            <a:r>
              <a:rPr lang="en-US" sz="2400" i="1" dirty="0" smtClean="0">
                <a:solidFill>
                  <a:srgbClr val="FF0000"/>
                </a:solidFill>
              </a:rPr>
              <a:t>must</a:t>
            </a:r>
            <a:r>
              <a:rPr lang="en-US" sz="2400" dirty="0" smtClean="0">
                <a:solidFill>
                  <a:srgbClr val="FF0000"/>
                </a:solidFill>
              </a:rPr>
              <a:t> have an answer between 0 and </a:t>
            </a:r>
            <a:r>
              <a:rPr lang="en-US" sz="2400" dirty="0" err="1" smtClean="0">
                <a:solidFill>
                  <a:srgbClr val="FF0000"/>
                </a:solidFill>
              </a:rPr>
              <a:t>pB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hoose C so that Delta behaves accordingly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257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operation (briefly)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36" y="2796213"/>
            <a:ext cx="8621328" cy="2410161"/>
          </a:xfrm>
        </p:spPr>
      </p:pic>
      <p:sp>
        <p:nvSpPr>
          <p:cNvPr id="3" name="TextBox 2"/>
          <p:cNvSpPr txBox="1"/>
          <p:nvPr/>
        </p:nvSpPr>
        <p:spPr>
          <a:xfrm>
            <a:off x="1487606" y="1801504"/>
            <a:ext cx="2203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(Let s=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pA</a:t>
            </a:r>
            <a:r>
              <a:rPr lang="en-US" dirty="0" smtClean="0"/>
              <a:t> – </a:t>
            </a:r>
            <a:r>
              <a:rPr lang="en-US" dirty="0" err="1" smtClean="0"/>
              <a:t>nB</a:t>
            </a:r>
            <a:r>
              <a:rPr lang="en-US" dirty="0" smtClean="0"/>
              <a:t> </a:t>
            </a:r>
            <a:r>
              <a:rPr lang="en-US" dirty="0" err="1" smtClean="0"/>
              <a:t>pB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79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48155"/>
            <a:ext cx="5026819" cy="5886922"/>
          </a:xfrm>
        </p:spPr>
      </p:pic>
      <p:sp>
        <p:nvSpPr>
          <p:cNvPr id="8" name="TextBox 7"/>
          <p:cNvSpPr txBox="1"/>
          <p:nvPr/>
        </p:nvSpPr>
        <p:spPr>
          <a:xfrm>
            <a:off x="1627094" y="1909482"/>
            <a:ext cx="3295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WIP: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Reset and 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Arithmetic integration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857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5:4 clock illustration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405055"/>
            <a:ext cx="10058400" cy="319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22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Theoretical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Theoretical performance</a:t>
            </a:r>
          </a:p>
          <a:p>
            <a:r>
              <a:rPr lang="en-US" dirty="0" smtClean="0"/>
              <a:t>Precision                 GCD(</a:t>
            </a:r>
            <a:r>
              <a:rPr lang="en-US" dirty="0" err="1" smtClean="0"/>
              <a:t>pA,pB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Convergence time LCM(</a:t>
            </a:r>
            <a:r>
              <a:rPr lang="en-US" dirty="0" err="1" smtClean="0"/>
              <a:t>pA,pB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82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clkB</a:t>
            </a:r>
            <a:r>
              <a:rPr lang="en-US" dirty="0" smtClean="0"/>
              <a:t> 390 5/8 MHz = 100/256 GHz, </a:t>
            </a:r>
            <a:r>
              <a:rPr lang="en-US" dirty="0" err="1" smtClean="0"/>
              <a:t>clkA</a:t>
            </a:r>
            <a:r>
              <a:rPr lang="en-US" dirty="0" smtClean="0"/>
              <a:t> 850 MHz = 17/20 GHz</a:t>
            </a:r>
          </a:p>
          <a:p>
            <a:r>
              <a:rPr lang="en-US" dirty="0" err="1" smtClean="0"/>
              <a:t>pB</a:t>
            </a:r>
            <a:r>
              <a:rPr lang="en-US" dirty="0" smtClean="0"/>
              <a:t> 256/100 ns, </a:t>
            </a:r>
            <a:r>
              <a:rPr lang="en-US" dirty="0" err="1" smtClean="0"/>
              <a:t>pA</a:t>
            </a:r>
            <a:r>
              <a:rPr lang="en-US" dirty="0" smtClean="0"/>
              <a:t> 20/17 ns</a:t>
            </a:r>
          </a:p>
          <a:p>
            <a:r>
              <a:rPr lang="en-US" dirty="0" smtClean="0"/>
              <a:t>Let TU = 1/(100x17) ns ≈ 588.235 fs</a:t>
            </a:r>
          </a:p>
          <a:p>
            <a:r>
              <a:rPr lang="en-US" dirty="0" err="1" smtClean="0"/>
              <a:t>pB</a:t>
            </a:r>
            <a:r>
              <a:rPr lang="en-US" dirty="0" smtClean="0"/>
              <a:t> = 17 x 256 TU, </a:t>
            </a:r>
            <a:r>
              <a:rPr lang="en-US" dirty="0" err="1" smtClean="0"/>
              <a:t>pA</a:t>
            </a:r>
            <a:r>
              <a:rPr lang="en-US" dirty="0" smtClean="0"/>
              <a:t> = 20 x 100 TU</a:t>
            </a:r>
          </a:p>
          <a:p>
            <a:r>
              <a:rPr lang="en-US" dirty="0" smtClean="0"/>
              <a:t>(lowest terms) </a:t>
            </a:r>
            <a:r>
              <a:rPr lang="en-US" dirty="0" err="1" smtClean="0"/>
              <a:t>pB</a:t>
            </a:r>
            <a:r>
              <a:rPr lang="en-US" dirty="0" smtClean="0"/>
              <a:t> = 272, </a:t>
            </a:r>
            <a:r>
              <a:rPr lang="en-US" dirty="0" err="1" smtClean="0"/>
              <a:t>pA</a:t>
            </a:r>
            <a:r>
              <a:rPr lang="en-US" dirty="0" smtClean="0"/>
              <a:t> = 125 / GCD = 1</a:t>
            </a:r>
          </a:p>
          <a:p>
            <a:r>
              <a:rPr lang="en-US" dirty="0" smtClean="0"/>
              <a:t>Precision = 20/17/125 ns = 4/425 ns ≈ 9.412ps</a:t>
            </a:r>
          </a:p>
          <a:p>
            <a:r>
              <a:rPr lang="en-US" dirty="0" smtClean="0"/>
              <a:t>Convergence = 272 </a:t>
            </a:r>
            <a:r>
              <a:rPr lang="en-US" dirty="0" err="1" smtClean="0"/>
              <a:t>clkA</a:t>
            </a:r>
            <a:r>
              <a:rPr lang="en-US" dirty="0" smtClean="0"/>
              <a:t> cycles = 125 </a:t>
            </a:r>
            <a:r>
              <a:rPr lang="en-US" dirty="0" err="1" smtClean="0"/>
              <a:t>clkB</a:t>
            </a:r>
            <a:r>
              <a:rPr lang="en-US" dirty="0" smtClean="0"/>
              <a:t> cycles = 320ns (exactly)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35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Theoretical precision = 20/17/125 ns = 4/425 ns ≈ 9.412ps</a:t>
            </a:r>
          </a:p>
          <a:p>
            <a:r>
              <a:rPr lang="en-US" dirty="0" smtClean="0"/>
              <a:t>Measured in VCS: 9.432ps</a:t>
            </a:r>
          </a:p>
          <a:p>
            <a:r>
              <a:rPr lang="en-US" dirty="0" smtClean="0"/>
              <a:t>With 100ppm clock drift: see 36.1ps in a quick sim (expect about 9.4 + 100ppm x 320ns = 41.4ps)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05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“Precise Time-Interval Measurement Using Vernier Clocks”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3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484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New &amp; Improved Vernier Time- Measurement Block</vt:lpstr>
      <vt:lpstr>Problem statement</vt:lpstr>
      <vt:lpstr>An event</vt:lpstr>
      <vt:lpstr>Problem in terms of events</vt:lpstr>
      <vt:lpstr>Representing a past event</vt:lpstr>
      <vt:lpstr>Forwarding an event in time</vt:lpstr>
      <vt:lpstr>Forwarding an event in time</vt:lpstr>
      <vt:lpstr>Two clock domains?</vt:lpstr>
      <vt:lpstr>Theory of operation (briefly)</vt:lpstr>
      <vt:lpstr>Theory of operation (briefly)</vt:lpstr>
      <vt:lpstr>Theory of operation (briefly)</vt:lpstr>
      <vt:lpstr>Implementation</vt:lpstr>
      <vt:lpstr>Waveforms</vt:lpstr>
      <vt:lpstr>Theoretical performance</vt:lpstr>
      <vt:lpstr>Example</vt:lpstr>
      <vt:lpstr>Experimental results</vt:lpstr>
      <vt:lpstr>Further reading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Vernier Time Measurement Block</dc:title>
  <dc:creator>Nystroem, Mika</dc:creator>
  <cp:keywords>CTPClassification=CTP_NT</cp:keywords>
  <cp:lastModifiedBy>Nystroem, Mika</cp:lastModifiedBy>
  <cp:revision>26</cp:revision>
  <dcterms:created xsi:type="dcterms:W3CDTF">2018-02-14T18:27:45Z</dcterms:created>
  <dcterms:modified xsi:type="dcterms:W3CDTF">2018-02-16T01:45:19Z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898a7cd3-5016-43d9-938d-64f3d0aea907</vt:lpwstr>
  </property>
  <property fmtid="{D5CDD505-2E9C-101B-9397-08002B2CF9AE}" pid="3" name="CTP_TimeStamp">
    <vt:lpwstr>2018-02-16 01:44:56Z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