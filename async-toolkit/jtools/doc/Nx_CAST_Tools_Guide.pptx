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57" r:id="rId6"/>
    <p:sldId id="275" r:id="rId7"/>
    <p:sldId id="270" r:id="rId8"/>
    <p:sldId id="258" r:id="rId9"/>
    <p:sldId id="274" r:id="rId10"/>
    <p:sldId id="259" r:id="rId11"/>
    <p:sldId id="260" r:id="rId12"/>
    <p:sldId id="261" r:id="rId13"/>
    <p:sldId id="288" r:id="rId14"/>
    <p:sldId id="285" r:id="rId15"/>
    <p:sldId id="286" r:id="rId16"/>
    <p:sldId id="272" r:id="rId17"/>
    <p:sldId id="273" r:id="rId18"/>
    <p:sldId id="280" r:id="rId19"/>
    <p:sldId id="276" r:id="rId20"/>
    <p:sldId id="278" r:id="rId21"/>
    <p:sldId id="279" r:id="rId22"/>
    <p:sldId id="277" r:id="rId23"/>
    <p:sldId id="281" r:id="rId24"/>
    <p:sldId id="282" r:id="rId25"/>
    <p:sldId id="283" r:id="rId26"/>
    <p:sldId id="284" r:id="rId27"/>
    <p:sldId id="263" r:id="rId28"/>
    <p:sldId id="264" r:id="rId29"/>
    <p:sldId id="267" r:id="rId30"/>
    <p:sldId id="268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C5"/>
    <a:srgbClr val="F83308"/>
    <a:srgbClr val="FD9208"/>
    <a:srgbClr val="009FDF"/>
    <a:srgbClr val="F3D54E"/>
    <a:srgbClr val="F0CE3E"/>
    <a:srgbClr val="003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34" autoAdjust="0"/>
  </p:normalViewPr>
  <p:slideViewPr>
    <p:cSldViewPr snapToGrid="0">
      <p:cViewPr varScale="1">
        <p:scale>
          <a:sx n="113" d="100"/>
          <a:sy n="113" d="100"/>
        </p:scale>
        <p:origin x="480" y="86"/>
      </p:cViewPr>
      <p:guideLst>
        <p:guide orient="horz" pos="1620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howGuides="1">
      <p:cViewPr varScale="1">
        <p:scale>
          <a:sx n="63" d="100"/>
          <a:sy n="63" d="100"/>
        </p:scale>
        <p:origin x="2285" y="53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11/15/2025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623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313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820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8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943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430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10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65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814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145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186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115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130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910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5210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513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015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12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146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4558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13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5" name="Picture 4" descr="int_experience_hrz_wht_rgb_1500.png"/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93" y="389228"/>
            <a:ext cx="2121766" cy="88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0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3638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239268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9004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400125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32000">
                <a:schemeClr val="tx2"/>
              </a:gs>
              <a:gs pos="95000">
                <a:srgbClr val="009FDF"/>
              </a:gs>
              <a:gs pos="78000">
                <a:srgbClr val="0071C5"/>
              </a:gs>
            </a:gsLst>
            <a:lin ang="1986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28pt Intel Clear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74" r:id="rId3"/>
    <p:sldLayoutId id="2147483650" r:id="rId4"/>
    <p:sldLayoutId id="2147483684" r:id="rId5"/>
    <p:sldLayoutId id="2147483652" r:id="rId6"/>
    <p:sldLayoutId id="2147483660" r:id="rId7"/>
    <p:sldLayoutId id="2147483668" r:id="rId8"/>
    <p:sldLayoutId id="2147483669" r:id="rId9"/>
    <p:sldLayoutId id="2147483670" r:id="rId10"/>
    <p:sldLayoutId id="2147483672" r:id="rId11"/>
    <p:sldLayoutId id="2147483651" r:id="rId12"/>
    <p:sldLayoutId id="2147483677" r:id="rId13"/>
    <p:sldLayoutId id="2147483665" r:id="rId14"/>
    <p:sldLayoutId id="2147483654" r:id="rId15"/>
    <p:sldLayoutId id="2147483655" r:id="rId16"/>
    <p:sldLayoutId id="2147483676" r:id="rId17"/>
    <p:sldLayoutId id="2147483681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i="0" kern="1200" spc="0" baseline="0">
          <a:solidFill>
            <a:schemeClr val="tx2"/>
          </a:solidFill>
          <a:latin typeface="Intel Clear"/>
          <a:ea typeface="Intel Clear"/>
          <a:cs typeface="Intel Clear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iem2.intel.com/Default.asp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gs.intel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perforce.com/sites/default/files/pdf/p4-p4v-cheat-sheet.pdf" TargetMode="External"/><Relationship Id="rId4" Type="http://schemas.openxmlformats.org/officeDocument/2006/relationships/hyperlink" Target="http://www.perforce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Nx</a:t>
            </a:r>
            <a:r>
              <a:rPr lang="en-US" dirty="0"/>
              <a:t> CAST Tools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Tools Overview &amp; Setup Guide</a:t>
            </a:r>
            <a:br>
              <a:rPr lang="en-US" dirty="0"/>
            </a:br>
            <a:r>
              <a:rPr lang="en-US" dirty="0"/>
              <a:t>Quick References</a:t>
            </a:r>
          </a:p>
          <a:p>
            <a:r>
              <a:rPr lang="en-US" dirty="0"/>
              <a:t>03/18/2020</a:t>
            </a:r>
          </a:p>
        </p:txBody>
      </p:sp>
    </p:spTree>
    <p:extLst>
      <p:ext uri="{BB962C8B-B14F-4D97-AF65-F5344CB8AC3E}">
        <p14:creationId xmlns:p14="http://schemas.microsoft.com/office/powerpoint/2010/main" val="401446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US" u="sng" dirty="0"/>
              <a:t>What is this?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Access Guide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UNIX/EAM access procedure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Source control setup (Perforce)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Perforce directory structure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Quick References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“fulcrum”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Digital Simulation (DSIM)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Synthesis and P&amp;R (</a:t>
            </a:r>
            <a:r>
              <a:rPr lang="en-US" dirty="0" err="1"/>
              <a:t>proteus</a:t>
            </a:r>
            <a:r>
              <a:rPr lang="en-US" dirty="0"/>
              <a:t>)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algn="ctr"/>
            <a:r>
              <a:rPr lang="en-US" u="sng" dirty="0"/>
              <a:t>Who is this for?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Nx</a:t>
            </a:r>
            <a:r>
              <a:rPr lang="en-US" dirty="0"/>
              <a:t> Design &amp; Flow Contributors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NxSim</a:t>
            </a:r>
            <a:r>
              <a:rPr lang="en-US" dirty="0"/>
              <a:t> Users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NxSim</a:t>
            </a:r>
            <a:r>
              <a:rPr lang="en-US" dirty="0"/>
              <a:t> Developers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98329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Nx</a:t>
            </a:r>
            <a:r>
              <a:rPr lang="en-US" dirty="0"/>
              <a:t> Tools Overview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83680560"/>
              </p:ext>
            </p:extLst>
          </p:nvPr>
        </p:nvGraphicFramePr>
        <p:xfrm>
          <a:off x="455613" y="1089025"/>
          <a:ext cx="8383587" cy="35401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20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013">
                <a:tc>
                  <a:txBody>
                    <a:bodyPr/>
                    <a:lstStyle/>
                    <a:p>
                      <a:r>
                        <a:rPr lang="en-US" sz="1400" dirty="0">
                          <a:hlinkClick r:id="rId2" action="ppaction://hlinksldjump"/>
                        </a:rPr>
                        <a:t>fulcrum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Master wrapper script. Used to access most tools.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In-house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nxsim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Matlab</a:t>
                      </a:r>
                      <a:r>
                        <a:rPr lang="en-US" sz="1400" dirty="0"/>
                        <a:t> SNN </a:t>
                      </a:r>
                      <a:r>
                        <a:rPr lang="en-US" sz="1400" baseline="0" dirty="0"/>
                        <a:t>modeling &amp; verification framework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In-house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400" dirty="0" err="1">
                          <a:hlinkClick r:id="rId3" action="ppaction://hlinksldjump"/>
                        </a:rPr>
                        <a:t>jdsim</a:t>
                      </a:r>
                      <a:r>
                        <a:rPr lang="en-US" sz="1400" baseline="0" dirty="0">
                          <a:hlinkClick r:id="rId3" action="ppaction://hlinksldjump"/>
                        </a:rPr>
                        <a:t> (</a:t>
                      </a:r>
                      <a:r>
                        <a:rPr lang="en-US" sz="1400" baseline="0" dirty="0" err="1">
                          <a:hlinkClick r:id="rId3" action="ppaction://hlinksldjump"/>
                        </a:rPr>
                        <a:t>Dsim</a:t>
                      </a:r>
                      <a:r>
                        <a:rPr lang="en-US" sz="1400" baseline="0" dirty="0">
                          <a:hlinkClick r:id="rId3" action="ppaction://hlinksldjump"/>
                        </a:rPr>
                        <a:t>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Digital simulator optimized for asynchronous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In-house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400" dirty="0"/>
                        <a:t>cast2verilog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Language translation utility (for</a:t>
                      </a:r>
                      <a:r>
                        <a:rPr lang="en-US" sz="1400" baseline="0" dirty="0"/>
                        <a:t> simulation only)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In-house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400" dirty="0"/>
                        <a:t>supersize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 sizing flow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In-house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400" dirty="0"/>
                        <a:t>virtuoso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</a:t>
                      </a:r>
                      <a:r>
                        <a:rPr lang="en-US" sz="1400" baseline="0" dirty="0"/>
                        <a:t> layout editor (</a:t>
                      </a:r>
                      <a:r>
                        <a:rPr lang="en-US" sz="1400" baseline="0" dirty="0" err="1"/>
                        <a:t>floorplanning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400" dirty="0" err="1">
                          <a:hlinkClick r:id="rId4" action="ppaction://hlinksldjump"/>
                        </a:rPr>
                        <a:t>proteus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APR</a:t>
                      </a:r>
                      <a:r>
                        <a:rPr lang="en-US" sz="1400" baseline="0" dirty="0"/>
                        <a:t> flow wrapper script (</a:t>
                      </a:r>
                      <a:r>
                        <a:rPr lang="en-US" sz="1400" baseline="0" dirty="0" err="1"/>
                        <a:t>rdt</a:t>
                      </a:r>
                      <a:r>
                        <a:rPr lang="en-US" sz="1400" baseline="0" dirty="0"/>
                        <a:t>, DC/ICC, etc.)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In-house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400" dirty="0" err="1"/>
                        <a:t>lve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Layout Verification Engine</a:t>
                      </a:r>
                      <a:r>
                        <a:rPr lang="en-US" sz="1400" baseline="0" dirty="0"/>
                        <a:t> – wrapper script for layout verification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In-house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400" dirty="0" err="1"/>
                        <a:t>PrimeTime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 (yet?)</a:t>
                      </a:r>
                      <a:r>
                        <a:rPr lang="en-US" sz="1400" baseline="0" dirty="0"/>
                        <a:t> encapsulated inside LVE.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Synopsys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400" dirty="0" err="1"/>
                        <a:t>icv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Partially integrated</a:t>
                      </a:r>
                      <a:r>
                        <a:rPr lang="en-US" sz="1400" baseline="0" dirty="0"/>
                        <a:t> inside </a:t>
                      </a:r>
                      <a:r>
                        <a:rPr lang="en-US" sz="1400" baseline="0" dirty="0" err="1"/>
                        <a:t>lve</a:t>
                      </a:r>
                      <a:r>
                        <a:rPr lang="en-US" sz="1400" baseline="0" dirty="0"/>
                        <a:t>, but commonly run externally.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Synopsys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99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 Access and Source Files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Unix groups (IEM approval) and Perforce account (EAM entitlement)</a:t>
            </a:r>
          </a:p>
          <a:p>
            <a:r>
              <a:rPr lang="en-US" dirty="0"/>
              <a:t>Project drive &amp; working directory</a:t>
            </a:r>
          </a:p>
          <a:p>
            <a:r>
              <a:rPr lang="en-US" dirty="0"/>
              <a:t>Perforce setup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4824413"/>
            <a:ext cx="2133600" cy="273050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51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1) </a:t>
            </a:r>
            <a:r>
              <a:rPr lang="en-US" dirty="0" err="1"/>
              <a:t>Nx</a:t>
            </a:r>
            <a:r>
              <a:rPr lang="en-US" dirty="0"/>
              <a:t> Unix Accounts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Use IEM to request access: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u="sng" dirty="0">
                <a:hlinkClick r:id="rId3"/>
              </a:rPr>
              <a:t>http://iem2.intel.com/Default.aspx</a:t>
            </a:r>
            <a:endParaRPr lang="en-US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/>
              <a:t>Nx</a:t>
            </a:r>
            <a:r>
              <a:rPr lang="en-US" dirty="0"/>
              <a:t> Development Drive: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fulcrum script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Group: </a:t>
            </a:r>
            <a:r>
              <a:rPr lang="en-US" b="1" u="sng" dirty="0" err="1"/>
              <a:t>ncl@or</a:t>
            </a:r>
            <a:endParaRPr lang="en-US" b="1" u="sng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3"/>
          </p:nvPr>
        </p:nvSpPr>
        <p:spPr>
          <a:xfrm>
            <a:off x="4678362" y="1203324"/>
            <a:ext cx="4144689" cy="3425825"/>
          </a:xfrm>
        </p:spPr>
        <p:txBody>
          <a:bodyPr/>
          <a:lstStyle/>
          <a:p>
            <a:r>
              <a:rPr lang="en-US" dirty="0"/>
              <a:t>2) Set up Project Directory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Using ION, log in for a VNC session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Site: Oregon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Group: /</a:t>
            </a:r>
            <a:r>
              <a:rPr lang="en-US" sz="1200" dirty="0" err="1"/>
              <a:t>il</a:t>
            </a:r>
            <a:r>
              <a:rPr lang="en-US" sz="1200" dirty="0"/>
              <a:t>/adr_sles11/</a:t>
            </a:r>
            <a:r>
              <a:rPr lang="en-US" sz="1200" dirty="0" err="1"/>
              <a:t>vnc</a:t>
            </a:r>
            <a:r>
              <a:rPr lang="en-US" sz="1200" dirty="0"/>
              <a:t>    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Create a working directory for yourself: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sz="1200" b="1" u="sng" dirty="0"/>
              <a:t>/</a:t>
            </a:r>
            <a:r>
              <a:rPr lang="en-US" sz="1200" b="1" u="sng" dirty="0" err="1"/>
              <a:t>nfs</a:t>
            </a:r>
            <a:r>
              <a:rPr lang="en-US" sz="1200" b="1" u="sng" dirty="0"/>
              <a:t>/site/disks/or_lhdk75_disk0037/w137/</a:t>
            </a:r>
            <a:r>
              <a:rPr lang="en-US" sz="1200" b="1" u="sng" dirty="0" err="1"/>
              <a:t>gorda</a:t>
            </a:r>
            <a:r>
              <a:rPr lang="en-US" sz="1200" b="1" u="sng" dirty="0"/>
              <a:t>/&lt;</a:t>
            </a:r>
            <a:r>
              <a:rPr lang="en-US" sz="1200" b="1" u="sng" dirty="0" err="1"/>
              <a:t>userid</a:t>
            </a:r>
            <a:r>
              <a:rPr lang="en-US" sz="1200" b="1" u="sng" dirty="0"/>
              <a:t>&gt;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 </a:t>
            </a:r>
            <a:r>
              <a:rPr lang="en-US" sz="1200" dirty="0"/>
              <a:t>Please maintain the consistent convention by using your correct “</a:t>
            </a:r>
            <a:r>
              <a:rPr lang="en-US" sz="1200" dirty="0" err="1"/>
              <a:t>userid</a:t>
            </a:r>
            <a:r>
              <a:rPr lang="en-US" sz="1200" dirty="0"/>
              <a:t>” string.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Use the “</a:t>
            </a:r>
            <a:r>
              <a:rPr lang="en-US" sz="1400" dirty="0" err="1"/>
              <a:t>pdx_normal</a:t>
            </a:r>
            <a:r>
              <a:rPr lang="en-US" sz="1400" dirty="0"/>
              <a:t>” pool with –</a:t>
            </a:r>
            <a:r>
              <a:rPr lang="en-US" sz="1400" dirty="0" err="1"/>
              <a:t>qslot</a:t>
            </a:r>
            <a:r>
              <a:rPr lang="en-US" sz="1400" dirty="0"/>
              <a:t>=/</a:t>
            </a:r>
            <a:r>
              <a:rPr lang="en-US" sz="1400" dirty="0" err="1"/>
              <a:t>ilabs</a:t>
            </a:r>
            <a:r>
              <a:rPr lang="en-US" sz="1400" dirty="0"/>
              <a:t>/</a:t>
            </a:r>
            <a:r>
              <a:rPr lang="en-US" sz="1400" dirty="0" err="1"/>
              <a:t>crl</a:t>
            </a:r>
            <a:r>
              <a:rPr lang="en-US" sz="1400" dirty="0"/>
              <a:t>/short for any compute-intensive jobs.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Account Access Guide</a:t>
            </a:r>
          </a:p>
        </p:txBody>
      </p:sp>
    </p:spTree>
    <p:extLst>
      <p:ext uri="{BB962C8B-B14F-4D97-AF65-F5344CB8AC3E}">
        <p14:creationId xmlns:p14="http://schemas.microsoft.com/office/powerpoint/2010/main" val="293501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Perforce Access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We use Perforce for versioning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Tool source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Nx</a:t>
            </a:r>
            <a:r>
              <a:rPr lang="en-US" dirty="0"/>
              <a:t> Design source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NxSim</a:t>
            </a:r>
            <a:r>
              <a:rPr lang="en-US" dirty="0"/>
              <a:t> Source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Request Access </a:t>
            </a:r>
            <a:r>
              <a:rPr lang="en-US" u="sng" dirty="0">
                <a:hlinkClick r:id="rId3"/>
              </a:rPr>
              <a:t>https://ags.intel.com/</a:t>
            </a:r>
            <a:endParaRPr lang="en-US" u="sng" dirty="0"/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Access -&gt; Submit Request</a:t>
            </a:r>
          </a:p>
          <a:p>
            <a:pPr marL="1255713" lvl="3" indent="-285750">
              <a:buFont typeface="Arial" panose="020B0604020202020204" pitchFamily="34" charset="0"/>
              <a:buChar char="•"/>
            </a:pPr>
            <a:r>
              <a:rPr lang="en-US" b="1" dirty="0"/>
              <a:t>Perforce NxWrite</a:t>
            </a:r>
            <a:endParaRPr lang="en-US" dirty="0"/>
          </a:p>
          <a:p>
            <a:pPr marL="1255713" lvl="3" indent="-285750">
              <a:buFont typeface="Arial" panose="020B0604020202020204" pitchFamily="34" charset="0"/>
              <a:buChar char="•"/>
            </a:pPr>
            <a:r>
              <a:rPr lang="en-US" b="1" dirty="0"/>
              <a:t>Perforce </a:t>
            </a:r>
            <a:r>
              <a:rPr lang="en-US" b="1" dirty="0" err="1"/>
              <a:t>NxRead</a:t>
            </a:r>
            <a:endParaRPr lang="en-US" b="1" dirty="0"/>
          </a:p>
          <a:p>
            <a:pPr marL="1255713" lvl="3" indent="-285750">
              <a:buFont typeface="Arial" panose="020B0604020202020204" pitchFamily="34" charset="0"/>
              <a:buChar char="•"/>
            </a:pPr>
            <a:r>
              <a:rPr lang="en-US" b="1" dirty="0"/>
              <a:t>Perforce </a:t>
            </a:r>
            <a:r>
              <a:rPr lang="en-US" b="1" dirty="0" err="1"/>
              <a:t>nxsim</a:t>
            </a:r>
            <a:r>
              <a:rPr lang="en-US" b="1" dirty="0"/>
              <a:t> Write</a:t>
            </a:r>
          </a:p>
          <a:p>
            <a:pPr marL="1255713" lvl="3" indent="-285750">
              <a:buFont typeface="Arial" panose="020B0604020202020204" pitchFamily="34" charset="0"/>
              <a:buChar char="•"/>
            </a:pPr>
            <a:r>
              <a:rPr lang="en-US" b="1" dirty="0"/>
              <a:t>Perforce </a:t>
            </a:r>
            <a:r>
              <a:rPr lang="en-US" b="1" dirty="0" err="1"/>
              <a:t>nxsim</a:t>
            </a:r>
            <a:r>
              <a:rPr lang="en-US" b="1" dirty="0"/>
              <a:t> Read</a:t>
            </a:r>
          </a:p>
          <a:p>
            <a:pPr marL="1255713" lvl="3" indent="-285750">
              <a:buFont typeface="Arial" panose="020B0604020202020204" pitchFamily="34" charset="0"/>
              <a:buChar char="•"/>
            </a:pPr>
            <a:r>
              <a:rPr lang="en-US" b="1" dirty="0"/>
              <a:t>Perforce MRL Write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/>
              <a:t>Perforce Info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See </a:t>
            </a:r>
            <a:r>
              <a:rPr lang="en-US" dirty="0">
                <a:hlinkClick r:id="rId4"/>
              </a:rPr>
              <a:t>www.perforce.com</a:t>
            </a:r>
            <a:endParaRPr lang="en-US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Also known as “Helix” (new name)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We recommend you use the “p4” command from the </a:t>
            </a:r>
            <a:r>
              <a:rPr lang="en-US" dirty="0" err="1"/>
              <a:t>unix</a:t>
            </a:r>
            <a:r>
              <a:rPr lang="en-US" dirty="0"/>
              <a:t> prompt, although “p4v” </a:t>
            </a:r>
            <a:r>
              <a:rPr lang="en-US" dirty="0" err="1"/>
              <a:t>gui</a:t>
            </a:r>
            <a:r>
              <a:rPr lang="en-US" dirty="0"/>
              <a:t> is also available.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Command quick reference (for p4v and p4):</a:t>
            </a:r>
            <a:br>
              <a:rPr lang="en-US" dirty="0"/>
            </a:br>
            <a:r>
              <a:rPr lang="en-US" dirty="0">
                <a:hlinkClick r:id="rId5"/>
              </a:rPr>
              <a:t>https://www.perforce.com/sites/default/files/pdf/p4-p4v-cheat-sheet.pdf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Perforce Access Guide</a:t>
            </a:r>
          </a:p>
        </p:txBody>
      </p:sp>
    </p:spTree>
    <p:extLst>
      <p:ext uri="{BB962C8B-B14F-4D97-AF65-F5344CB8AC3E}">
        <p14:creationId xmlns:p14="http://schemas.microsoft.com/office/powerpoint/2010/main" val="312338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3551" y="308848"/>
            <a:ext cx="8229600" cy="868680"/>
          </a:xfrm>
        </p:spPr>
        <p:txBody>
          <a:bodyPr/>
          <a:lstStyle/>
          <a:p>
            <a:r>
              <a:rPr lang="en-US" dirty="0"/>
              <a:t>Perforce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1047751"/>
            <a:ext cx="8228012" cy="3581400"/>
          </a:xfrm>
        </p:spPr>
        <p:txBody>
          <a:bodyPr/>
          <a:lstStyle/>
          <a:p>
            <a:pPr>
              <a:spcBef>
                <a:spcPts val="0"/>
              </a:spcBef>
            </a:pP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Make sure to add this in your .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cshrc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so that you don’t have to keep sourcing it 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every time you open a new terminal.  You will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need to adapt this if you use a non-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shell!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source /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nfs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/site/disks/or_lhdk75_disk0037/w137/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gorda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ncl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/setup/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project.user.csh</a:t>
            </a:r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Trust the connection to the perforce server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p4 trust</a:t>
            </a:r>
          </a:p>
          <a:p>
            <a:pPr>
              <a:spcBef>
                <a:spcPts val="0"/>
              </a:spcBef>
            </a:pP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Use your windows password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The “-a” flag issues a ticket for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all servers.  Otherwise you will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have to run p4 login on machine switch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p4 login -a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6356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3"/>
          </p:nvPr>
        </p:nvSpPr>
        <p:spPr>
          <a:xfrm>
            <a:off x="455613" y="796294"/>
            <a:ext cx="4005264" cy="34258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 err="1"/>
              <a:t>Nx</a:t>
            </a:r>
            <a:r>
              <a:rPr lang="en-US" dirty="0"/>
              <a:t> Design Files</a:t>
            </a:r>
          </a:p>
          <a:p>
            <a:pPr lvl="0">
              <a:spcBef>
                <a:spcPts val="0"/>
              </a:spcBef>
            </a:pPr>
            <a:r>
              <a:rPr lang="en-US" sz="1200" dirty="0">
                <a:solidFill>
                  <a:schemeClr val="accent1"/>
                </a:solidFill>
              </a:rPr>
              <a:t># Create Directory</a:t>
            </a:r>
          </a:p>
          <a:p>
            <a:pPr lvl="0"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</a:rPr>
              <a:t>mkdir</a:t>
            </a:r>
            <a:r>
              <a:rPr lang="en-US" sz="1200" dirty="0">
                <a:solidFill>
                  <a:schemeClr val="tx1"/>
                </a:solidFill>
              </a:rPr>
              <a:t> –p /</a:t>
            </a:r>
            <a:r>
              <a:rPr lang="en-US" sz="1200" dirty="0" err="1">
                <a:solidFill>
                  <a:schemeClr val="tx1"/>
                </a:solidFill>
              </a:rPr>
              <a:t>nfs</a:t>
            </a:r>
            <a:r>
              <a:rPr lang="en-US" sz="1200" dirty="0">
                <a:solidFill>
                  <a:schemeClr val="tx1"/>
                </a:solidFill>
              </a:rPr>
              <a:t>/site/disks/or_lhdk75_disk0037/w137/</a:t>
            </a:r>
            <a:r>
              <a:rPr lang="en-US" sz="1200" dirty="0" err="1">
                <a:solidFill>
                  <a:schemeClr val="tx1"/>
                </a:solidFill>
              </a:rPr>
              <a:t>gorda</a:t>
            </a:r>
            <a:r>
              <a:rPr lang="en-US" sz="1200" dirty="0">
                <a:solidFill>
                  <a:schemeClr val="tx1"/>
                </a:solidFill>
              </a:rPr>
              <a:t>/$USER/p4/dev</a:t>
            </a:r>
          </a:p>
          <a:p>
            <a:pPr lvl="0">
              <a:spcBef>
                <a:spcPts val="0"/>
              </a:spcBef>
            </a:pPr>
            <a:endParaRPr lang="en-US" sz="1200" dirty="0">
              <a:solidFill>
                <a:schemeClr val="accent1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1200" dirty="0">
                <a:solidFill>
                  <a:schemeClr val="accent1"/>
                </a:solidFill>
              </a:rPr>
              <a:t># Set up .p4config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cd /</a:t>
            </a:r>
            <a:r>
              <a:rPr lang="en-US" sz="1200" dirty="0" err="1">
                <a:solidFill>
                  <a:schemeClr val="tx1"/>
                </a:solidFill>
              </a:rPr>
              <a:t>nfs</a:t>
            </a:r>
            <a:r>
              <a:rPr lang="en-US" sz="1200" dirty="0">
                <a:solidFill>
                  <a:schemeClr val="tx1"/>
                </a:solidFill>
              </a:rPr>
              <a:t>/site/disks/or_lhdk75_disk0037/w137/</a:t>
            </a:r>
            <a:r>
              <a:rPr lang="en-US" sz="1200" dirty="0" err="1">
                <a:solidFill>
                  <a:schemeClr val="tx1"/>
                </a:solidFill>
              </a:rPr>
              <a:t>gorda</a:t>
            </a:r>
            <a:r>
              <a:rPr lang="en-US" sz="1200" dirty="0">
                <a:solidFill>
                  <a:schemeClr val="tx1"/>
                </a:solidFill>
              </a:rPr>
              <a:t>/$USER/p4/dev</a:t>
            </a:r>
            <a:endParaRPr lang="en-US" sz="1200" dirty="0">
              <a:solidFill>
                <a:schemeClr val="accent1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echo P4CLIENT=$USER-</a:t>
            </a:r>
            <a:r>
              <a:rPr lang="en-US" sz="1200" dirty="0" err="1">
                <a:solidFill>
                  <a:schemeClr val="tx1"/>
                </a:solidFill>
              </a:rPr>
              <a:t>ncl</a:t>
            </a:r>
            <a:r>
              <a:rPr lang="en-US" sz="1200" dirty="0">
                <a:solidFill>
                  <a:schemeClr val="tx1"/>
                </a:solidFill>
              </a:rPr>
              <a:t>-dev &gt; .p4config</a:t>
            </a:r>
          </a:p>
          <a:p>
            <a:pPr lvl="0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1200" dirty="0">
                <a:solidFill>
                  <a:schemeClr val="accent1"/>
                </a:solidFill>
              </a:rPr>
              <a:t># Set up client, using sample client as template</a:t>
            </a:r>
          </a:p>
          <a:p>
            <a:pPr lvl="0">
              <a:spcBef>
                <a:spcPts val="0"/>
              </a:spcBef>
            </a:pPr>
            <a:r>
              <a:rPr lang="en-US" sz="1200" dirty="0">
                <a:solidFill>
                  <a:schemeClr val="accent1"/>
                </a:solidFill>
              </a:rPr>
              <a:t># Save the client file that opens as .p4client</a:t>
            </a:r>
          </a:p>
          <a:p>
            <a:pPr lvl="0"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p4 client -t template-</a:t>
            </a:r>
            <a:r>
              <a:rPr lang="en-US" sz="1200" dirty="0" err="1">
                <a:solidFill>
                  <a:schemeClr val="tx1"/>
                </a:solidFill>
              </a:rPr>
              <a:t>ncl</a:t>
            </a:r>
            <a:r>
              <a:rPr lang="en-US" sz="1200" dirty="0">
                <a:solidFill>
                  <a:schemeClr val="tx1"/>
                </a:solidFill>
              </a:rPr>
              <a:t>-dev</a:t>
            </a:r>
          </a:p>
          <a:p>
            <a:pPr lvl="0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1200" dirty="0">
                <a:solidFill>
                  <a:schemeClr val="accent1"/>
                </a:solidFill>
              </a:rPr>
              <a:t># Sync your client space (this may take a while)</a:t>
            </a:r>
          </a:p>
          <a:p>
            <a:pPr lvl="0"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p4 sync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Perforce Checkout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5985F6FA-9808-473E-8499-FC06E7B2C9BF}"/>
              </a:ext>
            </a:extLst>
          </p:cNvPr>
          <p:cNvSpPr txBox="1">
            <a:spLocks/>
          </p:cNvSpPr>
          <p:nvPr/>
        </p:nvSpPr>
        <p:spPr>
          <a:xfrm>
            <a:off x="4678787" y="725174"/>
            <a:ext cx="4005264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lang="en-US" sz="1800" b="0" kern="1200" dirty="0" smtClean="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lang="en-US" sz="1600" kern="1200" baseline="0" dirty="0" smtClean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/>
              <a:t>7nm Design Files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accent1"/>
                </a:solidFill>
              </a:rPr>
              <a:t># Create Directory</a:t>
            </a:r>
          </a:p>
          <a:p>
            <a:pPr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</a:rPr>
              <a:t>mkdir</a:t>
            </a:r>
            <a:r>
              <a:rPr lang="en-US" sz="1200" dirty="0">
                <a:solidFill>
                  <a:schemeClr val="tx1"/>
                </a:solidFill>
              </a:rPr>
              <a:t> –p /</a:t>
            </a:r>
            <a:r>
              <a:rPr lang="en-US" sz="1200" dirty="0" err="1">
                <a:solidFill>
                  <a:schemeClr val="tx1"/>
                </a:solidFill>
              </a:rPr>
              <a:t>nfs</a:t>
            </a:r>
            <a:r>
              <a:rPr lang="en-US" sz="1200" dirty="0">
                <a:solidFill>
                  <a:schemeClr val="tx1"/>
                </a:solidFill>
              </a:rPr>
              <a:t>/site/disks/or_lhdk75_disk0037/w137/</a:t>
            </a:r>
            <a:r>
              <a:rPr lang="en-US" sz="1200" dirty="0" err="1">
                <a:solidFill>
                  <a:schemeClr val="tx1"/>
                </a:solidFill>
              </a:rPr>
              <a:t>gorda</a:t>
            </a:r>
            <a:r>
              <a:rPr lang="en-US" sz="1200" dirty="0">
                <a:solidFill>
                  <a:schemeClr val="tx1"/>
                </a:solidFill>
              </a:rPr>
              <a:t>/$USER/p4/dev7</a:t>
            </a:r>
          </a:p>
          <a:p>
            <a:pPr>
              <a:spcBef>
                <a:spcPts val="0"/>
              </a:spcBef>
            </a:pPr>
            <a:endParaRPr lang="en-US" sz="1200" dirty="0">
              <a:solidFill>
                <a:schemeClr val="accent1"/>
              </a:solidFill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accent1"/>
                </a:solidFill>
              </a:rPr>
              <a:t># Set up .p4config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cd /</a:t>
            </a:r>
            <a:r>
              <a:rPr lang="en-US" sz="1200" dirty="0" err="1">
                <a:solidFill>
                  <a:schemeClr val="tx1"/>
                </a:solidFill>
              </a:rPr>
              <a:t>nfs</a:t>
            </a:r>
            <a:r>
              <a:rPr lang="en-US" sz="1200" dirty="0">
                <a:solidFill>
                  <a:schemeClr val="tx1"/>
                </a:solidFill>
              </a:rPr>
              <a:t>/site/disks/or_lhdk75_disk0037/w137/</a:t>
            </a:r>
            <a:r>
              <a:rPr lang="en-US" sz="1200" dirty="0" err="1">
                <a:solidFill>
                  <a:schemeClr val="tx1"/>
                </a:solidFill>
              </a:rPr>
              <a:t>gorda</a:t>
            </a:r>
            <a:r>
              <a:rPr lang="en-US" sz="1200" dirty="0">
                <a:solidFill>
                  <a:schemeClr val="tx1"/>
                </a:solidFill>
              </a:rPr>
              <a:t>/$USER/p4/dev7</a:t>
            </a:r>
            <a:endParaRPr lang="en-US" sz="1200" dirty="0">
              <a:solidFill>
                <a:schemeClr val="accent1"/>
              </a:solidFill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echo P4CLIENT=$USER-ncl-dev7 &gt; .p4config</a:t>
            </a:r>
          </a:p>
          <a:p>
            <a:pPr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accent1"/>
                </a:solidFill>
              </a:rPr>
              <a:t># Set up client, using sample client as template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accent1"/>
                </a:solidFill>
              </a:rPr>
              <a:t># Save the client file that opens as .p4client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p4 client -t ppjoshi1-ncl-dev7</a:t>
            </a:r>
          </a:p>
          <a:p>
            <a:pPr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accent1"/>
                </a:solidFill>
              </a:rPr>
              <a:t># Sync your client space (this may take a while)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p4 sync</a:t>
            </a:r>
          </a:p>
        </p:txBody>
      </p:sp>
    </p:spTree>
    <p:extLst>
      <p:ext uri="{BB962C8B-B14F-4D97-AF65-F5344CB8AC3E}">
        <p14:creationId xmlns:p14="http://schemas.microsoft.com/office/powerpoint/2010/main" val="12219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78363" y="1177527"/>
            <a:ext cx="4006851" cy="3425825"/>
          </a:xfrm>
        </p:spPr>
        <p:txBody>
          <a:bodyPr/>
          <a:lstStyle/>
          <a:p>
            <a:r>
              <a:rPr lang="en-US" dirty="0" err="1"/>
              <a:t>NxSim</a:t>
            </a:r>
            <a:br>
              <a:rPr lang="en-US" dirty="0"/>
            </a:br>
            <a:r>
              <a:rPr lang="en-US" sz="1600" dirty="0">
                <a:solidFill>
                  <a:schemeClr val="tx2"/>
                </a:solidFill>
              </a:rPr>
              <a:t>(Legacy N1 structure, will change soon)</a:t>
            </a:r>
          </a:p>
          <a:p>
            <a:pPr lvl="1" indent="0">
              <a:buNone/>
            </a:pPr>
            <a:r>
              <a:rPr lang="en-US" dirty="0"/>
              <a:t>p4/</a:t>
            </a:r>
            <a:r>
              <a:rPr lang="en-US" dirty="0" err="1"/>
              <a:t>nxsim</a:t>
            </a:r>
            <a:r>
              <a:rPr lang="en-US" dirty="0"/>
              <a:t>/n1{</a:t>
            </a:r>
            <a:r>
              <a:rPr lang="en-US" dirty="0" err="1"/>
              <a:t>a,b,c</a:t>
            </a:r>
            <a:r>
              <a:rPr lang="en-US" dirty="0"/>
              <a:t>}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/core – Core </a:t>
            </a:r>
            <a:r>
              <a:rPr lang="en-US" dirty="0" err="1"/>
              <a:t>NxSim</a:t>
            </a:r>
            <a:r>
              <a:rPr lang="en-US" dirty="0"/>
              <a:t> Classes 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/experiments – Test code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/</a:t>
            </a:r>
            <a:r>
              <a:rPr lang="en-US" dirty="0" err="1"/>
              <a:t>misc</a:t>
            </a:r>
            <a:r>
              <a:rPr lang="en-US" dirty="0"/>
              <a:t> – Miscellaneous helper scripts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/projects – Test cases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Currently, there is no n1a directory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Perforce Directory Structure</a:t>
            </a: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455613" y="1177528"/>
            <a:ext cx="4005264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lang="en-US" sz="1800" b="0" kern="1200" dirty="0" smtClean="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lang="en-US" sz="1600" kern="1200" baseline="0" dirty="0" smtClean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Nx</a:t>
            </a:r>
            <a:r>
              <a:rPr lang="en-US" dirty="0"/>
              <a:t> Design Files</a:t>
            </a:r>
            <a:br>
              <a:rPr lang="en-US" dirty="0"/>
            </a:br>
            <a:r>
              <a:rPr lang="en-US" sz="1600" dirty="0">
                <a:solidFill>
                  <a:schemeClr val="tx2"/>
                </a:solidFill>
              </a:rPr>
              <a:t>Relative to your client root: (p4/dev7/…)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/>
              <a:t>cast</a:t>
            </a:r>
            <a:r>
              <a:rPr lang="en-US" dirty="0"/>
              <a:t> – HDL description of design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/>
              <a:t>spec</a:t>
            </a:r>
            <a:r>
              <a:rPr lang="en-US" dirty="0"/>
              <a:t> – Sized gate </a:t>
            </a:r>
            <a:r>
              <a:rPr lang="en-US" dirty="0" err="1"/>
              <a:t>netlists</a:t>
            </a:r>
            <a:r>
              <a:rPr lang="en-US" dirty="0"/>
              <a:t>.  Refines from base cell definitions under cast/ (usually </a:t>
            </a:r>
            <a:r>
              <a:rPr lang="en-US" dirty="0" err="1"/>
              <a:t>autogenerated</a:t>
            </a:r>
            <a:r>
              <a:rPr lang="en-US" dirty="0"/>
              <a:t>, mirrors cast/… hierarchy.)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dfII</a:t>
            </a:r>
            <a:r>
              <a:rPr lang="en-US" dirty="0"/>
              <a:t> – Virtuoso layout files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/>
              <a:t>spar</a:t>
            </a:r>
            <a:r>
              <a:rPr lang="en-US" dirty="0"/>
              <a:t> – Synthesis/P&amp;R collateral (library files, </a:t>
            </a:r>
            <a:r>
              <a:rPr lang="en-US" dirty="0" err="1"/>
              <a:t>lef</a:t>
            </a:r>
            <a:r>
              <a:rPr lang="en-US" dirty="0"/>
              <a:t>/</a:t>
            </a:r>
            <a:r>
              <a:rPr lang="en-US" dirty="0" err="1"/>
              <a:t>def</a:t>
            </a:r>
            <a:r>
              <a:rPr lang="en-US" dirty="0"/>
              <a:t>, etc.)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196" y="4364182"/>
            <a:ext cx="4281055" cy="338554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100" dirty="0">
                <a:solidFill>
                  <a:srgbClr val="003C71"/>
                </a:solidFill>
              </a:rPr>
              <a:t>Many GB’s of data.  Only check this out when you truly need it.</a:t>
            </a:r>
          </a:p>
          <a:p>
            <a:pPr algn="ctr"/>
            <a:r>
              <a:rPr lang="en-US" sz="1100" dirty="0">
                <a:solidFill>
                  <a:srgbClr val="003C71"/>
                </a:solidFill>
              </a:rPr>
              <a:t>Not included in the “template-n2-cast” p4 client spec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196" y="3316778"/>
            <a:ext cx="4281055" cy="1385958"/>
          </a:xfrm>
          <a:prstGeom prst="rect">
            <a:avLst/>
          </a:prstGeom>
          <a:noFill/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8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Variable Conventions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9461845"/>
              </p:ext>
            </p:extLst>
          </p:nvPr>
        </p:nvGraphicFramePr>
        <p:xfrm>
          <a:off x="455613" y="1094342"/>
          <a:ext cx="8228012" cy="2133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30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$WORK_DIR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nfs</a:t>
                      </a:r>
                      <a:r>
                        <a:rPr lang="en-US" sz="1400" dirty="0"/>
                        <a:t>/site/disks/or_lhdk75_disk0037/w137/</a:t>
                      </a:r>
                      <a:r>
                        <a:rPr lang="en-US" sz="1400" dirty="0" err="1"/>
                        <a:t>gorda</a:t>
                      </a:r>
                      <a:r>
                        <a:rPr lang="en-US" sz="1400" dirty="0"/>
                        <a:t>/$USER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$CAST_DIR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Root of your “base cast” tree, i.e. $WORK_DIR/p4/dev/cast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908772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$CAST7_DIR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Root of your “base cast” tree, i.e. $WORK_DIR/p4/dev7/cast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$SPEC_DIR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Root of your “spec tree”, i.e. $WORK_DIR/p4/dev7/spec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$DFII_DIR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Root of Cadence </a:t>
                      </a:r>
                      <a:r>
                        <a:rPr lang="en-US" sz="1400" dirty="0" err="1"/>
                        <a:t>dfII</a:t>
                      </a:r>
                      <a:r>
                        <a:rPr lang="en-US" sz="1400" baseline="0" dirty="0"/>
                        <a:t> layout tree, i.e. $WORK_DIR/p4/dev7/</a:t>
                      </a:r>
                      <a:r>
                        <a:rPr lang="en-US" sz="1400" baseline="0" dirty="0" err="1"/>
                        <a:t>dfII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$SPAR_DIR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Root of spar</a:t>
                      </a:r>
                      <a:r>
                        <a:rPr lang="en-US" sz="1400" baseline="0" dirty="0"/>
                        <a:t> collateral tree, i.e. $WORK_DIR/p4/dev7/spar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$CAST_PATH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Path for locating cast files. Typically</a:t>
                      </a:r>
                      <a:r>
                        <a:rPr lang="en-US" sz="1400" baseline="0" dirty="0"/>
                        <a:t> $CAST7_DIR:</a:t>
                      </a:r>
                      <a:r>
                        <a:rPr lang="en-US" sz="1400" dirty="0"/>
                        <a:t>$CAST_DIR:$SPEC_DIR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01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 Source Directory Structure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19813295"/>
              </p:ext>
            </p:extLst>
          </p:nvPr>
        </p:nvGraphicFramePr>
        <p:xfrm>
          <a:off x="455613" y="1094342"/>
          <a:ext cx="8228012" cy="3566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04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lib/…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Generic library cells deeded for any non-trivial</a:t>
                      </a:r>
                      <a:r>
                        <a:rPr lang="en-US" sz="1400" baseline="0" dirty="0"/>
                        <a:t> design project.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/>
                      <a:r>
                        <a:rPr lang="en-US" sz="1400" dirty="0"/>
                        <a:t>lib/</a:t>
                      </a:r>
                      <a:r>
                        <a:rPr lang="en-US" sz="1400" dirty="0" err="1"/>
                        <a:t>util</a:t>
                      </a:r>
                      <a:r>
                        <a:rPr lang="en-US" sz="1400" dirty="0"/>
                        <a:t>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Simple operators, flops, latches, etc. independent</a:t>
                      </a:r>
                      <a:r>
                        <a:rPr lang="en-US" sz="1400" baseline="0" dirty="0"/>
                        <a:t> of any particular standard cell library.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 algn="l" defTabSz="4572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lib/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qdi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Library cells fo</a:t>
                      </a:r>
                      <a:r>
                        <a:rPr lang="en-US" sz="1400" baseline="0" dirty="0"/>
                        <a:t>r Quasi-Delay-Insensitive asynchronous design (old)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 algn="l" defTabSz="4572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lib/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Bundled Data asynchronous design primitives, e.g. controllers.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 algn="l" defTabSz="4572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lib/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/standard/*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Standard controllers and pipelining</a:t>
                      </a:r>
                      <a:r>
                        <a:rPr lang="en-US" sz="1400" baseline="0" dirty="0"/>
                        <a:t> circuits for BD design.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 algn="l" defTabSz="4572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lib/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/6T/*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6T SRAM designs, including multi-bank</a:t>
                      </a:r>
                      <a:r>
                        <a:rPr lang="en-US" sz="1400" baseline="0" dirty="0"/>
                        <a:t> and pseudo-dual-ported designs.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 algn="l" defTabSz="4572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lib/synchronous/…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Synchronous</a:t>
                      </a:r>
                      <a:r>
                        <a:rPr lang="en-US" sz="1400" baseline="0" dirty="0"/>
                        <a:t> cells (not many), e.g. a TCAM and sync/</a:t>
                      </a:r>
                      <a:r>
                        <a:rPr lang="en-US" sz="1400" baseline="0" dirty="0" err="1"/>
                        <a:t>async</a:t>
                      </a:r>
                      <a:r>
                        <a:rPr lang="en-US" sz="1400" baseline="0" dirty="0"/>
                        <a:t> conversion cells.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 algn="l" defTabSz="4572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lib/comb/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Hand-optimized</a:t>
                      </a:r>
                      <a:r>
                        <a:rPr lang="en-US" sz="1400" baseline="0" dirty="0"/>
                        <a:t> combinational logic agnostic to sync/</a:t>
                      </a:r>
                      <a:r>
                        <a:rPr lang="en-US" sz="1400" baseline="0" dirty="0" err="1"/>
                        <a:t>async</a:t>
                      </a:r>
                      <a:r>
                        <a:rPr lang="en-US" sz="1400" baseline="0" dirty="0"/>
                        <a:t> pipelining.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 algn="l" defTabSz="4572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lib/metastable/…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Circuits </a:t>
                      </a:r>
                      <a:r>
                        <a:rPr lang="en-US" sz="1400" dirty="0" err="1"/>
                        <a:t>designd</a:t>
                      </a:r>
                      <a:r>
                        <a:rPr lang="en-US" sz="1400" dirty="0"/>
                        <a:t> to manage metastable centralized</a:t>
                      </a:r>
                      <a:r>
                        <a:rPr lang="en-US" sz="1400" baseline="0" dirty="0"/>
                        <a:t> here (dangerous!)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vendor/…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IP imported</a:t>
                      </a:r>
                      <a:r>
                        <a:rPr lang="en-US" sz="1400" baseline="0" dirty="0"/>
                        <a:t> from other providers, i.e. not developed in CAST framework.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 algn="l" defTabSz="4572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vendor/intel/…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See d04.cast</a:t>
                      </a:r>
                      <a:r>
                        <a:rPr lang="en-US" sz="1400" baseline="0" dirty="0"/>
                        <a:t> (d04 cell library), </a:t>
                      </a:r>
                      <a:r>
                        <a:rPr lang="en-US" sz="1400" baseline="0" dirty="0" err="1"/>
                        <a:t>sram.cast</a:t>
                      </a:r>
                      <a:r>
                        <a:rPr lang="en-US" sz="1400" baseline="0" dirty="0"/>
                        <a:t> (IDG SRAMs), IOs, etc.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02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 Source Directory Structure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968792"/>
              </p:ext>
            </p:extLst>
          </p:nvPr>
        </p:nvGraphicFramePr>
        <p:xfrm>
          <a:off x="455613" y="1177528"/>
          <a:ext cx="8228012" cy="2133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29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core/…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Modular</a:t>
                      </a:r>
                      <a:r>
                        <a:rPr lang="en-US" sz="1400" baseline="0" dirty="0"/>
                        <a:t> self-contained blocks suitable for SOC integration.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/>
                      <a:r>
                        <a:rPr lang="en-US" sz="1400" dirty="0"/>
                        <a:t>core/neuro/…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Neuromorphic blocks. See </a:t>
                      </a:r>
                      <a:r>
                        <a:rPr lang="en-US" sz="1400" dirty="0" err="1"/>
                        <a:t>base.cast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neuron.cast</a:t>
                      </a:r>
                      <a:r>
                        <a:rPr lang="en-US" sz="1400" dirty="0"/>
                        <a:t>,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 err="1"/>
                        <a:t>mesh.cast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tile.cast</a:t>
                      </a:r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/>
                      <a:r>
                        <a:rPr lang="en-US" sz="1400" dirty="0"/>
                        <a:t>core/neuro/neuron/…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N1* neuron design. N2 organization TBD</a:t>
                      </a:r>
                      <a:r>
                        <a:rPr lang="en-US" sz="1400" baseline="0" dirty="0"/>
                        <a:t> (needs to support multiple cores).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/>
                      <a:r>
                        <a:rPr lang="en-US" sz="1400" dirty="0"/>
                        <a:t>core/</a:t>
                      </a:r>
                      <a:r>
                        <a:rPr lang="en-US" sz="1400" dirty="0" err="1"/>
                        <a:t>noc</a:t>
                      </a:r>
                      <a:r>
                        <a:rPr lang="en-US" sz="1400" dirty="0"/>
                        <a:t>/…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Lightweight </a:t>
                      </a:r>
                      <a:r>
                        <a:rPr lang="en-US" sz="1400" dirty="0" err="1"/>
                        <a:t>NoC</a:t>
                      </a:r>
                      <a:r>
                        <a:rPr lang="en-US" sz="1400" dirty="0"/>
                        <a:t> design for many-core mesh applications.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pPr marL="182880" lvl="1"/>
                      <a:r>
                        <a:rPr lang="en-US" sz="1400" dirty="0"/>
                        <a:t>core/</a:t>
                      </a:r>
                      <a:r>
                        <a:rPr lang="en-US" sz="1400" dirty="0" err="1"/>
                        <a:t>io</a:t>
                      </a:r>
                      <a:r>
                        <a:rPr lang="en-US" sz="1400" dirty="0"/>
                        <a:t>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Off-chip</a:t>
                      </a:r>
                      <a:r>
                        <a:rPr lang="en-US" sz="1400" baseline="0" dirty="0"/>
                        <a:t> interfacing cells, e.g. </a:t>
                      </a:r>
                      <a:r>
                        <a:rPr lang="en-US" sz="1400" baseline="0" dirty="0" err="1"/>
                        <a:t>fpio.cast</a:t>
                      </a:r>
                      <a:r>
                        <a:rPr lang="en-US" sz="1400" baseline="0" dirty="0"/>
                        <a:t>.  (Interface logic, not pad drivers.)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chip/n1/*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N1</a:t>
                      </a:r>
                      <a:r>
                        <a:rPr lang="en-US" sz="1400" baseline="0" dirty="0"/>
                        <a:t> chip-level design definition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701">
                <a:tc>
                  <a:txBody>
                    <a:bodyPr/>
                    <a:lstStyle/>
                    <a:p>
                      <a:r>
                        <a:rPr lang="en-US" sz="1400" dirty="0"/>
                        <a:t>chip/n2/*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N2 chip-level design definition (not yet created).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25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fulcrum Script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4824413"/>
            <a:ext cx="2133600" cy="273050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8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Fulcrum Script Overview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5613" y="1333500"/>
            <a:ext cx="8228012" cy="3400425"/>
          </a:xfrm>
        </p:spPr>
        <p:txBody>
          <a:bodyPr/>
          <a:lstStyle/>
          <a:p>
            <a:r>
              <a:rPr lang="en-US" dirty="0"/>
              <a:t>Why use a wrapper script to run all tools?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Users don’t have to worry about paths, versions, environment variables, etc. These are all handled behind the scenes for you.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Standardizes the team’s tool flow usage conventions.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Provides tool versioning for stability and debugging.</a:t>
            </a:r>
          </a:p>
          <a:p>
            <a:r>
              <a:rPr lang="en-US" dirty="0"/>
              <a:t>Main arguments: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/>
              <a:t>--</a:t>
            </a:r>
            <a:r>
              <a:rPr lang="en-US" b="1" dirty="0" err="1"/>
              <a:t>pdk</a:t>
            </a:r>
            <a:r>
              <a:rPr lang="en-US" b="1" dirty="0"/>
              <a:t>=&lt;</a:t>
            </a:r>
            <a:r>
              <a:rPr lang="en-US" b="1" dirty="0" err="1"/>
              <a:t>pdk</a:t>
            </a:r>
            <a:r>
              <a:rPr lang="en-US" b="1" dirty="0"/>
              <a:t>&gt; </a:t>
            </a:r>
            <a:r>
              <a:rPr lang="en-US" dirty="0"/>
              <a:t>– Specifies the process PDK for relevant tools (</a:t>
            </a:r>
            <a:r>
              <a:rPr lang="en-US" u="sng" dirty="0"/>
              <a:t>1276</a:t>
            </a:r>
            <a:r>
              <a:rPr lang="en-US" dirty="0"/>
              <a:t> for N3)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/>
              <a:t>--latest </a:t>
            </a:r>
            <a:r>
              <a:rPr lang="en-US" dirty="0"/>
              <a:t>– Use the latest (untested) tools build, advancing from the default released version. Use at your own risk!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5613" y="920353"/>
            <a:ext cx="8228012" cy="4131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003C71"/>
                </a:solidFill>
              </a:rPr>
              <a:t>fulcrum</a:t>
            </a:r>
            <a:r>
              <a:rPr lang="en-US" sz="1600" dirty="0">
                <a:solidFill>
                  <a:srgbClr val="003C71"/>
                </a:solidFill>
              </a:rPr>
              <a:t> [--</a:t>
            </a:r>
            <a:r>
              <a:rPr lang="en-US" sz="1600" dirty="0" err="1">
                <a:solidFill>
                  <a:srgbClr val="003C71"/>
                </a:solidFill>
              </a:rPr>
              <a:t>pdk</a:t>
            </a:r>
            <a:r>
              <a:rPr lang="en-US" sz="1600" dirty="0">
                <a:solidFill>
                  <a:srgbClr val="003C71"/>
                </a:solidFill>
              </a:rPr>
              <a:t>=1276] [--latest] &lt;tool&gt; [tool-</a:t>
            </a:r>
            <a:r>
              <a:rPr lang="en-US" sz="1600" dirty="0" err="1">
                <a:solidFill>
                  <a:srgbClr val="003C71"/>
                </a:solidFill>
              </a:rPr>
              <a:t>args</a:t>
            </a:r>
            <a:r>
              <a:rPr lang="en-US" sz="1600" dirty="0">
                <a:solidFill>
                  <a:srgbClr val="003C71"/>
                </a:solidFill>
              </a:rPr>
              <a:t>…]</a:t>
            </a:r>
          </a:p>
        </p:txBody>
      </p:sp>
    </p:spTree>
    <p:extLst>
      <p:ext uri="{BB962C8B-B14F-4D97-AF65-F5344CB8AC3E}">
        <p14:creationId xmlns:p14="http://schemas.microsoft.com/office/powerpoint/2010/main" val="131532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DSim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9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DSim: Digital Simulator </a:t>
            </a:r>
            <a:r>
              <a:rPr lang="en-US" sz="1600" i="1" dirty="0"/>
              <a:t>aka</a:t>
            </a:r>
            <a:r>
              <a:rPr lang="en-US" sz="1600" dirty="0"/>
              <a:t> “</a:t>
            </a:r>
            <a:r>
              <a:rPr lang="en-US" sz="1600" dirty="0" err="1"/>
              <a:t>jdsim</a:t>
            </a:r>
            <a:r>
              <a:rPr lang="en-US" sz="1600" dirty="0"/>
              <a:t>”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5613" y="1333500"/>
            <a:ext cx="8228012" cy="3400425"/>
          </a:xfrm>
        </p:spPr>
        <p:txBody>
          <a:bodyPr/>
          <a:lstStyle/>
          <a:p>
            <a:r>
              <a:rPr lang="en-US" sz="1600" dirty="0"/>
              <a:t>Arguments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--cast-path </a:t>
            </a:r>
            <a:r>
              <a:rPr lang="en-US" sz="1600" dirty="0"/>
              <a:t>– Specifies the source directories in search path priority order (leftmost is highest priority for search path), with colon (:) as the delimiter.  Relative paths are accepted.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--max-heap-size </a:t>
            </a:r>
            <a:r>
              <a:rPr lang="en-US" sz="1600" dirty="0"/>
              <a:t>– Increases the JVM’s memory limit from its default. Needed when simulating large cells.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--define=&lt;</a:t>
            </a:r>
            <a:r>
              <a:rPr lang="en-US" sz="1600" b="1" dirty="0" err="1"/>
              <a:t>var</a:t>
            </a:r>
            <a:r>
              <a:rPr lang="en-US" sz="1600" b="1" dirty="0"/>
              <a:t>&gt;:&lt;value&gt; </a:t>
            </a:r>
            <a:r>
              <a:rPr lang="en-US" sz="1600" dirty="0"/>
              <a:t>– Overrides CAST </a:t>
            </a:r>
            <a:r>
              <a:rPr lang="en-US" sz="1600" dirty="0" err="1"/>
              <a:t>metalanguage</a:t>
            </a:r>
            <a:r>
              <a:rPr lang="en-US" sz="1600" dirty="0"/>
              <a:t> variables for various purposes.</a:t>
            </a:r>
          </a:p>
          <a:p>
            <a:r>
              <a:rPr lang="en-US" sz="1600" dirty="0"/>
              <a:t>To run gate-level simulations:</a:t>
            </a:r>
          </a:p>
          <a:p>
            <a:pPr marL="342900" lvl="2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fulcrum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jdsim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--cast-path=$CAST7_DIR:$CAST_DIR:$SPEC_DIR \</a:t>
            </a:r>
          </a:p>
          <a:p>
            <a:pPr marL="342900" lvl="2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--define=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standard.attributes.standard_cell.USE_LIBERTY_PRS:true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pPr marL="342900" lvl="2" indent="0"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--define=standard.attributes.bd_controller.ExtraTimingMargin:10000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5613" y="920353"/>
            <a:ext cx="8228012" cy="4131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3C71"/>
                </a:solidFill>
              </a:rPr>
              <a:t>fulcrum </a:t>
            </a:r>
            <a:r>
              <a:rPr lang="en-US" sz="1600" b="1" dirty="0" err="1">
                <a:solidFill>
                  <a:srgbClr val="003C71"/>
                </a:solidFill>
              </a:rPr>
              <a:t>jdsim</a:t>
            </a:r>
            <a:r>
              <a:rPr lang="en-US" sz="1600" dirty="0">
                <a:solidFill>
                  <a:srgbClr val="003C71"/>
                </a:solidFill>
              </a:rPr>
              <a:t> --cast-path=$CAST7_DIR:$CAST_DIR:$SPEC_DIR [--max-heap-size=2G]</a:t>
            </a:r>
          </a:p>
        </p:txBody>
      </p:sp>
    </p:spTree>
    <p:extLst>
      <p:ext uri="{BB962C8B-B14F-4D97-AF65-F5344CB8AC3E}">
        <p14:creationId xmlns:p14="http://schemas.microsoft.com/office/powerpoint/2010/main" val="46763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5613" y="4419600"/>
            <a:ext cx="7516812" cy="581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DSim: Simulating a cell</a:t>
            </a:r>
            <a:endParaRPr lang="en-US" sz="1600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5613" y="1333500"/>
            <a:ext cx="8228012" cy="3400425"/>
          </a:xfrm>
        </p:spPr>
        <p:txBody>
          <a:bodyPr/>
          <a:lstStyle/>
          <a:p>
            <a:r>
              <a:rPr lang="en-US" sz="1600" dirty="0"/>
              <a:t>Arguments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fully.qualified.cell.name</a:t>
            </a:r>
            <a:r>
              <a:rPr lang="en-US" sz="1600" dirty="0"/>
              <a:t> – The cell to simulate (FQCN).  Searches for the cell definition over the cast-path directories by looking for the following files:</a:t>
            </a:r>
          </a:p>
          <a:p>
            <a:pPr lvl="3" indent="0">
              <a:buNone/>
            </a:pPr>
            <a:r>
              <a:rPr lang="en-US" sz="1400" dirty="0"/>
              <a:t>fully/qualified/</a:t>
            </a:r>
            <a:r>
              <a:rPr lang="en-US" sz="1400" dirty="0" err="1"/>
              <a:t>cell.cast</a:t>
            </a:r>
            <a:br>
              <a:rPr lang="en-US" sz="1400" dirty="0"/>
            </a:br>
            <a:r>
              <a:rPr lang="en-US" sz="1400" dirty="0"/>
              <a:t>fully/qualified/cell/</a:t>
            </a:r>
            <a:r>
              <a:rPr lang="en-US" sz="1400" dirty="0" err="1"/>
              <a:t>name.cast</a:t>
            </a:r>
            <a:endParaRPr lang="en-US" sz="1400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cosim</a:t>
            </a:r>
            <a:r>
              <a:rPr lang="en-US" sz="1600" b="1" dirty="0"/>
              <a:t>-spec </a:t>
            </a:r>
            <a:r>
              <a:rPr lang="en-US" sz="1600" dirty="0"/>
              <a:t>– Specifies which level(s) of FQCN to (co-)simulate.  (Next slide.)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env_name</a:t>
            </a:r>
            <a:r>
              <a:rPr lang="en-US" sz="1600" b="1" dirty="0"/>
              <a:t> </a:t>
            </a:r>
            <a:r>
              <a:rPr lang="en-US" sz="1600" dirty="0"/>
              <a:t>– one of the named test environments defined in FQCN’s </a:t>
            </a:r>
            <a:r>
              <a:rPr lang="en-US" sz="1600" dirty="0" err="1"/>
              <a:t>env</a:t>
            </a:r>
            <a:r>
              <a:rPr lang="en-US" sz="1600" dirty="0"/>
              <a:t> block.</a:t>
            </a:r>
          </a:p>
          <a:p>
            <a:r>
              <a:rPr lang="en-US" sz="1600" dirty="0">
                <a:cs typeface="Consolas" panose="020B0609020204030204" pitchFamily="49" charset="0"/>
              </a:rPr>
              <a:t>Behavior</a:t>
            </a:r>
          </a:p>
          <a:p>
            <a:pPr marL="346075" lvl="2" indent="0">
              <a:buNone/>
            </a:pPr>
            <a:r>
              <a:rPr lang="en-US" sz="1600" dirty="0">
                <a:cs typeface="Consolas" panose="020B0609020204030204" pitchFamily="49" charset="0"/>
              </a:rPr>
              <a:t>By default, </a:t>
            </a:r>
            <a:r>
              <a:rPr lang="en-US" sz="1600" dirty="0" err="1">
                <a:cs typeface="Consolas" panose="020B0609020204030204" pitchFamily="49" charset="0"/>
              </a:rPr>
              <a:t>cosimulate</a:t>
            </a:r>
            <a:r>
              <a:rPr lang="en-US" sz="1600" dirty="0">
                <a:cs typeface="Consolas" panose="020B0609020204030204" pitchFamily="49" charset="0"/>
              </a:rPr>
              <a:t> loads both the </a:t>
            </a:r>
            <a:r>
              <a:rPr lang="en-US" sz="1600" i="1" dirty="0">
                <a:cs typeface="Consolas" panose="020B0609020204030204" pitchFamily="49" charset="0"/>
              </a:rPr>
              <a:t>highest level </a:t>
            </a:r>
            <a:r>
              <a:rPr lang="en-US" sz="1600" dirty="0">
                <a:cs typeface="Consolas" panose="020B0609020204030204" pitchFamily="49" charset="0"/>
              </a:rPr>
              <a:t>of design for FQCN as well as the </a:t>
            </a:r>
            <a:r>
              <a:rPr lang="en-US" sz="1600" i="1" dirty="0">
                <a:cs typeface="Consolas" panose="020B0609020204030204" pitchFamily="49" charset="0"/>
              </a:rPr>
              <a:t>lowest level</a:t>
            </a:r>
            <a:r>
              <a:rPr lang="en-US" sz="1600" dirty="0">
                <a:cs typeface="Consolas" panose="020B0609020204030204" pitchFamily="49" charset="0"/>
              </a:rPr>
              <a:t> of design, connecting both to </a:t>
            </a:r>
            <a:r>
              <a:rPr lang="en-US" sz="1600" dirty="0" err="1">
                <a:cs typeface="Consolas" panose="020B0609020204030204" pitchFamily="49" charset="0"/>
              </a:rPr>
              <a:t>env_name</a:t>
            </a:r>
            <a:r>
              <a:rPr lang="en-US" sz="1600" dirty="0">
                <a:cs typeface="Consolas" panose="020B0609020204030204" pitchFamily="49" charset="0"/>
              </a:rPr>
              <a:t>.  During simulation, any discrepancies in behavior between the two models will be reported.  (Just one level of modeling may be simulated, too – quite a common usage mode.)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5613" y="920353"/>
            <a:ext cx="8228012" cy="4131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dirty="0" err="1">
                <a:solidFill>
                  <a:srgbClr val="003C71"/>
                </a:solidFill>
              </a:rPr>
              <a:t>Dsim</a:t>
            </a:r>
            <a:r>
              <a:rPr lang="en-US" sz="1600" dirty="0">
                <a:solidFill>
                  <a:srgbClr val="003C71"/>
                </a:solidFill>
              </a:rPr>
              <a:t>&gt; </a:t>
            </a:r>
            <a:r>
              <a:rPr lang="en-US" sz="1600" b="1" dirty="0" err="1">
                <a:solidFill>
                  <a:srgbClr val="003C71"/>
                </a:solidFill>
              </a:rPr>
              <a:t>cosimulate</a:t>
            </a:r>
            <a:r>
              <a:rPr lang="en-US" sz="1600" dirty="0">
                <a:solidFill>
                  <a:srgbClr val="003C71"/>
                </a:solidFill>
              </a:rPr>
              <a:t> fully.qualified.cell.name</a:t>
            </a:r>
            <a:r>
              <a:rPr lang="en-US" sz="1600" i="1" dirty="0">
                <a:solidFill>
                  <a:srgbClr val="003C71"/>
                </a:solidFill>
              </a:rPr>
              <a:t>[{</a:t>
            </a:r>
            <a:r>
              <a:rPr lang="en-US" sz="1600" i="1" dirty="0" err="1">
                <a:solidFill>
                  <a:srgbClr val="003C71"/>
                </a:solidFill>
              </a:rPr>
              <a:t>cosim</a:t>
            </a:r>
            <a:r>
              <a:rPr lang="en-US" sz="1600" i="1" dirty="0">
                <a:solidFill>
                  <a:srgbClr val="003C71"/>
                </a:solidFill>
              </a:rPr>
              <a:t>-spec}]</a:t>
            </a:r>
            <a:r>
              <a:rPr lang="en-US" sz="1600" dirty="0">
                <a:solidFill>
                  <a:srgbClr val="003C71"/>
                </a:solidFill>
              </a:rPr>
              <a:t>:</a:t>
            </a:r>
            <a:r>
              <a:rPr lang="en-US" sz="1600" dirty="0" err="1">
                <a:solidFill>
                  <a:srgbClr val="003C71"/>
                </a:solidFill>
              </a:rPr>
              <a:t>env_name</a:t>
            </a:r>
            <a:endParaRPr lang="en-US" sz="1600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47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5613" y="4419600"/>
            <a:ext cx="7516812" cy="581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DSim: “Cosimulation Spec”</a:t>
            </a:r>
            <a:endParaRPr lang="en-US" sz="1600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5613" y="1409700"/>
            <a:ext cx="8228012" cy="3324225"/>
          </a:xfrm>
        </p:spPr>
        <p:txBody>
          <a:bodyPr/>
          <a:lstStyle/>
          <a:p>
            <a:pPr marL="568325" lvl="1" indent="-342900">
              <a:buFont typeface="+mj-lt"/>
              <a:buAutoNum type="arabicParenR"/>
            </a:pPr>
            <a:r>
              <a:rPr lang="en-US" sz="1600" dirty="0"/>
              <a:t>{</a:t>
            </a:r>
            <a:r>
              <a:rPr lang="en-US" sz="1600" dirty="0" err="1"/>
              <a:t>csp,subcells,prs</a:t>
            </a:r>
            <a:r>
              <a:rPr lang="en-US" sz="1600" dirty="0"/>
              <a:t>} – Simulate the highest level of modeling (prefer </a:t>
            </a:r>
            <a:r>
              <a:rPr lang="en-US" sz="1600" dirty="0" err="1"/>
              <a:t>csp</a:t>
            </a:r>
            <a:r>
              <a:rPr lang="en-US" sz="1600" dirty="0"/>
              <a:t> if defined, otherwise descend to </a:t>
            </a:r>
            <a:r>
              <a:rPr lang="en-US" sz="1600" dirty="0" err="1"/>
              <a:t>subcells</a:t>
            </a:r>
            <a:r>
              <a:rPr lang="en-US" sz="1600" dirty="0"/>
              <a:t>, taking </a:t>
            </a:r>
            <a:r>
              <a:rPr lang="en-US" sz="1600" dirty="0" err="1"/>
              <a:t>prs</a:t>
            </a:r>
            <a:r>
              <a:rPr lang="en-US" sz="1600" dirty="0"/>
              <a:t>/transistor-level as a last resort.)</a:t>
            </a:r>
          </a:p>
          <a:p>
            <a:pPr marL="568325" lvl="1" indent="-342900">
              <a:buFont typeface="+mj-lt"/>
              <a:buAutoNum type="arabicParenR"/>
            </a:pPr>
            <a:r>
              <a:rPr lang="en-US" sz="1600" dirty="0"/>
              <a:t>{</a:t>
            </a:r>
            <a:r>
              <a:rPr lang="en-US" sz="1600" dirty="0" err="1"/>
              <a:t>prs,subcells,csp</a:t>
            </a:r>
            <a:r>
              <a:rPr lang="en-US" sz="1600" dirty="0"/>
              <a:t>} – Simulate the lowest level of modeling (prefer </a:t>
            </a:r>
            <a:r>
              <a:rPr lang="en-US" sz="1600" dirty="0" err="1"/>
              <a:t>prs-subcells-csp</a:t>
            </a:r>
            <a:r>
              <a:rPr lang="en-US" sz="1600" dirty="0"/>
              <a:t> in that order.)</a:t>
            </a:r>
          </a:p>
          <a:p>
            <a:pPr marL="568325" lvl="1" indent="-342900">
              <a:buFont typeface="+mj-lt"/>
              <a:buAutoNum type="arabicParenR"/>
            </a:pPr>
            <a:r>
              <a:rPr lang="en-US" sz="1600" dirty="0"/>
              <a:t>{N} – Descend N levels of hierarchy, then apply rule #1. {0} is equivalent to rule #1.</a:t>
            </a:r>
          </a:p>
          <a:p>
            <a:pPr marL="568325" lvl="1" indent="-342900">
              <a:buFont typeface="+mj-lt"/>
              <a:buAutoNum type="arabicParenR"/>
            </a:pPr>
            <a:r>
              <a:rPr lang="en-US" sz="1600" dirty="0"/>
              <a:t>{spec1|spec2} – </a:t>
            </a:r>
            <a:r>
              <a:rPr lang="en-US" sz="1600" dirty="0" err="1"/>
              <a:t>Cosimulate</a:t>
            </a:r>
            <a:r>
              <a:rPr lang="en-US" sz="1600" dirty="0"/>
              <a:t> FQCN{spec1} with FQCN{spec2} simultaneously, sending the same inputs to each and comparing their outputs. Example: {0|1}. </a:t>
            </a:r>
            <a:r>
              <a:rPr lang="en-US" sz="1600" b="1" dirty="0"/>
              <a:t>Default: {0|prs,subcells,csp}</a:t>
            </a:r>
          </a:p>
          <a:p>
            <a:pPr marL="568325" lvl="1" indent="-342900">
              <a:buFont typeface="+mj-lt"/>
              <a:buAutoNum type="arabicParenR"/>
            </a:pPr>
            <a:r>
              <a:rPr lang="en-US" sz="1600" dirty="0"/>
              <a:t>spec1-exception_scope{spec2} – Applies a different </a:t>
            </a:r>
            <a:r>
              <a:rPr lang="en-US" sz="1600" dirty="0" err="1"/>
              <a:t>cosim</a:t>
            </a:r>
            <a:r>
              <a:rPr lang="en-US" sz="1600" dirty="0"/>
              <a:t>-spec to a scoped domain as an exception to spec1.  </a:t>
            </a:r>
            <a:r>
              <a:rPr lang="en-US" sz="1600" dirty="0" err="1"/>
              <a:t>exception_scope</a:t>
            </a:r>
            <a:r>
              <a:rPr lang="en-US" sz="1600" dirty="0"/>
              <a:t> can be an instance name or a </a:t>
            </a:r>
            <a:r>
              <a:rPr lang="en-US" sz="1600" dirty="0" err="1"/>
              <a:t>fqcn</a:t>
            </a:r>
            <a:r>
              <a:rPr lang="en-US" sz="1600" dirty="0"/>
              <a:t> (attributes cells are common). Example:</a:t>
            </a:r>
            <a:br>
              <a:rPr lang="en-US" sz="1600" dirty="0"/>
            </a:br>
            <a:r>
              <a:rPr lang="en-US" sz="1600" dirty="0"/>
              <a:t>{</a:t>
            </a:r>
            <a:r>
              <a:rPr lang="en-US" sz="1600" dirty="0" err="1"/>
              <a:t>prs,subcells,csp-standard.attributes.csp_model</a:t>
            </a:r>
            <a:r>
              <a:rPr lang="en-US" sz="1600" dirty="0"/>
              <a:t>{</a:t>
            </a:r>
            <a:r>
              <a:rPr lang="en-US" sz="1600" dirty="0" err="1"/>
              <a:t>csp</a:t>
            </a:r>
            <a:r>
              <a:rPr lang="en-US" sz="1600" dirty="0"/>
              <a:t>}}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5613" y="920353"/>
            <a:ext cx="8228012" cy="4131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dirty="0" err="1">
                <a:solidFill>
                  <a:srgbClr val="003C71"/>
                </a:solidFill>
              </a:rPr>
              <a:t>Dsim</a:t>
            </a:r>
            <a:r>
              <a:rPr lang="en-US" sz="1600" dirty="0">
                <a:solidFill>
                  <a:srgbClr val="003C71"/>
                </a:solidFill>
              </a:rPr>
              <a:t>&gt; </a:t>
            </a:r>
            <a:r>
              <a:rPr lang="en-US" sz="1600" dirty="0" err="1">
                <a:solidFill>
                  <a:srgbClr val="003C71"/>
                </a:solidFill>
              </a:rPr>
              <a:t>cosimulate</a:t>
            </a:r>
            <a:r>
              <a:rPr lang="en-US" sz="1600" dirty="0">
                <a:solidFill>
                  <a:srgbClr val="003C71"/>
                </a:solidFill>
              </a:rPr>
              <a:t> fully.qualified.cell.name</a:t>
            </a:r>
            <a:r>
              <a:rPr lang="en-US" sz="1600" i="1" dirty="0">
                <a:solidFill>
                  <a:srgbClr val="003C71"/>
                </a:solidFill>
              </a:rPr>
              <a:t>[</a:t>
            </a:r>
            <a:r>
              <a:rPr lang="en-US" sz="1600" b="1" i="1" dirty="0">
                <a:solidFill>
                  <a:srgbClr val="FF0000"/>
                </a:solidFill>
              </a:rPr>
              <a:t>{</a:t>
            </a:r>
            <a:r>
              <a:rPr lang="en-US" sz="1600" b="1" i="1" dirty="0" err="1">
                <a:solidFill>
                  <a:srgbClr val="FF0000"/>
                </a:solidFill>
              </a:rPr>
              <a:t>cosim</a:t>
            </a:r>
            <a:r>
              <a:rPr lang="en-US" sz="1600" b="1" i="1" dirty="0">
                <a:solidFill>
                  <a:srgbClr val="FF0000"/>
                </a:solidFill>
              </a:rPr>
              <a:t>-spec}</a:t>
            </a:r>
            <a:r>
              <a:rPr lang="en-US" sz="1600" i="1" dirty="0">
                <a:solidFill>
                  <a:srgbClr val="003C71"/>
                </a:solidFill>
              </a:rPr>
              <a:t>]</a:t>
            </a:r>
            <a:r>
              <a:rPr lang="en-US" sz="1600" dirty="0">
                <a:solidFill>
                  <a:srgbClr val="003C71"/>
                </a:solidFill>
              </a:rPr>
              <a:t>:</a:t>
            </a:r>
            <a:r>
              <a:rPr lang="en-US" sz="1600" dirty="0" err="1">
                <a:solidFill>
                  <a:srgbClr val="003C71"/>
                </a:solidFill>
              </a:rPr>
              <a:t>env_name</a:t>
            </a:r>
            <a:endParaRPr lang="en-US" sz="1600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2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5613" y="1079499"/>
            <a:ext cx="4006851" cy="3425825"/>
          </a:xfrm>
        </p:spPr>
        <p:txBody>
          <a:bodyPr/>
          <a:lstStyle/>
          <a:p>
            <a:r>
              <a:rPr lang="en-US" sz="1600" dirty="0"/>
              <a:t>reset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Sets the top-level cell’s _RESET input to GND, simulates until the circuit is idle, then sets _RESET = VDD.</a:t>
            </a:r>
          </a:p>
          <a:p>
            <a:r>
              <a:rPr lang="en-US" sz="1600" dirty="0"/>
              <a:t>cycle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Simulates the circuit.  See ‘help cycle’ for different forms.  Simulation can be halted with ^C.</a:t>
            </a:r>
          </a:p>
          <a:p>
            <a:r>
              <a:rPr lang="en-US" sz="1600" dirty="0"/>
              <a:t>devices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Shows what </a:t>
            </a:r>
            <a:r>
              <a:rPr lang="en-US" sz="1400" dirty="0" err="1"/>
              <a:t>csp</a:t>
            </a:r>
            <a:r>
              <a:rPr lang="en-US" sz="1400" dirty="0"/>
              <a:t> processes are loaded in </a:t>
            </a:r>
            <a:r>
              <a:rPr lang="en-US" sz="1400" dirty="0" err="1"/>
              <a:t>Dsim</a:t>
            </a:r>
            <a:r>
              <a:rPr lang="en-US" sz="1400" dirty="0"/>
              <a:t> and what line/expression their execution is currently halted at. </a:t>
            </a:r>
          </a:p>
          <a:p>
            <a:r>
              <a:rPr lang="en-US" sz="1600" dirty="0"/>
              <a:t>quit </a:t>
            </a:r>
            <a:r>
              <a:rPr lang="en-US" sz="1400" dirty="0">
                <a:solidFill>
                  <a:schemeClr val="tx2"/>
                </a:solidFill>
              </a:rPr>
              <a:t>or</a:t>
            </a:r>
            <a:r>
              <a:rPr lang="en-US" sz="1600" dirty="0"/>
              <a:t> ^D </a:t>
            </a:r>
            <a:r>
              <a:rPr lang="en-US" sz="1400" dirty="0">
                <a:solidFill>
                  <a:schemeClr val="tx2"/>
                </a:solidFill>
              </a:rPr>
              <a:t>– exits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13"/>
          </p:nvPr>
        </p:nvSpPr>
        <p:spPr>
          <a:xfrm>
            <a:off x="4678363" y="1079499"/>
            <a:ext cx="4005264" cy="3425825"/>
          </a:xfrm>
        </p:spPr>
        <p:txBody>
          <a:bodyPr/>
          <a:lstStyle/>
          <a:p>
            <a:r>
              <a:rPr lang="en-US" sz="1600" dirty="0" err="1"/>
              <a:t>csp</a:t>
            </a:r>
            <a:r>
              <a:rPr lang="en-US" sz="1600" dirty="0"/>
              <a:t> &lt;</a:t>
            </a:r>
            <a:r>
              <a:rPr lang="en-US" sz="1600" dirty="0" err="1"/>
              <a:t>inst</a:t>
            </a:r>
            <a:r>
              <a:rPr lang="en-US" sz="1600" dirty="0"/>
              <a:t>&gt; get &lt;</a:t>
            </a:r>
            <a:r>
              <a:rPr lang="en-US" sz="1600" dirty="0" err="1"/>
              <a:t>var</a:t>
            </a:r>
            <a:r>
              <a:rPr lang="en-US" sz="1600" dirty="0"/>
              <a:t>&gt;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Get the value of the variable &lt;</a:t>
            </a:r>
            <a:r>
              <a:rPr lang="en-US" sz="1400" dirty="0" err="1"/>
              <a:t>var</a:t>
            </a:r>
            <a:r>
              <a:rPr lang="en-US" sz="1400" dirty="0"/>
              <a:t>&gt; in the </a:t>
            </a:r>
            <a:r>
              <a:rPr lang="en-US" sz="1400" dirty="0" err="1"/>
              <a:t>csp</a:t>
            </a:r>
            <a:r>
              <a:rPr lang="en-US" sz="1400" dirty="0"/>
              <a:t> instance &lt;</a:t>
            </a:r>
            <a:r>
              <a:rPr lang="en-US" sz="1400" dirty="0" err="1"/>
              <a:t>inst</a:t>
            </a:r>
            <a:r>
              <a:rPr lang="en-US" sz="1400" dirty="0"/>
              <a:t>&gt;.</a:t>
            </a:r>
          </a:p>
          <a:p>
            <a:r>
              <a:rPr lang="en-US" sz="1600" dirty="0" err="1"/>
              <a:t>log_channels</a:t>
            </a:r>
            <a:r>
              <a:rPr lang="en-US" sz="1600" dirty="0"/>
              <a:t> &lt;</a:t>
            </a:r>
            <a:r>
              <a:rPr lang="en-US" sz="1600" dirty="0" err="1"/>
              <a:t>inst</a:t>
            </a:r>
            <a:r>
              <a:rPr lang="en-US" sz="1600" dirty="0"/>
              <a:t>&gt; on/off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Enable or disable printing the channel communications (input &amp; output) of </a:t>
            </a:r>
            <a:r>
              <a:rPr lang="en-US" sz="1400" dirty="0" err="1"/>
              <a:t>csp</a:t>
            </a:r>
            <a:r>
              <a:rPr lang="en-US" sz="1400" dirty="0"/>
              <a:t> instance &lt;</a:t>
            </a:r>
            <a:r>
              <a:rPr lang="en-US" sz="1400" dirty="0" err="1"/>
              <a:t>inst</a:t>
            </a:r>
            <a:r>
              <a:rPr lang="en-US" sz="1400" dirty="0"/>
              <a:t>&gt;.</a:t>
            </a:r>
          </a:p>
          <a:p>
            <a:r>
              <a:rPr lang="en-US" sz="1600" dirty="0"/>
              <a:t>source &lt;file&gt;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Read </a:t>
            </a:r>
            <a:r>
              <a:rPr lang="en-US" sz="1400" dirty="0" err="1"/>
              <a:t>Dsim</a:t>
            </a:r>
            <a:r>
              <a:rPr lang="en-US" sz="1400" dirty="0"/>
              <a:t> commands from &lt;file&gt;.</a:t>
            </a:r>
          </a:p>
          <a:p>
            <a:r>
              <a:rPr lang="en-US" sz="1600" dirty="0"/>
              <a:t>help </a:t>
            </a:r>
            <a:r>
              <a:rPr lang="en-US" sz="1400" dirty="0">
                <a:solidFill>
                  <a:schemeClr val="tx2"/>
                </a:solidFill>
              </a:rPr>
              <a:t>and</a:t>
            </a:r>
            <a:r>
              <a:rPr lang="en-US" sz="1600" dirty="0"/>
              <a:t> help &lt;command&gt;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Many other commands available.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DSim Common Commands: Cheat Sheet</a:t>
            </a:r>
          </a:p>
        </p:txBody>
      </p:sp>
    </p:spTree>
    <p:extLst>
      <p:ext uri="{BB962C8B-B14F-4D97-AF65-F5344CB8AC3E}">
        <p14:creationId xmlns:p14="http://schemas.microsoft.com/office/powerpoint/2010/main" val="213223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DSim Commands (1)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600" dirty="0"/>
              <a:t>For design debugging: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get, set, watch – commands for node-level observation &amp; setting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haltonconflict</a:t>
            </a:r>
            <a:r>
              <a:rPr lang="en-US" sz="1600" dirty="0"/>
              <a:t>, </a:t>
            </a:r>
            <a:r>
              <a:rPr lang="en-US" sz="1600" dirty="0" err="1"/>
              <a:t>haltonerror</a:t>
            </a:r>
            <a:r>
              <a:rPr lang="en-US" sz="1600" dirty="0"/>
              <a:t>, </a:t>
            </a:r>
            <a:r>
              <a:rPr lang="en-US" sz="1600" dirty="0" err="1"/>
              <a:t>breakpt</a:t>
            </a:r>
            <a:r>
              <a:rPr lang="en-US" sz="1600" dirty="0"/>
              <a:t> – Controls when ‘cycle’ halts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fanin</a:t>
            </a:r>
            <a:r>
              <a:rPr lang="en-US" sz="1600" dirty="0"/>
              <a:t>, </a:t>
            </a:r>
            <a:r>
              <a:rPr lang="en-US" sz="1600" dirty="0" err="1"/>
              <a:t>fanout</a:t>
            </a:r>
            <a:r>
              <a:rPr lang="en-US" sz="1600" dirty="0"/>
              <a:t>, aliases – queries circuit </a:t>
            </a:r>
            <a:r>
              <a:rPr lang="en-US" sz="1600" dirty="0" err="1"/>
              <a:t>fanin</a:t>
            </a:r>
            <a:r>
              <a:rPr lang="en-US" sz="1600" dirty="0"/>
              <a:t>/</a:t>
            </a:r>
            <a:r>
              <a:rPr lang="en-US" sz="1600" dirty="0" err="1"/>
              <a:t>fanout</a:t>
            </a:r>
            <a:r>
              <a:rPr lang="en-US" sz="1600" dirty="0"/>
              <a:t>/aliases of a particular node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log, </a:t>
            </a:r>
            <a:r>
              <a:rPr lang="en-US" sz="1600" dirty="0" err="1"/>
              <a:t>log_nodes</a:t>
            </a:r>
            <a:r>
              <a:rPr lang="en-US" sz="1600" dirty="0"/>
              <a:t>, sst2 – For SST2 trace file logging (</a:t>
            </a:r>
            <a:r>
              <a:rPr lang="en-US" sz="1600" dirty="0" err="1"/>
              <a:t>Simvision</a:t>
            </a:r>
            <a:r>
              <a:rPr lang="en-US" sz="1600" dirty="0"/>
              <a:t> waveform viewer)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__</a:t>
            </a:r>
            <a:r>
              <a:rPr lang="en-US" sz="1600" dirty="0" err="1"/>
              <a:t>cosim_leftovers</a:t>
            </a:r>
            <a:r>
              <a:rPr lang="en-US" sz="1600" dirty="0"/>
              <a:t> – reports status of </a:t>
            </a:r>
            <a:r>
              <a:rPr lang="en-US" sz="1600" dirty="0" err="1"/>
              <a:t>cosim</a:t>
            </a:r>
            <a:r>
              <a:rPr lang="en-US" sz="1600" dirty="0"/>
              <a:t> infrastructure channels</a:t>
            </a:r>
          </a:p>
          <a:p>
            <a:r>
              <a:rPr lang="en-US" sz="1600" dirty="0"/>
              <a:t>For coverage measurement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csp_coverage</a:t>
            </a:r>
            <a:r>
              <a:rPr lang="en-US" sz="1600" dirty="0"/>
              <a:t> – CSP statement coverage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report_rule_coverage</a:t>
            </a:r>
            <a:r>
              <a:rPr lang="en-US" sz="1600" dirty="0"/>
              <a:t> – PRS rule coverage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4391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DSim Commands (2)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600" dirty="0"/>
              <a:t>For timing/performance measurement &amp; debugging: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timed_random</a:t>
            </a:r>
            <a:r>
              <a:rPr lang="en-US" sz="1600" dirty="0"/>
              <a:t>, </a:t>
            </a:r>
            <a:r>
              <a:rPr lang="en-US" sz="1600" dirty="0" err="1"/>
              <a:t>timed_delay</a:t>
            </a:r>
            <a:r>
              <a:rPr lang="en-US" sz="1600" dirty="0"/>
              <a:t> – sets timing model (random, jittered, etc.)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tcounts</a:t>
            </a:r>
            <a:r>
              <a:rPr lang="en-US" sz="1600" dirty="0"/>
              <a:t>, trace, critical – To probe cyclic performance bottlenecks in a simulation</a:t>
            </a:r>
          </a:p>
          <a:p>
            <a:r>
              <a:rPr lang="en-US" sz="1600" dirty="0"/>
              <a:t>For post-layout simulation: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get_switched_cap</a:t>
            </a:r>
            <a:r>
              <a:rPr lang="en-US" sz="1600" dirty="0"/>
              <a:t> – capacitance-based dynamic energy estimation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estimated_delay</a:t>
            </a:r>
            <a:r>
              <a:rPr lang="en-US" sz="1600" dirty="0"/>
              <a:t>, </a:t>
            </a:r>
            <a:r>
              <a:rPr lang="en-US" sz="1600" dirty="0" err="1"/>
              <a:t>measured_delay</a:t>
            </a:r>
            <a:r>
              <a:rPr lang="en-US" sz="1600" dirty="0"/>
              <a:t> – enable accurate back-annotated timing models</a:t>
            </a:r>
          </a:p>
          <a:p>
            <a:r>
              <a:rPr lang="en-US" sz="1600" dirty="0"/>
              <a:t>For timing/performance measurement &amp; debugging: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timed_random</a:t>
            </a:r>
            <a:r>
              <a:rPr lang="en-US" sz="1600" dirty="0"/>
              <a:t>, </a:t>
            </a:r>
            <a:r>
              <a:rPr lang="en-US" sz="1600" dirty="0" err="1"/>
              <a:t>timed_delay</a:t>
            </a:r>
            <a:r>
              <a:rPr lang="en-US" sz="1600" dirty="0"/>
              <a:t> – sets timing model (random, jittered, etc.)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trace, critical – To probe cyclic performance bottlenecks in a simulation</a:t>
            </a:r>
          </a:p>
        </p:txBody>
      </p:sp>
    </p:spTree>
    <p:extLst>
      <p:ext uri="{BB962C8B-B14F-4D97-AF65-F5344CB8AC3E}">
        <p14:creationId xmlns:p14="http://schemas.microsoft.com/office/powerpoint/2010/main" val="42107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062008"/>
            <a:ext cx="4006851" cy="3676247"/>
          </a:xfrm>
        </p:spPr>
        <p:txBody>
          <a:bodyPr/>
          <a:lstStyle/>
          <a:p>
            <a:r>
              <a:rPr lang="en-US" dirty="0"/>
              <a:t>Can DSim simulate Verilog?</a:t>
            </a:r>
          </a:p>
          <a:p>
            <a:pPr marL="342900" lvl="2" indent="0">
              <a:buNone/>
            </a:pPr>
            <a:r>
              <a:rPr lang="en-US" dirty="0"/>
              <a:t>No, but it can simulate synchronous designs at a gate level if they are imported to CAST.  E.g. the PRS models of all g1m gates have been imported and can be found in vendor.intel.g1m.</a:t>
            </a:r>
          </a:p>
          <a:p>
            <a:pPr marL="0" lvl="1" indent="0">
              <a:buNone/>
            </a:pPr>
            <a:r>
              <a:rPr lang="en-US" sz="1800" dirty="0">
                <a:solidFill>
                  <a:srgbClr val="0071C5"/>
                </a:solidFill>
              </a:rPr>
              <a:t>Is DSim the only way to simulate CAST designs?</a:t>
            </a:r>
          </a:p>
          <a:p>
            <a:pPr marL="346075" lvl="2" indent="0">
              <a:buNone/>
            </a:pPr>
            <a:r>
              <a:rPr lang="en-US" dirty="0"/>
              <a:t>No, the </a:t>
            </a:r>
            <a:r>
              <a:rPr lang="en-US" b="1" dirty="0"/>
              <a:t>cast2verilog</a:t>
            </a:r>
            <a:r>
              <a:rPr lang="en-US" dirty="0"/>
              <a:t> tool can translate any CAST design into Verilog syntax suitable for simulation in VCS/NC-</a:t>
            </a:r>
            <a:r>
              <a:rPr lang="en-US" dirty="0" err="1"/>
              <a:t>Sim</a:t>
            </a:r>
            <a:r>
              <a:rPr lang="en-US" dirty="0"/>
              <a:t>/etc.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3"/>
          </p:nvPr>
        </p:nvSpPr>
        <p:spPr>
          <a:xfrm>
            <a:off x="4678363" y="1062008"/>
            <a:ext cx="4005264" cy="3676247"/>
          </a:xfrm>
        </p:spPr>
        <p:txBody>
          <a:bodyPr/>
          <a:lstStyle/>
          <a:p>
            <a:r>
              <a:rPr lang="en-US" dirty="0"/>
              <a:t>How does DSim deal with non-determinism in a cosimulation?</a:t>
            </a:r>
          </a:p>
          <a:p>
            <a:pPr marL="346075" lvl="2" indent="0">
              <a:buNone/>
            </a:pPr>
            <a:r>
              <a:rPr lang="en-US" dirty="0"/>
              <a:t>This is the most complicated aspect of cosimulation.  Most cells that we </a:t>
            </a:r>
            <a:r>
              <a:rPr lang="en-US" dirty="0" err="1"/>
              <a:t>cosimulate</a:t>
            </a:r>
            <a:r>
              <a:rPr lang="en-US" dirty="0"/>
              <a:t> in DSim are fully </a:t>
            </a:r>
            <a:r>
              <a:rPr lang="en-US" i="1" dirty="0"/>
              <a:t>sequence-deterministic</a:t>
            </a:r>
            <a:r>
              <a:rPr lang="en-US" dirty="0"/>
              <a:t> in their operation (i.e. given the same sequence of input tokens, regardless of timing, they will produce the same output tokens.)  Non-determinism is introduced very carefully with </a:t>
            </a:r>
            <a:r>
              <a:rPr lang="en-US" i="1" dirty="0"/>
              <a:t>arbiter</a:t>
            </a:r>
            <a:r>
              <a:rPr lang="en-US" dirty="0"/>
              <a:t> cells (see </a:t>
            </a:r>
            <a:r>
              <a:rPr lang="en-US" dirty="0" err="1"/>
              <a:t>lib.metastable</a:t>
            </a:r>
            <a:r>
              <a:rPr lang="en-US" dirty="0"/>
              <a:t>.*).  Arbiters use an advanced </a:t>
            </a:r>
            <a:r>
              <a:rPr lang="en-US" dirty="0" err="1"/>
              <a:t>csp</a:t>
            </a:r>
            <a:r>
              <a:rPr lang="en-US" dirty="0"/>
              <a:t> construct that allows DSim to </a:t>
            </a:r>
            <a:r>
              <a:rPr lang="en-US" i="1" dirty="0"/>
              <a:t>link</a:t>
            </a:r>
            <a:r>
              <a:rPr lang="en-US" dirty="0"/>
              <a:t> the arbitration decisions across multiple modeling levels during a cosimulation. The lowest-level model determine the arbiter decisions at upper levels.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DSim FAQ</a:t>
            </a:r>
          </a:p>
        </p:txBody>
      </p:sp>
    </p:spTree>
    <p:extLst>
      <p:ext uri="{BB962C8B-B14F-4D97-AF65-F5344CB8AC3E}">
        <p14:creationId xmlns:p14="http://schemas.microsoft.com/office/powerpoint/2010/main" val="239578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0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822324"/>
            <a:ext cx="4006851" cy="34258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Directory Setup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Write supersize scripts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Run supersize to generate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directory structure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SPEC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floorplan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proteus.config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3"/>
          </p:nvPr>
        </p:nvSpPr>
        <p:spPr>
          <a:xfrm>
            <a:off x="4678363" y="822324"/>
            <a:ext cx="4005264" cy="34258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Proteus Tasks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cast2rtl – Convert cast to synthesizable Verilog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rdt_syn_setup</a:t>
            </a:r>
            <a:r>
              <a:rPr lang="en-US" dirty="0"/>
              <a:t> – set up synthesis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rdt_syn</a:t>
            </a:r>
            <a:r>
              <a:rPr lang="en-US" dirty="0"/>
              <a:t> – run synthesis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rdt_apr_setup</a:t>
            </a:r>
            <a:r>
              <a:rPr lang="en-US" dirty="0"/>
              <a:t> – set up P&amp;R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rdt_apr</a:t>
            </a:r>
            <a:r>
              <a:rPr lang="en-US" dirty="0"/>
              <a:t> – run P&amp;R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import-cast-after-</a:t>
            </a:r>
            <a:r>
              <a:rPr lang="en-US" dirty="0" err="1"/>
              <a:t>syn</a:t>
            </a:r>
            <a:r>
              <a:rPr lang="en-US" dirty="0"/>
              <a:t> – retrieve synthesis netlist for simulation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import-cast-after-</a:t>
            </a:r>
            <a:r>
              <a:rPr lang="en-US" dirty="0" err="1"/>
              <a:t>apr</a:t>
            </a:r>
            <a:r>
              <a:rPr lang="en-US" dirty="0"/>
              <a:t> – retrieve </a:t>
            </a:r>
            <a:r>
              <a:rPr lang="en-US" dirty="0" err="1"/>
              <a:t>apr</a:t>
            </a:r>
            <a:r>
              <a:rPr lang="en-US" dirty="0"/>
              <a:t> netlist for simulation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Synthesis, P&amp;R (Proteus)</a:t>
            </a:r>
          </a:p>
        </p:txBody>
      </p:sp>
    </p:spTree>
    <p:extLst>
      <p:ext uri="{BB962C8B-B14F-4D97-AF65-F5344CB8AC3E}">
        <p14:creationId xmlns:p14="http://schemas.microsoft.com/office/powerpoint/2010/main" val="284459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Supersize Scripts (dev.in)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369888" y="743188"/>
            <a:ext cx="8228012" cy="34258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/nfs/site/disks/or_lhdk75_disk0037/w137/gorda/ncl/setup/supersize_example/scripts/dev.in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######################### path and perforce setup #########################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USER = &lt;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userid</a:t>
            </a: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WD = /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nfs</a:t>
            </a: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/site/disks/or_lhdk75_disk0037/w137/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gorda</a:t>
            </a: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/${USER}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CAST_DIR = ${WD}/p4/dev7/cast:${WD}/p4/dev/cast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SPEC_DIR = ${WD}/p4/dev7/spec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DFII_DIR = ${WD}/p4/dev7/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dfII</a:t>
            </a:r>
            <a:endParaRPr lang="en-US" sz="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SPAR_DIR = ${WD}/p4/dev7/spar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LEFDEF_DIR = ${WORK_DIR}/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cds_wd</a:t>
            </a:r>
            <a:endParaRPr lang="en-US" sz="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P4_DFII_DIR    = $DFII_DIR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P4_CAST_CLIENT = ${USER}-ncl-dev7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P4_DFII_CLIENT = ${USER}-ncl-dev7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TAU = 16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VTH = "c"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DELAY_VTH = "c"</a:t>
            </a:r>
          </a:p>
          <a:p>
            <a:pPr>
              <a:spcBef>
                <a:spcPts val="0"/>
              </a:spcBef>
            </a:pPr>
            <a:endParaRPr lang="en-US" sz="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############################# 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alint</a:t>
            </a: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setup #################################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ASPICE_PERF_CORNERS = tttt:100:tttt:0.45:100,tttt:100:tttt:0.55:100,tttt:100:tttt:0.65:100,tttt:100:tttt:0.75:100,tttt:100:tttt:0.85:100,tttt:100:tttt:0.95:100,tttt:100:tttt:1.05:100,tttt:100:tttt:1.15:100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############################### options ###################################</a:t>
            </a:r>
          </a:p>
          <a:p>
            <a:pPr>
              <a:spcBef>
                <a:spcPts val="0"/>
              </a:spcBef>
            </a:pPr>
            <a:endParaRPr lang="en-US" sz="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MEM                             = 4G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LVE_JOBS                        = 16   # use lots of computers for 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lve</a:t>
            </a:r>
            <a:endParaRPr lang="en-US" sz="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size.sizable_delaybias</a:t>
            </a: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= 1.00 # want accuracy here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size.solve_hours</a:t>
            </a: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= 0.01 # 0.6 minutes minimum effort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size.max_solve_hours</a:t>
            </a: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= 0.05 # 3   minutes maximum effort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update_floorplan.fast</a:t>
            </a: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= 1    # use much faster 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UpdateFloorplan</a:t>
            </a:r>
            <a:endParaRPr lang="en-US" sz="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CAST_DEFINES = &lt; &gt;</a:t>
            </a:r>
          </a:p>
          <a:p>
            <a:pPr>
              <a:spcBef>
                <a:spcPts val="0"/>
              </a:spcBef>
            </a:pPr>
            <a:endParaRPr lang="en-US" sz="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cast_server</a:t>
            </a: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--refresh</a:t>
            </a:r>
          </a:p>
          <a:p>
            <a:pPr>
              <a:spcBef>
                <a:spcPts val="0"/>
              </a:spcBef>
            </a:pP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setup_cdswd</a:t>
            </a: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--user-template=${WD}/</a:t>
            </a:r>
            <a:r>
              <a:rPr lang="en-US" sz="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cdswd</a:t>
            </a:r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/template_1276</a:t>
            </a:r>
          </a:p>
          <a:p>
            <a:pPr>
              <a:spcBef>
                <a:spcPts val="0"/>
              </a:spcBef>
            </a:pPr>
            <a:endParaRPr lang="en-US" sz="1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29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Supersize Scripts (mul.in)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55613" y="695325"/>
            <a:ext cx="8228012" cy="34258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/nfs/site/disks/or_lhdk75_disk0037/w137/gorda/ncl/setup/supersize_example/mul/mul.in</a:t>
            </a:r>
          </a:p>
          <a:p>
            <a:pPr>
              <a:spcBef>
                <a:spcPts val="0"/>
              </a:spcBef>
            </a:pPr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source ../scripts/dev.in</a:t>
            </a:r>
          </a:p>
          <a:p>
            <a:pPr>
              <a:spcBef>
                <a:spcPts val="0"/>
              </a:spcBef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# Cell you’re trying to synthesize, append numeric subtype</a:t>
            </a:r>
          </a:p>
          <a:p>
            <a:pPr>
              <a:spcBef>
                <a:spcPts val="0"/>
              </a:spcBef>
            </a:pP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TOP = </a:t>
            </a:r>
            <a:r>
              <a:rPr lang="en-US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lib.bd.math.multiply.booth_csa.MUL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(16,2,2,1,2).30000</a:t>
            </a:r>
          </a:p>
          <a:p>
            <a:pPr>
              <a:spcBef>
                <a:spcPts val="0"/>
              </a:spcBef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# ABSTRACT representation of the cell you’re trying to synthesize</a:t>
            </a:r>
          </a:p>
          <a:p>
            <a:pPr>
              <a:spcBef>
                <a:spcPts val="0"/>
              </a:spcBef>
            </a:pP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PROTEUS_ABSTRACT =  </a:t>
            </a:r>
            <a:r>
              <a:rPr lang="en-US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lib.bd.math.multiply.booth_csa.ABSTRACT_MUL</a:t>
            </a:r>
            <a:endParaRPr lang="en-US" sz="1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# Name to give to the synthesized/</a:t>
            </a:r>
            <a:r>
              <a:rPr lang="en-US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P&amp;R’ed</a:t>
            </a: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 Cell (Must be different than above)</a:t>
            </a:r>
          </a:p>
          <a:p>
            <a:pPr>
              <a:spcBef>
                <a:spcPts val="0"/>
              </a:spcBef>
            </a:pP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PROTEUS_CELL     =  lib.bd.math.multiply.booth_csa.MUL_16_2_2_1_2.30000</a:t>
            </a:r>
          </a:p>
          <a:p>
            <a:pPr>
              <a:spcBef>
                <a:spcPts val="0"/>
              </a:spcBef>
            </a:pPr>
            <a:endParaRPr lang="en-US" sz="1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VTH = "c"</a:t>
            </a:r>
          </a:p>
          <a:p>
            <a:pPr>
              <a:spcBef>
                <a:spcPts val="0"/>
              </a:spcBef>
            </a:pPr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# create SPEC (Just run it. It’ll be fine)</a:t>
            </a:r>
          </a:p>
          <a:p>
            <a:pPr>
              <a:spcBef>
                <a:spcPts val="0"/>
              </a:spcBef>
            </a:pPr>
            <a:r>
              <a:rPr lang="en-US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create_subtypes</a:t>
            </a:r>
            <a:endParaRPr lang="en-US" sz="1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#Target g1m library</a:t>
            </a:r>
          </a:p>
          <a:p>
            <a:pPr>
              <a:spcBef>
                <a:spcPts val="0"/>
              </a:spcBef>
            </a:pP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source ${SPEC_DIR}/release/g1m.in</a:t>
            </a:r>
          </a:p>
          <a:p>
            <a:pPr>
              <a:spcBef>
                <a:spcPts val="0"/>
              </a:spcBef>
            </a:pP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 </a:t>
            </a:r>
            <a:r>
              <a:rPr lang="en-US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subcells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--filter="!fixed&amp;!leaf"</a:t>
            </a:r>
          </a:p>
          <a:p>
            <a:pPr>
              <a:spcBef>
                <a:spcPts val="0"/>
              </a:spcBef>
            </a:pPr>
            <a:r>
              <a:rPr lang="en-US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resubtype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$</a:t>
            </a:r>
            <a:r>
              <a:rPr lang="en-US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query.result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--reuse-spec=${SPEC_DIR}/release/bd_${VTH}.reuse</a:t>
            </a:r>
          </a:p>
          <a:p>
            <a:pPr>
              <a:spcBef>
                <a:spcPts val="0"/>
              </a:spcBef>
            </a:pPr>
            <a:r>
              <a:rPr lang="en-US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clean_subtypes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--used --in-spec</a:t>
            </a:r>
          </a:p>
          <a:p>
            <a:pPr>
              <a:spcBef>
                <a:spcPts val="0"/>
              </a:spcBef>
            </a:pPr>
            <a:r>
              <a:rPr lang="en-US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clean_subtypes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--unused</a:t>
            </a:r>
          </a:p>
          <a:p>
            <a:pPr>
              <a:spcBef>
                <a:spcPts val="0"/>
              </a:spcBef>
            </a:pP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 </a:t>
            </a:r>
            <a:r>
              <a:rPr lang="en-US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subcells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--filter="!fixed"</a:t>
            </a:r>
          </a:p>
          <a:p>
            <a:pPr>
              <a:spcBef>
                <a:spcPts val="0"/>
              </a:spcBef>
            </a:pPr>
            <a:endParaRPr lang="en-US" sz="1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#Write </a:t>
            </a:r>
            <a:r>
              <a:rPr lang="en-US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proteus.config</a:t>
            </a:r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proteus_config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--lib=bd --scan-mode=off --</a:t>
            </a:r>
            <a:r>
              <a:rPr lang="en-US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runlocal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=1 --task=syn</a:t>
            </a:r>
          </a:p>
        </p:txBody>
      </p:sp>
    </p:spTree>
    <p:extLst>
      <p:ext uri="{BB962C8B-B14F-4D97-AF65-F5344CB8AC3E}">
        <p14:creationId xmlns:p14="http://schemas.microsoft.com/office/powerpoint/2010/main" val="31360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# Task list is comma separated</a:t>
            </a:r>
          </a:p>
          <a:p>
            <a:pPr>
              <a:spcBef>
                <a:spcPts val="0"/>
              </a:spcBef>
            </a:pPr>
            <a:r>
              <a:rPr lang="en-US" dirty="0"/>
              <a:t># Rightmost CLI flag overrides previous flags</a:t>
            </a:r>
          </a:p>
          <a:p>
            <a:pPr>
              <a:spcBef>
                <a:spcPts val="0"/>
              </a:spcBef>
            </a:pPr>
            <a:r>
              <a:rPr lang="en-US" dirty="0"/>
              <a:t># Launches </a:t>
            </a:r>
            <a:r>
              <a:rPr lang="en-US" dirty="0" err="1"/>
              <a:t>proteus</a:t>
            </a:r>
            <a:r>
              <a:rPr lang="en-US" dirty="0"/>
              <a:t> in </a:t>
            </a:r>
            <a:r>
              <a:rPr lang="en-US" dirty="0" err="1"/>
              <a:t>netbatch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# --</a:t>
            </a:r>
            <a:r>
              <a:rPr lang="en-US" dirty="0" err="1"/>
              <a:t>runlocal</a:t>
            </a:r>
            <a:r>
              <a:rPr lang="en-US" dirty="0"/>
              <a:t>=1 forces a local run</a:t>
            </a:r>
          </a:p>
          <a:p>
            <a:pPr>
              <a:spcBef>
                <a:spcPts val="0"/>
              </a:spcBef>
            </a:pPr>
            <a:r>
              <a:rPr lang="en-US" dirty="0" err="1">
                <a:solidFill>
                  <a:schemeClr val="tx1"/>
                </a:solidFill>
              </a:rPr>
              <a:t>proteus</a:t>
            </a:r>
            <a:r>
              <a:rPr lang="en-US" dirty="0">
                <a:solidFill>
                  <a:schemeClr val="tx1"/>
                </a:solidFill>
              </a:rPr>
              <a:t> --include=</a:t>
            </a:r>
            <a:r>
              <a:rPr lang="en-US" dirty="0" err="1">
                <a:solidFill>
                  <a:schemeClr val="tx1"/>
                </a:solidFill>
              </a:rPr>
              <a:t>proteus.config</a:t>
            </a:r>
            <a:r>
              <a:rPr lang="en-US" dirty="0">
                <a:solidFill>
                  <a:schemeClr val="tx1"/>
                </a:solidFill>
              </a:rPr>
              <a:t> \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               --task=&lt;TASK&gt;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Typical Tasks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cast2rtl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rdt_syn_setup,rdt_syn</a:t>
            </a:r>
            <a:endParaRPr lang="en-US" sz="1400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rdt_apr_setup,rdt_apr</a:t>
            </a:r>
            <a:endParaRPr lang="en-US" sz="1400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extract,pv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Directory Structure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proteus</a:t>
            </a:r>
            <a:r>
              <a:rPr lang="en-US" sz="1400" dirty="0"/>
              <a:t>/</a:t>
            </a:r>
            <a:r>
              <a:rPr lang="en-US" sz="1400" dirty="0" err="1"/>
              <a:t>syn</a:t>
            </a:r>
            <a:endParaRPr lang="en-US" sz="1400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proteus/</a:t>
            </a:r>
            <a:r>
              <a:rPr lang="en-US" sz="1400" dirty="0" err="1"/>
              <a:t>apr</a:t>
            </a:r>
            <a:endParaRPr lang="en-US" sz="1400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protues</a:t>
            </a:r>
            <a:r>
              <a:rPr lang="en-US" sz="1400" dirty="0"/>
              <a:t>/extract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proteus/</a:t>
            </a:r>
            <a:r>
              <a:rPr lang="en-US" sz="1400" dirty="0" err="1"/>
              <a:t>pv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Proteus</a:t>
            </a:r>
          </a:p>
        </p:txBody>
      </p:sp>
    </p:spTree>
    <p:extLst>
      <p:ext uri="{BB962C8B-B14F-4D97-AF65-F5344CB8AC3E}">
        <p14:creationId xmlns:p14="http://schemas.microsoft.com/office/powerpoint/2010/main" val="311602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AST Flow Introduction - ww11'16.pptx" id="{3CEB0438-9D44-4846-B0E5-71539CAC7CAE}" vid="{CFB88F4C-D1F0-434C-B321-C8E4BD0871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D67A1EEB2A14488F2FC0E49EA11031" ma:contentTypeVersion="15" ma:contentTypeDescription="Create a new document." ma:contentTypeScope="" ma:versionID="98adde65439ebc666edc8e006dbcdd50">
  <xsd:schema xmlns:xsd="http://www.w3.org/2001/XMLSchema" xmlns:xs="http://www.w3.org/2001/XMLSchema" xmlns:p="http://schemas.microsoft.com/office/2006/metadata/properties" xmlns:ns2="c125c4f9-e72a-475a-b177-64ab125d7c2b" xmlns:ns3="9ea4360f-9fe5-430f-b307-f6218fa4e165" targetNamespace="http://schemas.microsoft.com/office/2006/metadata/properties" ma:root="true" ma:fieldsID="401f8762a4350f64619cab7f7f8abf2e" ns2:_="" ns3:_="">
    <xsd:import namespace="c125c4f9-e72a-475a-b177-64ab125d7c2b"/>
    <xsd:import namespace="9ea4360f-9fe5-430f-b307-f6218fa4e1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25c4f9-e72a-475a-b177-64ab125d7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a4360f-9fe5-430f-b307-f6218fa4e16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D1D8FD-F3EE-4CCE-A3FA-1B73C096516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E359B12-105F-43D6-A2D2-7AD34D65E6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25c4f9-e72a-475a-b177-64ab125d7c2b"/>
    <ds:schemaRef ds:uri="9ea4360f-9fe5-430f-b307-f6218fa4e1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F57536-452C-4F99-BE8B-7F0EE7EECB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Intel</Template>
  <TotalTime>0</TotalTime>
  <Words>3416</Words>
  <Application>Microsoft Office PowerPoint</Application>
  <PresentationFormat>On-screen Show (16:9)</PresentationFormat>
  <Paragraphs>409</Paragraphs>
  <Slides>27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Int_PPT Template_ClearPro_16x9</vt:lpstr>
      <vt:lpstr>Nx CAST Tools Guide</vt:lpstr>
      <vt:lpstr>Overview</vt:lpstr>
      <vt:lpstr>Nx Tools Overview</vt:lpstr>
      <vt:lpstr>Account Access and Source Files</vt:lpstr>
      <vt:lpstr>Unix Account Access Guide</vt:lpstr>
      <vt:lpstr>Perforce Access Guide</vt:lpstr>
      <vt:lpstr>Perforce Setup</vt:lpstr>
      <vt:lpstr>Perforce Checkout</vt:lpstr>
      <vt:lpstr>Relevant Perforce Directory Structure</vt:lpstr>
      <vt:lpstr>Environment Variable Conventions</vt:lpstr>
      <vt:lpstr>CAST Source Directory Structure</vt:lpstr>
      <vt:lpstr>CAST Source Directory Structure</vt:lpstr>
      <vt:lpstr>fulcrum Script</vt:lpstr>
      <vt:lpstr>Fulcrum Script Overview</vt:lpstr>
      <vt:lpstr>DSim</vt:lpstr>
      <vt:lpstr>DSim: Digital Simulator aka “jdsim”</vt:lpstr>
      <vt:lpstr>DSim: Simulating a cell</vt:lpstr>
      <vt:lpstr>DSim: “Cosimulation Spec”</vt:lpstr>
      <vt:lpstr>DSim Common Commands: Cheat Sheet</vt:lpstr>
      <vt:lpstr>Other DSim Commands (1)</vt:lpstr>
      <vt:lpstr>Other DSim Commands (2)</vt:lpstr>
      <vt:lpstr>DSim FAQ</vt:lpstr>
      <vt:lpstr>Proteus</vt:lpstr>
      <vt:lpstr>Synthesis, P&amp;R (Proteus)</vt:lpstr>
      <vt:lpstr>Sample Supersize Scripts (dev.in)   </vt:lpstr>
      <vt:lpstr>Sample Supersize Scripts (mul.in) </vt:lpstr>
      <vt:lpstr>Running Proteus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 CAST Tools Guide</dc:title>
  <dc:creator/>
  <cp:keywords>CTPClassification=CTP_NT</cp:keywords>
  <cp:lastModifiedBy/>
  <cp:revision>3</cp:revision>
  <dcterms:created xsi:type="dcterms:W3CDTF">2016-03-23T17:19:51Z</dcterms:created>
  <dcterms:modified xsi:type="dcterms:W3CDTF">2025-11-15T19:40:32Z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0x010100FFD67A1EEB2A14488F2FC0E49EA11031</vt:lpwstr>
  </property>
  <property fmtid="{D5CDD505-2E9C-101B-9397-08002B2CF9AE}" pid="3" name="TitusGUID">
    <vt:lpwstr>8be9b28e-0b48-44c5-b58d-83bc31edf0c1</vt:lpwstr>
  </property>
  <property fmtid="{D5CDD505-2E9C-101B-9397-08002B2CF9AE}" pid="4" name="CTP_TimeStamp">
    <vt:lpwstr>2020-08-04 18:45:16Z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  <property fmtid="{D5CDD505-2E9C-101B-9397-08002B2CF9AE}" pid="9" name="Order">
    <vt:r8>300</vt:r8>
  </property>
</Properties>
</file>